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the scope, the UI/UX direction and the first step for building EMR-MR as a real, working system for Sudan.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asking for a final sign-off on every detail. We want agreement on three things so the team can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client's prototype is useful as a design reference. What is missing is everything behind the screens: logic, data, roles, Arabic, and connections to phones, SMS, GPS and offline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portal and the app talk only to the core system. The core system is the only part that talks to the database and outside services, which keeps security and data rules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DHIS2 is the District Health Information Software, the free system the Ministry of Health already uses for national reporting. We send it monthly totals such as calls, cases by urgency and response times, never patient names or medical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terms that appear on the following slides and in the supporting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Sudan Health Authority runs the emergency call centre. It sends each request to the nearest working hospital, and the hospital sends one of its own ambulances. Every hand-off is recorded with time and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the minimum to launch safely. The other ten gaps are High or Medium and are covered in the build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shows how the screens should look and behave. The mockups are directions for discussion, not final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come from the Sudan context: Arabic users, weak networks, crews working in sunlight under stress, and sensitive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Urgency levels differ in lightness as well as colour and always carry a label, so they work for colour-blind users and on poor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Sudan Health Authority runs this call centre. The agent takes the call, sets the urgency, and sees the nearest working hospitals that have a free ambulance. One click sends the request; if the hospital does not answer in 5 minutes, the agent sends it to the next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Android app for the whole crew. The driver gets a full-screen alert and swipes to accept, so it cannot be tapped by mistake in a pocket. The paramedic sees vital signs as large tiles with abnormal values in red and an automatic danger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arrive from the Health Authority call centre. The emergency team accepts and sends one of its own ambulances in one step, then sees the patient coming in with a countdown and the vital-signs trend from the 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illustrative, not real data. A bento layout: four key numbers with small trends, hospital status with colour dots and an out-of-date warning, and a smooth weekly trend for response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must always trust what they see. Four standard states appear the same way in every portal and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package starts when the ones before it pass their done-when test. After the foundation, the call centre track and the field app track run at the same time. Driver mode needs both dispatch and the app base. Security and operations run alongside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list has fourteen technical difficulties; these six are rated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system is up 100% of the time. The goal is that the service never stops: automatic backups take over, and if everything fails, staff switch to paper and radio within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numbers come straight from the system's own time stamps, so they show on the admin dashboard without manual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agree on these five points today, the team can start the foundation work package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five decisions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98550"/>
            <a:ext cx="10566400" cy="444500"/>
          </a:xfrm>
          <a:prstGeom prst="rect">
            <a:avLst/>
          </a:prstGeom>
          <a:noFill/>
          <a:ln/>
        </p:spPr>
        <p:txBody>
          <a:bodyPr wrap="square" lIns="0" tIns="0" rIns="0" bIns="0" rtlCol="0" anchor="t"/>
          <a:lstStyle>
            <a:lvl1pPr algn="l" indent="0" marL="0">
              <a:lnSpc>
                <a:spcPct val="115000"/>
              </a:lnSpc>
              <a:buNone/>
              <a:defRPr lang="en-US" sz="3200" dirty="0">
                <a:solidFill>
                  <a:srgbClr val="0E2A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7850"/>
            <a:ext cx="10566400" cy="4197350"/>
          </a:xfrm>
          <a:prstGeom prst="rect">
            <a:avLst/>
          </a:prstGeom>
          <a:noFill/>
          <a:ln/>
        </p:spPr>
        <p:txBody>
          <a:bodyPr wrap="square" lIns="0" tIns="0" rIns="0" bIns="0" rtlCol="0" anchor="t"/>
          <a:lstStyle>
            <a:lvl1pPr algn="l" indent="0" marL="0">
              <a:lnSpc>
                <a:spcPct val="140000"/>
              </a:lnSpc>
              <a:buNone/>
              <a:defRPr lang="en-US" sz="1600" dirty="0">
                <a:solidFill>
                  <a:srgbClr val="0E2A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98550"/>
            <a:ext cx="10566400" cy="444500"/>
          </a:xfrm>
          <a:prstGeom prst="rect">
            <a:avLst/>
          </a:prstGeom>
          <a:noFill/>
          <a:ln/>
        </p:spPr>
        <p:txBody>
          <a:bodyPr wrap="square" lIns="0" tIns="0" rIns="0" bIns="0" rtlCol="0" anchor="t"/>
          <a:lstStyle>
            <a:lvl1pPr algn="l" indent="0" marL="0">
              <a:lnSpc>
                <a:spcPct val="115000"/>
              </a:lnSpc>
              <a:buNone/>
              <a:defRPr lang="en-US" sz="3200" dirty="0">
                <a:solidFill>
                  <a:srgbClr val="F4F8F7"/>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7850"/>
            <a:ext cx="10566400" cy="4197350"/>
          </a:xfrm>
          <a:prstGeom prst="rect">
            <a:avLst/>
          </a:prstGeom>
          <a:noFill/>
          <a:ln/>
        </p:spPr>
        <p:txBody>
          <a:bodyPr wrap="square" lIns="0" tIns="0" rIns="0" bIns="0" rtlCol="0" anchor="t"/>
          <a:lstStyle>
            <a:lvl1pPr algn="l" indent="0" marL="0">
              <a:lnSpc>
                <a:spcPct val="140000"/>
              </a:lnSpc>
              <a:buNone/>
              <a:defRPr lang="en-US" sz="1600" dirty="0">
                <a:solidFill>
                  <a:srgbClr val="F4F8F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98550"/>
            <a:ext cx="10566400" cy="444500"/>
          </a:xfrm>
          <a:prstGeom prst="rect">
            <a:avLst/>
          </a:prstGeom>
          <a:noFill/>
          <a:ln/>
        </p:spPr>
        <p:txBody>
          <a:bodyPr wrap="square" lIns="0" tIns="0" rIns="0" bIns="0" rtlCol="0" anchor="t"/>
          <a:lstStyle>
            <a:lvl1pPr algn="l" indent="0" marL="0">
              <a:lnSpc>
                <a:spcPct val="115000"/>
              </a:lnSpc>
              <a:buNone/>
              <a:defRPr lang="en-US" sz="3200" dirty="0">
                <a:solidFill>
                  <a:srgbClr val="0E2A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7850"/>
            <a:ext cx="10566400" cy="4197350"/>
          </a:xfrm>
          <a:prstGeom prst="rect">
            <a:avLst/>
          </a:prstGeom>
          <a:noFill/>
          <a:ln/>
        </p:spPr>
        <p:txBody>
          <a:bodyPr wrap="square" lIns="0" tIns="0" rIns="0" bIns="0" rtlCol="0" anchor="t"/>
          <a:lstStyle>
            <a:lvl1pPr algn="l" indent="0" marL="0">
              <a:lnSpc>
                <a:spcPct val="140000"/>
              </a:lnSpc>
              <a:buNone/>
              <a:defRPr lang="en-US" sz="1600" dirty="0">
                <a:solidFill>
                  <a:srgbClr val="0E2A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2A33"/>
              </a:gs>
              <a:gs pos="100000">
                <a:srgbClr val="123F48"/>
              </a:gs>
            </a:gsLst>
            <a:lin ang="2700000" scaled="0"/>
          </a:gradFill>
          <a:ln/>
        </p:spPr>
      </p:sp>
      <p:pic>
        <p:nvPicPr>
          <p:cNvPr id="3" name="Image 0" descr="ellipse">    </p:cNvPr>
          <p:cNvPicPr>
            <a:picLocks noChangeAspect="1"/>
          </p:cNvPicPr>
          <p:nvPr/>
        </p:nvPicPr>
        <p:blipFill>
          <a:blip r:embed="rId1"/>
          <a:srcRect l="0" r="0" t="0" b="0"/>
          <a:stretch/>
        </p:blipFill>
        <p:spPr>
          <a:xfrm>
            <a:off x="7315200" y="1270000"/>
            <a:ext cx="4064000" cy="4064000"/>
          </a:xfrm>
          <a:prstGeom prst="rect">
            <a:avLst/>
          </a:prstGeom>
        </p:spPr>
      </p:pic>
      <p:pic>
        <p:nvPicPr>
          <p:cNvPr id="4" name="Image 1" descr="ellipse">    </p:cNvPr>
          <p:cNvPicPr>
            <a:picLocks noChangeAspect="1"/>
          </p:cNvPicPr>
          <p:nvPr/>
        </p:nvPicPr>
        <p:blipFill>
          <a:blip r:embed="rId2"/>
          <a:srcRect l="0" r="0" t="0" b="0"/>
          <a:stretch/>
        </p:blipFill>
        <p:spPr>
          <a:xfrm>
            <a:off x="8331200" y="2286000"/>
            <a:ext cx="2032000" cy="2032000"/>
          </a:xfrm>
          <a:prstGeom prst="rect">
            <a:avLst/>
          </a:prstGeom>
        </p:spPr>
      </p:pic>
      <p:pic>
        <p:nvPicPr>
          <p:cNvPr id="5" name="Image 2" descr="Heartbeat line">    </p:cNvPr>
          <p:cNvPicPr>
            <a:picLocks noChangeAspect="1"/>
          </p:cNvPicPr>
          <p:nvPr/>
        </p:nvPicPr>
        <p:blipFill>
          <a:blip r:embed="rId3"/>
          <a:srcRect l="0" r="0" t="-31" b="-31"/>
          <a:stretch/>
        </p:blipFill>
        <p:spPr>
          <a:xfrm>
            <a:off x="812800" y="5207000"/>
            <a:ext cx="10566400" cy="635000"/>
          </a:xfrm>
          <a:prstGeom prst="rect">
            <a:avLst/>
          </a:prstGeom>
        </p:spPr>
      </p:pic>
      <p:sp>
        <p:nvSpPr>
          <p:cNvPr id="6" name="Text 1"/>
          <p:cNvSpPr/>
          <p:nvPr/>
        </p:nvSpPr>
        <p:spPr>
          <a:xfrm>
            <a:off x="812800" y="23304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C2"/>
                </a:solidFill>
                <a:latin typeface="IBM Plex Sans" pitchFamily="34" charset="0"/>
                <a:ea typeface="IBM Plex Sans" pitchFamily="34" charset="-122"/>
                <a:cs typeface="IBM Plex Sans" pitchFamily="34" charset="-120"/>
              </a:rPr>
              <a:t>SYSTEM PROPOSAL · FOR DISCUSSION</a:t>
            </a:r>
            <a:endParaRPr lang="en-US" sz="1200" dirty="0"/>
          </a:p>
        </p:txBody>
      </p:sp>
      <p:sp>
        <p:nvSpPr>
          <p:cNvPr id="7" name="Text 2"/>
          <p:cNvSpPr/>
          <p:nvPr>
            <p:ph type="title"/>
          </p:nvPr>
        </p:nvSpPr>
        <p:spPr>
          <a:xfrm>
            <a:off x="812800" y="2717800"/>
            <a:ext cx="10883392" cy="66040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F2F5F4"/>
                </a:solidFill>
                <a:latin typeface="IBM Plex Sans" pitchFamily="34" charset="0"/>
                <a:ea typeface="IBM Plex Sans" pitchFamily="34" charset="-122"/>
                <a:cs typeface="IBM Plex Sans" pitchFamily="34" charset="-120"/>
              </a:rPr>
              <a:t>EMR-MR Sudan</a:t>
            </a:r>
            <a:endParaRPr lang="en-US" sz="4800" dirty="0"/>
          </a:p>
        </p:txBody>
      </p:sp>
      <p:sp>
        <p:nvSpPr>
          <p:cNvPr id="8" name="Text 3"/>
          <p:cNvSpPr/>
          <p:nvPr/>
        </p:nvSpPr>
        <p:spPr>
          <a:xfrm>
            <a:off x="812800" y="3530600"/>
            <a:ext cx="6540500" cy="63500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6D3"/>
                </a:solidFill>
                <a:latin typeface="IBM Plex Sans" pitchFamily="34" charset="0"/>
                <a:ea typeface="IBM Plex Sans" pitchFamily="34" charset="-122"/>
                <a:cs typeface="IBM Plex Sans" pitchFamily="34" charset="-120"/>
              </a:rPr>
              <a:t>From a 34-screen prototype to a live national emergency response and patient records system</a:t>
            </a:r>
            <a:endParaRPr lang="en-US" sz="1800" dirty="0"/>
          </a:p>
        </p:txBody>
      </p:sp>
      <p:sp>
        <p:nvSpPr>
          <p:cNvPr id="9" name="Text 4"/>
          <p:cNvSpPr/>
          <p:nvPr/>
        </p:nvSpPr>
        <p:spPr>
          <a:xfrm>
            <a:off x="812800" y="43180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AF"/>
                </a:solidFill>
                <a:latin typeface="IBM Plex Sans" pitchFamily="34" charset="0"/>
                <a:ea typeface="IBM Plex Sans" pitchFamily="34" charset="-122"/>
                <a:cs typeface="IBM Plex Sans" pitchFamily="34" charset="-120"/>
              </a:rPr>
              <a:t>Prepared by Mobile Team , Systems Analysis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TODAY'S GOAL</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Three things we want to agree</a:t>
            </a:r>
            <a:endParaRPr lang="en-US" sz="3200" dirty="0"/>
          </a:p>
        </p:txBody>
      </p:sp>
      <p:sp>
        <p:nvSpPr>
          <p:cNvPr id="4" name="Shape 2"/>
          <p:cNvSpPr/>
          <p:nvPr/>
        </p:nvSpPr>
        <p:spPr>
          <a:xfrm>
            <a:off x="815975" y="2162175"/>
            <a:ext cx="3429000" cy="2292350"/>
          </a:xfrm>
          <a:prstGeom prst="roundRect">
            <a:avLst>
              <a:gd name="adj" fmla="val 5402"/>
            </a:avLst>
          </a:prstGeom>
          <a:solidFill>
            <a:srgbClr val="FCFDFC"/>
          </a:solidFill>
          <a:ln w="6350">
            <a:solidFill>
              <a:srgbClr val="DCE5E2"/>
            </a:solidFill>
            <a:prstDash val="solid"/>
          </a:ln>
          <a:effectLst>
            <a:outerShdw sx="100000" sy="100000" kx="0" ky="0" algn="bl" rotWithShape="0" blurRad="203200" dist="76200" dir="5400000">
              <a:srgbClr val="0E2A33">
                <a:alpha val="6000"/>
              </a:srgbClr>
            </a:outerShdw>
          </a:effectLst>
        </p:spPr>
      </p:sp>
      <p:sp>
        <p:nvSpPr>
          <p:cNvPr id="5" name="Text 3"/>
          <p:cNvSpPr/>
          <p:nvPr/>
        </p:nvSpPr>
        <p:spPr>
          <a:xfrm>
            <a:off x="1123950" y="2470150"/>
            <a:ext cx="289744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6E64"/>
                </a:solidFill>
                <a:latin typeface="IBM Plex Sans" pitchFamily="34" charset="0"/>
                <a:ea typeface="IBM Plex Sans" pitchFamily="34" charset="-122"/>
                <a:cs typeface="IBM Plex Sans" pitchFamily="34" charset="-120"/>
              </a:rPr>
              <a:t>01</a:t>
            </a:r>
            <a:endParaRPr lang="en-US" sz="3200" dirty="0"/>
          </a:p>
        </p:txBody>
      </p:sp>
      <p:sp>
        <p:nvSpPr>
          <p:cNvPr id="6" name="Text 4"/>
          <p:cNvSpPr/>
          <p:nvPr/>
        </p:nvSpPr>
        <p:spPr>
          <a:xfrm>
            <a:off x="1123950" y="3003550"/>
            <a:ext cx="2897442"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Agree the scope</a:t>
            </a:r>
            <a:endParaRPr lang="en-US" sz="1800" dirty="0"/>
          </a:p>
        </p:txBody>
      </p:sp>
      <p:sp>
        <p:nvSpPr>
          <p:cNvPr id="7" name="Text 5"/>
          <p:cNvSpPr/>
          <p:nvPr/>
        </p:nvSpPr>
        <p:spPr>
          <a:xfrm>
            <a:off x="1123950" y="3403600"/>
            <a:ext cx="2897442"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Six parts in the first release: one core system, four web portals and one field app.</a:t>
            </a:r>
            <a:endParaRPr lang="en-US" sz="1400" dirty="0"/>
          </a:p>
        </p:txBody>
      </p:sp>
      <p:sp>
        <p:nvSpPr>
          <p:cNvPr id="8" name="Shape 6"/>
          <p:cNvSpPr/>
          <p:nvPr/>
        </p:nvSpPr>
        <p:spPr>
          <a:xfrm>
            <a:off x="4378325" y="2162175"/>
            <a:ext cx="3429000" cy="2292350"/>
          </a:xfrm>
          <a:prstGeom prst="roundRect">
            <a:avLst>
              <a:gd name="adj" fmla="val 5402"/>
            </a:avLst>
          </a:prstGeom>
          <a:solidFill>
            <a:srgbClr val="FCFDFC"/>
          </a:solidFill>
          <a:ln w="6350">
            <a:solidFill>
              <a:srgbClr val="DCE5E2"/>
            </a:solidFill>
            <a:prstDash val="solid"/>
          </a:ln>
          <a:effectLst>
            <a:outerShdw sx="100000" sy="100000" kx="0" ky="0" algn="bl" rotWithShape="0" blurRad="203200" dist="76200" dir="5400000">
              <a:srgbClr val="0E2A33">
                <a:alpha val="6000"/>
              </a:srgbClr>
            </a:outerShdw>
          </a:effectLst>
        </p:spPr>
      </p:sp>
      <p:sp>
        <p:nvSpPr>
          <p:cNvPr id="9" name="Text 7"/>
          <p:cNvSpPr/>
          <p:nvPr/>
        </p:nvSpPr>
        <p:spPr>
          <a:xfrm>
            <a:off x="4686300" y="2470150"/>
            <a:ext cx="289744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6E64"/>
                </a:solidFill>
                <a:latin typeface="IBM Plex Sans" pitchFamily="34" charset="0"/>
                <a:ea typeface="IBM Plex Sans" pitchFamily="34" charset="-122"/>
                <a:cs typeface="IBM Plex Sans" pitchFamily="34" charset="-120"/>
              </a:rPr>
              <a:t>02</a:t>
            </a:r>
            <a:endParaRPr lang="en-US" sz="3200" dirty="0"/>
          </a:p>
        </p:txBody>
      </p:sp>
      <p:sp>
        <p:nvSpPr>
          <p:cNvPr id="10" name="Text 8"/>
          <p:cNvSpPr/>
          <p:nvPr/>
        </p:nvSpPr>
        <p:spPr>
          <a:xfrm>
            <a:off x="4686300" y="3003550"/>
            <a:ext cx="3117850"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Agree the UI/UX direction</a:t>
            </a:r>
            <a:endParaRPr lang="en-US" sz="1800" dirty="0"/>
          </a:p>
        </p:txBody>
      </p:sp>
      <p:sp>
        <p:nvSpPr>
          <p:cNvPr id="11" name="Text 9"/>
          <p:cNvSpPr/>
          <p:nvPr/>
        </p:nvSpPr>
        <p:spPr>
          <a:xfrm>
            <a:off x="4686300" y="3403600"/>
            <a:ext cx="2897442"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Arabic - English, calm by default, loud only for urgent cases, built for weak networks.</a:t>
            </a:r>
            <a:endParaRPr lang="en-US" sz="1400" dirty="0"/>
          </a:p>
        </p:txBody>
      </p:sp>
      <p:sp>
        <p:nvSpPr>
          <p:cNvPr id="12" name="Shape 10"/>
          <p:cNvSpPr/>
          <p:nvPr/>
        </p:nvSpPr>
        <p:spPr>
          <a:xfrm>
            <a:off x="7937500" y="2159000"/>
            <a:ext cx="3435350" cy="2038350"/>
          </a:xfrm>
          <a:prstGeom prst="roundRect">
            <a:avLst>
              <a:gd name="adj" fmla="val 6231"/>
            </a:avLst>
          </a:prstGeom>
          <a:solidFill>
            <a:srgbClr val="0E2A33"/>
          </a:solidFill>
          <a:ln/>
          <a:effectLst>
            <a:outerShdw sx="100000" sy="100000" kx="0" ky="0" algn="bl" rotWithShape="0" blurRad="203200" dist="76200" dir="5400000">
              <a:srgbClr val="0E2A33">
                <a:alpha val="12000"/>
              </a:srgbClr>
            </a:outerShdw>
          </a:effectLst>
        </p:spPr>
      </p:sp>
      <p:sp>
        <p:nvSpPr>
          <p:cNvPr id="13" name="Text 11"/>
          <p:cNvSpPr/>
          <p:nvPr/>
        </p:nvSpPr>
        <p:spPr>
          <a:xfrm>
            <a:off x="8242300" y="2463800"/>
            <a:ext cx="291052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6FD1C2"/>
                </a:solidFill>
                <a:latin typeface="IBM Plex Sans" pitchFamily="34" charset="0"/>
                <a:ea typeface="IBM Plex Sans" pitchFamily="34" charset="-122"/>
                <a:cs typeface="IBM Plex Sans" pitchFamily="34" charset="-120"/>
              </a:rPr>
              <a:t>03</a:t>
            </a:r>
            <a:endParaRPr lang="en-US" sz="3200" dirty="0"/>
          </a:p>
        </p:txBody>
      </p:sp>
      <p:sp>
        <p:nvSpPr>
          <p:cNvPr id="14" name="Text 12"/>
          <p:cNvSpPr/>
          <p:nvPr/>
        </p:nvSpPr>
        <p:spPr>
          <a:xfrm>
            <a:off x="8242300" y="2997200"/>
            <a:ext cx="2910523"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5F4"/>
                </a:solidFill>
                <a:latin typeface="IBM Plex Sans" pitchFamily="34" charset="0"/>
                <a:ea typeface="IBM Plex Sans" pitchFamily="34" charset="-122"/>
                <a:cs typeface="IBM Plex Sans" pitchFamily="34" charset="-120"/>
              </a:rPr>
              <a:t>Agree the first step</a:t>
            </a:r>
            <a:endParaRPr lang="en-US" sz="1800" dirty="0"/>
          </a:p>
        </p:txBody>
      </p:sp>
      <p:sp>
        <p:nvSpPr>
          <p:cNvPr id="15" name="Text 13"/>
          <p:cNvSpPr/>
          <p:nvPr/>
        </p:nvSpPr>
        <p:spPr>
          <a:xfrm>
            <a:off x="8242300" y="3397250"/>
            <a:ext cx="2910523"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D3"/>
                </a:solidFill>
                <a:latin typeface="IBM Plex Sans" pitchFamily="34" charset="0"/>
                <a:ea typeface="IBM Plex Sans" pitchFamily="34" charset="-122"/>
                <a:cs typeface="IBM Plex Sans" pitchFamily="34" charset="-120"/>
              </a:rPr>
              <a:t>Start Work Package 1 (Foundation) and confirm the team.</a:t>
            </a:r>
            <a:endParaRPr lang="en-US" sz="1400" dirty="0"/>
          </a:p>
        </p:txBody>
      </p:sp>
      <p:sp>
        <p:nvSpPr>
          <p:cNvPr id="16" name="Text 14"/>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WHERE WE ARE</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The prototype shows the idea, not a working system</a:t>
            </a:r>
            <a:endParaRPr lang="en-US" sz="3200" dirty="0"/>
          </a:p>
        </p:txBody>
      </p:sp>
      <p:sp>
        <p:nvSpPr>
          <p:cNvPr id="4" name="Shape 2"/>
          <p:cNvSpPr/>
          <p:nvPr/>
        </p:nvSpPr>
        <p:spPr>
          <a:xfrm>
            <a:off x="815975" y="2416175"/>
            <a:ext cx="2559050" cy="1708150"/>
          </a:xfrm>
          <a:prstGeom prst="roundRect">
            <a:avLst>
              <a:gd name="adj" fmla="val 7249"/>
            </a:avLst>
          </a:prstGeom>
          <a:solidFill>
            <a:srgbClr val="FCFDFC"/>
          </a:solidFill>
          <a:ln w="6350">
            <a:solidFill>
              <a:srgbClr val="DCE5E2"/>
            </a:solidFill>
            <a:prstDash val="solid"/>
          </a:ln>
        </p:spPr>
      </p:sp>
      <p:sp>
        <p:nvSpPr>
          <p:cNvPr id="5" name="Text 3"/>
          <p:cNvSpPr/>
          <p:nvPr/>
        </p:nvSpPr>
        <p:spPr>
          <a:xfrm>
            <a:off x="1073150" y="2673350"/>
            <a:ext cx="210604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4"/>
                </a:solidFill>
                <a:latin typeface="IBM Plex Sans" pitchFamily="34" charset="0"/>
                <a:ea typeface="IBM Plex Sans" pitchFamily="34" charset="-122"/>
                <a:cs typeface="IBM Plex Sans" pitchFamily="34" charset="-120"/>
              </a:rPr>
              <a:t>34</a:t>
            </a:r>
            <a:endParaRPr lang="en-US" sz="4800" dirty="0"/>
          </a:p>
        </p:txBody>
      </p:sp>
      <p:sp>
        <p:nvSpPr>
          <p:cNvPr id="6" name="Text 4"/>
          <p:cNvSpPr/>
          <p:nvPr/>
        </p:nvSpPr>
        <p:spPr>
          <a:xfrm>
            <a:off x="1073150" y="3346450"/>
            <a:ext cx="210604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screens designed</a:t>
            </a:r>
            <a:endParaRPr lang="en-US" sz="1400" dirty="0"/>
          </a:p>
        </p:txBody>
      </p:sp>
      <p:sp>
        <p:nvSpPr>
          <p:cNvPr id="7" name="Text 5"/>
          <p:cNvSpPr/>
          <p:nvPr/>
        </p:nvSpPr>
        <p:spPr>
          <a:xfrm>
            <a:off x="1073150" y="3657600"/>
            <a:ext cx="210604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Desktop only, fixed 1660 px</a:t>
            </a:r>
            <a:endParaRPr lang="en-US" sz="1200" dirty="0"/>
          </a:p>
        </p:txBody>
      </p:sp>
      <p:sp>
        <p:nvSpPr>
          <p:cNvPr id="8" name="Shape 6"/>
          <p:cNvSpPr/>
          <p:nvPr/>
        </p:nvSpPr>
        <p:spPr>
          <a:xfrm>
            <a:off x="3482975" y="2416175"/>
            <a:ext cx="2559050" cy="1917700"/>
          </a:xfrm>
          <a:prstGeom prst="roundRect">
            <a:avLst>
              <a:gd name="adj" fmla="val 6457"/>
            </a:avLst>
          </a:prstGeom>
          <a:solidFill>
            <a:srgbClr val="FCFDFC"/>
          </a:solidFill>
          <a:ln w="6350">
            <a:solidFill>
              <a:srgbClr val="DCE5E2"/>
            </a:solidFill>
            <a:prstDash val="solid"/>
          </a:ln>
        </p:spPr>
      </p:sp>
      <p:sp>
        <p:nvSpPr>
          <p:cNvPr id="9" name="Text 7"/>
          <p:cNvSpPr/>
          <p:nvPr/>
        </p:nvSpPr>
        <p:spPr>
          <a:xfrm>
            <a:off x="3740150" y="2673350"/>
            <a:ext cx="210604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4"/>
                </a:solidFill>
                <a:latin typeface="IBM Plex Sans" pitchFamily="34" charset="0"/>
                <a:ea typeface="IBM Plex Sans" pitchFamily="34" charset="-122"/>
                <a:cs typeface="IBM Plex Sans" pitchFamily="34" charset="-120"/>
              </a:rPr>
              <a:t>1</a:t>
            </a:r>
            <a:endParaRPr lang="en-US" sz="4800" dirty="0"/>
          </a:p>
        </p:txBody>
      </p:sp>
      <p:sp>
        <p:nvSpPr>
          <p:cNvPr id="10" name="Text 8"/>
          <p:cNvSpPr/>
          <p:nvPr/>
        </p:nvSpPr>
        <p:spPr>
          <a:xfrm>
            <a:off x="3740150" y="3346450"/>
            <a:ext cx="210604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user role</a:t>
            </a:r>
            <a:endParaRPr lang="en-US" sz="1400" dirty="0"/>
          </a:p>
        </p:txBody>
      </p:sp>
      <p:sp>
        <p:nvSpPr>
          <p:cNvPr id="11" name="Text 9"/>
          <p:cNvSpPr/>
          <p:nvPr/>
        </p:nvSpPr>
        <p:spPr>
          <a:xfrm>
            <a:off x="3740150" y="3657600"/>
            <a:ext cx="210604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Administrator sees everything</a:t>
            </a:r>
            <a:endParaRPr lang="en-US" sz="1200" dirty="0"/>
          </a:p>
        </p:txBody>
      </p:sp>
      <p:sp>
        <p:nvSpPr>
          <p:cNvPr id="12" name="Shape 10"/>
          <p:cNvSpPr/>
          <p:nvPr/>
        </p:nvSpPr>
        <p:spPr>
          <a:xfrm>
            <a:off x="6149975" y="2416175"/>
            <a:ext cx="2559050" cy="1708150"/>
          </a:xfrm>
          <a:prstGeom prst="roundRect">
            <a:avLst>
              <a:gd name="adj" fmla="val 7249"/>
            </a:avLst>
          </a:prstGeom>
          <a:solidFill>
            <a:srgbClr val="FCFDFC"/>
          </a:solidFill>
          <a:ln w="6350">
            <a:solidFill>
              <a:srgbClr val="DCE5E2"/>
            </a:solidFill>
            <a:prstDash val="solid"/>
          </a:ln>
        </p:spPr>
      </p:sp>
      <p:sp>
        <p:nvSpPr>
          <p:cNvPr id="13" name="Text 11"/>
          <p:cNvSpPr/>
          <p:nvPr/>
        </p:nvSpPr>
        <p:spPr>
          <a:xfrm>
            <a:off x="6407150" y="2673350"/>
            <a:ext cx="210604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560F"/>
                </a:solidFill>
                <a:latin typeface="IBM Plex Sans" pitchFamily="34" charset="0"/>
                <a:ea typeface="IBM Plex Sans" pitchFamily="34" charset="-122"/>
                <a:cs typeface="IBM Plex Sans" pitchFamily="34" charset="-120"/>
              </a:rPr>
              <a:t>0</a:t>
            </a:r>
            <a:endParaRPr lang="en-US" sz="4800" dirty="0"/>
          </a:p>
        </p:txBody>
      </p:sp>
      <p:sp>
        <p:nvSpPr>
          <p:cNvPr id="14" name="Text 12"/>
          <p:cNvSpPr/>
          <p:nvPr/>
        </p:nvSpPr>
        <p:spPr>
          <a:xfrm>
            <a:off x="6407150" y="3346450"/>
            <a:ext cx="210604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Arabic screens</a:t>
            </a:r>
            <a:endParaRPr lang="en-US" sz="1400" dirty="0"/>
          </a:p>
        </p:txBody>
      </p:sp>
      <p:sp>
        <p:nvSpPr>
          <p:cNvPr id="15" name="Text 13"/>
          <p:cNvSpPr/>
          <p:nvPr/>
        </p:nvSpPr>
        <p:spPr>
          <a:xfrm>
            <a:off x="6407150" y="3657600"/>
            <a:ext cx="210604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English, left-to-right only</a:t>
            </a:r>
            <a:endParaRPr lang="en-US" sz="1200" dirty="0"/>
          </a:p>
        </p:txBody>
      </p:sp>
      <p:sp>
        <p:nvSpPr>
          <p:cNvPr id="16" name="Shape 14"/>
          <p:cNvSpPr/>
          <p:nvPr/>
        </p:nvSpPr>
        <p:spPr>
          <a:xfrm>
            <a:off x="8816975" y="2416175"/>
            <a:ext cx="2559050" cy="1917700"/>
          </a:xfrm>
          <a:prstGeom prst="roundRect">
            <a:avLst>
              <a:gd name="adj" fmla="val 6457"/>
            </a:avLst>
          </a:prstGeom>
          <a:solidFill>
            <a:srgbClr val="FCFDFC"/>
          </a:solidFill>
          <a:ln w="6350">
            <a:solidFill>
              <a:srgbClr val="DCE5E2"/>
            </a:solidFill>
            <a:prstDash val="solid"/>
          </a:ln>
        </p:spPr>
      </p:sp>
      <p:sp>
        <p:nvSpPr>
          <p:cNvPr id="17" name="Text 15"/>
          <p:cNvSpPr/>
          <p:nvPr/>
        </p:nvSpPr>
        <p:spPr>
          <a:xfrm>
            <a:off x="9074150" y="2673350"/>
            <a:ext cx="210604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2560F"/>
                </a:solidFill>
                <a:latin typeface="IBM Plex Sans" pitchFamily="34" charset="0"/>
                <a:ea typeface="IBM Plex Sans" pitchFamily="34" charset="-122"/>
                <a:cs typeface="IBM Plex Sans" pitchFamily="34" charset="-120"/>
              </a:rPr>
              <a:t>0</a:t>
            </a:r>
            <a:endParaRPr lang="en-US" sz="4800" dirty="0"/>
          </a:p>
        </p:txBody>
      </p:sp>
      <p:sp>
        <p:nvSpPr>
          <p:cNvPr id="18" name="Text 16"/>
          <p:cNvSpPr/>
          <p:nvPr/>
        </p:nvSpPr>
        <p:spPr>
          <a:xfrm>
            <a:off x="9074150" y="3346450"/>
            <a:ext cx="2106041"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live connections</a:t>
            </a:r>
            <a:endParaRPr lang="en-US" sz="1400" dirty="0"/>
          </a:p>
        </p:txBody>
      </p:sp>
      <p:sp>
        <p:nvSpPr>
          <p:cNvPr id="19" name="Text 17"/>
          <p:cNvSpPr/>
          <p:nvPr/>
        </p:nvSpPr>
        <p:spPr>
          <a:xfrm>
            <a:off x="9074150" y="3657600"/>
            <a:ext cx="210604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No phone, SMS, GPS or offline</a:t>
            </a:r>
            <a:endParaRPr lang="en-US" sz="1200" dirty="0"/>
          </a:p>
        </p:txBody>
      </p:sp>
      <p:sp>
        <p:nvSpPr>
          <p:cNvPr id="20" name="Text 18"/>
          <p:cNvSpPr/>
          <p:nvPr/>
        </p:nvSpPr>
        <p:spPr>
          <a:xfrm>
            <a:off x="812800" y="4699000"/>
            <a:ext cx="9156700" cy="53340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6167"/>
                </a:solidFill>
                <a:latin typeface="IBM Plex Sans" pitchFamily="34" charset="0"/>
                <a:ea typeface="IBM Plex Sans" pitchFamily="34" charset="-122"/>
                <a:cs typeface="IBM Plex Sans" pitchFamily="34" charset="-120"/>
              </a:rPr>
              <a:t>A good base for the case flow and the patient record layout. The logic, data and connections behind the screens still have to be built.</a:t>
            </a:r>
            <a:endParaRPr lang="en-US" sz="1400" dirty="0"/>
          </a:p>
        </p:txBody>
      </p:sp>
      <p:sp>
        <p:nvSpPr>
          <p:cNvPr id="21" name="Text 1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WHAT WE WILL BUILD</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One core system, five front ends</a:t>
            </a:r>
            <a:endParaRPr lang="en-US" sz="3200" dirty="0"/>
          </a:p>
        </p:txBody>
      </p:sp>
      <p:pic>
        <p:nvPicPr>
          <p:cNvPr id="4" name="Image 0" descr="connector">    </p:cNvPr>
          <p:cNvPicPr>
            <a:picLocks noChangeAspect="1"/>
          </p:cNvPicPr>
          <p:nvPr/>
        </p:nvPicPr>
        <p:blipFill>
          <a:blip r:embed="rId1"/>
          <a:srcRect l="0" r="0" t="0" b="0"/>
          <a:stretch/>
        </p:blipFill>
        <p:spPr>
          <a:xfrm>
            <a:off x="1778000" y="2628900"/>
            <a:ext cx="76200" cy="457200"/>
          </a:xfrm>
          <a:prstGeom prst="rect">
            <a:avLst/>
          </a:prstGeom>
        </p:spPr>
      </p:pic>
      <p:pic>
        <p:nvPicPr>
          <p:cNvPr id="5" name="Image 1" descr="connector">    </p:cNvPr>
          <p:cNvPicPr>
            <a:picLocks noChangeAspect="1"/>
          </p:cNvPicPr>
          <p:nvPr/>
        </p:nvPicPr>
        <p:blipFill>
          <a:blip r:embed="rId2"/>
          <a:srcRect l="0" r="0" t="0" b="0"/>
          <a:stretch/>
        </p:blipFill>
        <p:spPr>
          <a:xfrm>
            <a:off x="3917950" y="2628900"/>
            <a:ext cx="76200" cy="457200"/>
          </a:xfrm>
          <a:prstGeom prst="rect">
            <a:avLst/>
          </a:prstGeom>
        </p:spPr>
      </p:pic>
      <p:pic>
        <p:nvPicPr>
          <p:cNvPr id="6" name="Image 2" descr="connector">    </p:cNvPr>
          <p:cNvPicPr>
            <a:picLocks noChangeAspect="1"/>
          </p:cNvPicPr>
          <p:nvPr/>
        </p:nvPicPr>
        <p:blipFill>
          <a:blip r:embed="rId3"/>
          <a:srcRect l="0" r="0" t="0" b="0"/>
          <a:stretch/>
        </p:blipFill>
        <p:spPr>
          <a:xfrm>
            <a:off x="6057900" y="2628900"/>
            <a:ext cx="76200" cy="457200"/>
          </a:xfrm>
          <a:prstGeom prst="rect">
            <a:avLst/>
          </a:prstGeom>
        </p:spPr>
      </p:pic>
      <p:pic>
        <p:nvPicPr>
          <p:cNvPr id="7" name="Image 3" descr="connector">    </p:cNvPr>
          <p:cNvPicPr>
            <a:picLocks noChangeAspect="1"/>
          </p:cNvPicPr>
          <p:nvPr/>
        </p:nvPicPr>
        <p:blipFill>
          <a:blip r:embed="rId4"/>
          <a:srcRect l="0" r="0" t="0" b="0"/>
          <a:stretch/>
        </p:blipFill>
        <p:spPr>
          <a:xfrm>
            <a:off x="8197850" y="2628900"/>
            <a:ext cx="76200" cy="457200"/>
          </a:xfrm>
          <a:prstGeom prst="rect">
            <a:avLst/>
          </a:prstGeom>
        </p:spPr>
      </p:pic>
      <p:pic>
        <p:nvPicPr>
          <p:cNvPr id="8" name="Image 4" descr="connector">    </p:cNvPr>
          <p:cNvPicPr>
            <a:picLocks noChangeAspect="1"/>
          </p:cNvPicPr>
          <p:nvPr/>
        </p:nvPicPr>
        <p:blipFill>
          <a:blip r:embed="rId5"/>
          <a:srcRect l="0" r="0" t="0" b="0"/>
          <a:stretch/>
        </p:blipFill>
        <p:spPr>
          <a:xfrm>
            <a:off x="10337800" y="2628900"/>
            <a:ext cx="76200" cy="457200"/>
          </a:xfrm>
          <a:prstGeom prst="rect">
            <a:avLst/>
          </a:prstGeom>
        </p:spPr>
      </p:pic>
      <p:pic>
        <p:nvPicPr>
          <p:cNvPr id="9" name="Image 5" descr="connector">    </p:cNvPr>
          <p:cNvPicPr>
            <a:picLocks noChangeAspect="1"/>
          </p:cNvPicPr>
          <p:nvPr/>
        </p:nvPicPr>
        <p:blipFill>
          <a:blip r:embed="rId6"/>
          <a:srcRect l="0" r="0" t="0" b="0"/>
          <a:stretch/>
        </p:blipFill>
        <p:spPr>
          <a:xfrm>
            <a:off x="1778000" y="3771900"/>
            <a:ext cx="76200" cy="457200"/>
          </a:xfrm>
          <a:prstGeom prst="rect">
            <a:avLst/>
          </a:prstGeom>
        </p:spPr>
      </p:pic>
      <p:pic>
        <p:nvPicPr>
          <p:cNvPr id="10" name="Image 6" descr="connector">    </p:cNvPr>
          <p:cNvPicPr>
            <a:picLocks noChangeAspect="1"/>
          </p:cNvPicPr>
          <p:nvPr/>
        </p:nvPicPr>
        <p:blipFill>
          <a:blip r:embed="rId7"/>
          <a:srcRect l="0" r="0" t="0" b="0"/>
          <a:stretch/>
        </p:blipFill>
        <p:spPr>
          <a:xfrm>
            <a:off x="3917950" y="3771900"/>
            <a:ext cx="76200" cy="457200"/>
          </a:xfrm>
          <a:prstGeom prst="rect">
            <a:avLst/>
          </a:prstGeom>
        </p:spPr>
      </p:pic>
      <p:pic>
        <p:nvPicPr>
          <p:cNvPr id="11" name="Image 7" descr="connector">    </p:cNvPr>
          <p:cNvPicPr>
            <a:picLocks noChangeAspect="1"/>
          </p:cNvPicPr>
          <p:nvPr/>
        </p:nvPicPr>
        <p:blipFill>
          <a:blip r:embed="rId8"/>
          <a:srcRect l="0" r="0" t="0" b="0"/>
          <a:stretch/>
        </p:blipFill>
        <p:spPr>
          <a:xfrm>
            <a:off x="6057900" y="3771900"/>
            <a:ext cx="76200" cy="457200"/>
          </a:xfrm>
          <a:prstGeom prst="rect">
            <a:avLst/>
          </a:prstGeom>
        </p:spPr>
      </p:pic>
      <p:pic>
        <p:nvPicPr>
          <p:cNvPr id="12" name="Image 8" descr="connector">    </p:cNvPr>
          <p:cNvPicPr>
            <a:picLocks noChangeAspect="1"/>
          </p:cNvPicPr>
          <p:nvPr/>
        </p:nvPicPr>
        <p:blipFill>
          <a:blip r:embed="rId9"/>
          <a:srcRect l="0" r="0" t="0" b="0"/>
          <a:stretch/>
        </p:blipFill>
        <p:spPr>
          <a:xfrm>
            <a:off x="8197850" y="3771900"/>
            <a:ext cx="76200" cy="457200"/>
          </a:xfrm>
          <a:prstGeom prst="rect">
            <a:avLst/>
          </a:prstGeom>
        </p:spPr>
      </p:pic>
      <p:pic>
        <p:nvPicPr>
          <p:cNvPr id="13" name="Image 9" descr="connector">    </p:cNvPr>
          <p:cNvPicPr>
            <a:picLocks noChangeAspect="1"/>
          </p:cNvPicPr>
          <p:nvPr/>
        </p:nvPicPr>
        <p:blipFill>
          <a:blip r:embed="rId10"/>
          <a:srcRect l="0" r="0" t="0" b="0"/>
          <a:stretch/>
        </p:blipFill>
        <p:spPr>
          <a:xfrm>
            <a:off x="10337800" y="3771900"/>
            <a:ext cx="76200" cy="457200"/>
          </a:xfrm>
          <a:prstGeom prst="rect">
            <a:avLst/>
          </a:prstGeom>
        </p:spPr>
      </p:pic>
      <p:sp>
        <p:nvSpPr>
          <p:cNvPr id="14" name="Shape 2"/>
          <p:cNvSpPr/>
          <p:nvPr/>
        </p:nvSpPr>
        <p:spPr>
          <a:xfrm>
            <a:off x="815975" y="1908175"/>
            <a:ext cx="2000250" cy="755650"/>
          </a:xfrm>
          <a:prstGeom prst="roundRect">
            <a:avLst>
              <a:gd name="adj" fmla="val 13025"/>
            </a:avLst>
          </a:prstGeom>
          <a:solidFill>
            <a:srgbClr val="FCFDFC"/>
          </a:solidFill>
          <a:ln w="6350">
            <a:solidFill>
              <a:srgbClr val="DCE5E2"/>
            </a:solidFill>
            <a:prstDash val="solid"/>
          </a:ln>
        </p:spPr>
      </p:sp>
      <p:sp>
        <p:nvSpPr>
          <p:cNvPr id="15" name="Text 3"/>
          <p:cNvSpPr/>
          <p:nvPr/>
        </p:nvSpPr>
        <p:spPr>
          <a:xfrm>
            <a:off x="946150" y="2063750"/>
            <a:ext cx="1739900" cy="245566"/>
          </a:xfrm>
          <a:prstGeom prst="rect">
            <a:avLst/>
          </a:prstGeom>
          <a:noFill/>
          <a:ln/>
        </p:spPr>
        <p:txBody>
          <a:bodyPr wrap="square" lIns="0" tIns="0" rIns="0" bIns="0" rtlCol="0" anchor="t">
            <a:normAutofit/>
          </a:bodyPr>
          <a:lstStyle/>
          <a:p>
            <a:pPr algn="ctr" indent="0" marL="0">
              <a:lnSpc>
                <a:spcPts val="1795"/>
              </a:lnSpc>
              <a:buNone/>
            </a:pPr>
            <a:r>
              <a:rPr lang="en-US" sz="1282" b="1" dirty="0">
                <a:solidFill>
                  <a:srgbClr val="0E2A33"/>
                </a:solidFill>
                <a:latin typeface="IBM Plex Sans" pitchFamily="34" charset="0"/>
                <a:ea typeface="IBM Plex Sans" pitchFamily="34" charset="-122"/>
                <a:cs typeface="IBM Plex Sans" pitchFamily="34" charset="-120"/>
              </a:rPr>
              <a:t>Admin</a:t>
            </a:r>
            <a:endParaRPr lang="en-US" sz="1282" dirty="0"/>
          </a:p>
        </p:txBody>
      </p:sp>
      <p:sp>
        <p:nvSpPr>
          <p:cNvPr id="16" name="Text 4"/>
          <p:cNvSpPr/>
          <p:nvPr/>
        </p:nvSpPr>
        <p:spPr>
          <a:xfrm>
            <a:off x="946150" y="2322016"/>
            <a:ext cx="1739900" cy="211634"/>
          </a:xfrm>
          <a:prstGeom prst="rect">
            <a:avLst/>
          </a:prstGeom>
          <a:noFill/>
          <a:ln/>
        </p:spPr>
        <p:txBody>
          <a:bodyPr wrap="square" lIns="0" tIns="0" rIns="0" bIns="0" rtlCol="0" anchor="t">
            <a:normAutofit/>
          </a:bodyPr>
          <a:lstStyle/>
          <a:p>
            <a:pPr algn="ctr" indent="0" marL="0">
              <a:lnSpc>
                <a:spcPts val="1496"/>
              </a:lnSpc>
              <a:buNone/>
            </a:pPr>
            <a:r>
              <a:rPr lang="en-US" sz="1069" dirty="0">
                <a:solidFill>
                  <a:srgbClr val="5B6B70"/>
                </a:solidFill>
                <a:latin typeface="IBM Plex Sans" pitchFamily="34" charset="0"/>
                <a:ea typeface="IBM Plex Sans" pitchFamily="34" charset="-122"/>
                <a:cs typeface="IBM Plex Sans" pitchFamily="34" charset="-120"/>
              </a:rPr>
              <a:t>Web portal</a:t>
            </a:r>
            <a:endParaRPr lang="en-US" sz="1069" dirty="0"/>
          </a:p>
        </p:txBody>
      </p:sp>
      <p:sp>
        <p:nvSpPr>
          <p:cNvPr id="17" name="Shape 5"/>
          <p:cNvSpPr/>
          <p:nvPr/>
        </p:nvSpPr>
        <p:spPr>
          <a:xfrm>
            <a:off x="2955925" y="1908175"/>
            <a:ext cx="2000250" cy="755650"/>
          </a:xfrm>
          <a:prstGeom prst="roundRect">
            <a:avLst>
              <a:gd name="adj" fmla="val 13025"/>
            </a:avLst>
          </a:prstGeom>
          <a:solidFill>
            <a:srgbClr val="FCFDFC"/>
          </a:solidFill>
          <a:ln w="6350">
            <a:solidFill>
              <a:srgbClr val="DCE5E2"/>
            </a:solidFill>
            <a:prstDash val="solid"/>
          </a:ln>
        </p:spPr>
      </p:sp>
      <p:sp>
        <p:nvSpPr>
          <p:cNvPr id="18" name="Text 6"/>
          <p:cNvSpPr/>
          <p:nvPr/>
        </p:nvSpPr>
        <p:spPr>
          <a:xfrm>
            <a:off x="3086100" y="2063750"/>
            <a:ext cx="1739900" cy="245566"/>
          </a:xfrm>
          <a:prstGeom prst="rect">
            <a:avLst/>
          </a:prstGeom>
          <a:noFill/>
          <a:ln/>
        </p:spPr>
        <p:txBody>
          <a:bodyPr wrap="square" lIns="0" tIns="0" rIns="0" bIns="0" rtlCol="0" anchor="t">
            <a:normAutofit/>
          </a:bodyPr>
          <a:lstStyle/>
          <a:p>
            <a:pPr algn="ctr" indent="0" marL="0">
              <a:lnSpc>
                <a:spcPts val="1795"/>
              </a:lnSpc>
              <a:buNone/>
            </a:pPr>
            <a:r>
              <a:rPr lang="en-US" sz="1282" b="1" dirty="0">
                <a:solidFill>
                  <a:srgbClr val="0E2A33"/>
                </a:solidFill>
                <a:latin typeface="IBM Plex Sans" pitchFamily="34" charset="0"/>
                <a:ea typeface="IBM Plex Sans" pitchFamily="34" charset="-122"/>
                <a:cs typeface="IBM Plex Sans" pitchFamily="34" charset="-120"/>
              </a:rPr>
              <a:t>Call centre</a:t>
            </a:r>
            <a:endParaRPr lang="en-US" sz="1282" dirty="0"/>
          </a:p>
        </p:txBody>
      </p:sp>
      <p:sp>
        <p:nvSpPr>
          <p:cNvPr id="19" name="Text 7"/>
          <p:cNvSpPr/>
          <p:nvPr/>
        </p:nvSpPr>
        <p:spPr>
          <a:xfrm>
            <a:off x="3086100" y="2322016"/>
            <a:ext cx="1739900" cy="211634"/>
          </a:xfrm>
          <a:prstGeom prst="rect">
            <a:avLst/>
          </a:prstGeom>
          <a:noFill/>
          <a:ln/>
        </p:spPr>
        <p:txBody>
          <a:bodyPr wrap="square" lIns="0" tIns="0" rIns="0" bIns="0" rtlCol="0" anchor="t">
            <a:normAutofit/>
          </a:bodyPr>
          <a:lstStyle/>
          <a:p>
            <a:pPr algn="ctr" indent="0" marL="0">
              <a:lnSpc>
                <a:spcPts val="1496"/>
              </a:lnSpc>
              <a:buNone/>
            </a:pPr>
            <a:r>
              <a:rPr lang="en-US" sz="1069" dirty="0">
                <a:solidFill>
                  <a:srgbClr val="5B6B70"/>
                </a:solidFill>
                <a:latin typeface="IBM Plex Sans" pitchFamily="34" charset="0"/>
                <a:ea typeface="IBM Plex Sans" pitchFamily="34" charset="-122"/>
                <a:cs typeface="IBM Plex Sans" pitchFamily="34" charset="-120"/>
              </a:rPr>
              <a:t>Health Authority</a:t>
            </a:r>
            <a:endParaRPr lang="en-US" sz="1069" dirty="0"/>
          </a:p>
        </p:txBody>
      </p:sp>
      <p:sp>
        <p:nvSpPr>
          <p:cNvPr id="20" name="Shape 8"/>
          <p:cNvSpPr/>
          <p:nvPr/>
        </p:nvSpPr>
        <p:spPr>
          <a:xfrm>
            <a:off x="5095875" y="1908175"/>
            <a:ext cx="2000250" cy="755650"/>
          </a:xfrm>
          <a:prstGeom prst="roundRect">
            <a:avLst>
              <a:gd name="adj" fmla="val 13025"/>
            </a:avLst>
          </a:prstGeom>
          <a:solidFill>
            <a:srgbClr val="FCFDFC"/>
          </a:solidFill>
          <a:ln w="6350">
            <a:solidFill>
              <a:srgbClr val="DCE5E2"/>
            </a:solidFill>
            <a:prstDash val="solid"/>
          </a:ln>
        </p:spPr>
      </p:sp>
      <p:sp>
        <p:nvSpPr>
          <p:cNvPr id="21" name="Text 9"/>
          <p:cNvSpPr/>
          <p:nvPr/>
        </p:nvSpPr>
        <p:spPr>
          <a:xfrm>
            <a:off x="5226050" y="2063750"/>
            <a:ext cx="1739900" cy="245566"/>
          </a:xfrm>
          <a:prstGeom prst="rect">
            <a:avLst/>
          </a:prstGeom>
          <a:noFill/>
          <a:ln/>
        </p:spPr>
        <p:txBody>
          <a:bodyPr wrap="square" lIns="0" tIns="0" rIns="0" bIns="0" rtlCol="0" anchor="t">
            <a:normAutofit/>
          </a:bodyPr>
          <a:lstStyle/>
          <a:p>
            <a:pPr algn="ctr" indent="0" marL="0">
              <a:lnSpc>
                <a:spcPts val="1795"/>
              </a:lnSpc>
              <a:buNone/>
            </a:pPr>
            <a:r>
              <a:rPr lang="en-US" sz="1282" b="1" dirty="0">
                <a:solidFill>
                  <a:srgbClr val="0E2A33"/>
                </a:solidFill>
                <a:latin typeface="IBM Plex Sans" pitchFamily="34" charset="0"/>
                <a:ea typeface="IBM Plex Sans" pitchFamily="34" charset="-122"/>
                <a:cs typeface="IBM Plex Sans" pitchFamily="34" charset="-120"/>
              </a:rPr>
              <a:t>Hospital ER</a:t>
            </a:r>
            <a:endParaRPr lang="en-US" sz="1282" dirty="0"/>
          </a:p>
        </p:txBody>
      </p:sp>
      <p:sp>
        <p:nvSpPr>
          <p:cNvPr id="22" name="Text 10"/>
          <p:cNvSpPr/>
          <p:nvPr/>
        </p:nvSpPr>
        <p:spPr>
          <a:xfrm>
            <a:off x="5226050" y="2322016"/>
            <a:ext cx="1739900" cy="211634"/>
          </a:xfrm>
          <a:prstGeom prst="rect">
            <a:avLst/>
          </a:prstGeom>
          <a:noFill/>
          <a:ln/>
        </p:spPr>
        <p:txBody>
          <a:bodyPr wrap="square" lIns="0" tIns="0" rIns="0" bIns="0" rtlCol="0" anchor="t">
            <a:normAutofit/>
          </a:bodyPr>
          <a:lstStyle/>
          <a:p>
            <a:pPr algn="ctr" indent="0" marL="0">
              <a:lnSpc>
                <a:spcPts val="1496"/>
              </a:lnSpc>
              <a:buNone/>
            </a:pPr>
            <a:r>
              <a:rPr lang="en-US" sz="1069" dirty="0">
                <a:solidFill>
                  <a:srgbClr val="5B6B70"/>
                </a:solidFill>
                <a:latin typeface="IBM Plex Sans" pitchFamily="34" charset="0"/>
                <a:ea typeface="IBM Plex Sans" pitchFamily="34" charset="-122"/>
                <a:cs typeface="IBM Plex Sans" pitchFamily="34" charset="-120"/>
              </a:rPr>
              <a:t>Web portal</a:t>
            </a:r>
            <a:endParaRPr lang="en-US" sz="1069" dirty="0"/>
          </a:p>
        </p:txBody>
      </p:sp>
      <p:sp>
        <p:nvSpPr>
          <p:cNvPr id="23" name="Shape 11"/>
          <p:cNvSpPr/>
          <p:nvPr/>
        </p:nvSpPr>
        <p:spPr>
          <a:xfrm>
            <a:off x="7235825" y="1908175"/>
            <a:ext cx="2000250" cy="755650"/>
          </a:xfrm>
          <a:prstGeom prst="roundRect">
            <a:avLst>
              <a:gd name="adj" fmla="val 13025"/>
            </a:avLst>
          </a:prstGeom>
          <a:solidFill>
            <a:srgbClr val="FCFDFC"/>
          </a:solidFill>
          <a:ln w="6350">
            <a:solidFill>
              <a:srgbClr val="DCE5E2"/>
            </a:solidFill>
            <a:prstDash val="solid"/>
          </a:ln>
        </p:spPr>
      </p:sp>
      <p:sp>
        <p:nvSpPr>
          <p:cNvPr id="24" name="Text 12"/>
          <p:cNvSpPr/>
          <p:nvPr/>
        </p:nvSpPr>
        <p:spPr>
          <a:xfrm>
            <a:off x="7366000" y="2063750"/>
            <a:ext cx="1739900" cy="245566"/>
          </a:xfrm>
          <a:prstGeom prst="rect">
            <a:avLst/>
          </a:prstGeom>
          <a:noFill/>
          <a:ln/>
        </p:spPr>
        <p:txBody>
          <a:bodyPr wrap="square" lIns="0" tIns="0" rIns="0" bIns="0" rtlCol="0" anchor="t">
            <a:normAutofit/>
          </a:bodyPr>
          <a:lstStyle/>
          <a:p>
            <a:pPr algn="ctr" indent="0" marL="0">
              <a:lnSpc>
                <a:spcPts val="1795"/>
              </a:lnSpc>
              <a:buNone/>
            </a:pPr>
            <a:r>
              <a:rPr lang="en-US" sz="1282" b="1" dirty="0">
                <a:solidFill>
                  <a:srgbClr val="0E2A33"/>
                </a:solidFill>
                <a:latin typeface="IBM Plex Sans" pitchFamily="34" charset="0"/>
                <a:ea typeface="IBM Plex Sans" pitchFamily="34" charset="-122"/>
                <a:cs typeface="IBM Plex Sans" pitchFamily="34" charset="-120"/>
              </a:rPr>
              <a:t>Hospital staff</a:t>
            </a:r>
            <a:endParaRPr lang="en-US" sz="1282" dirty="0"/>
          </a:p>
        </p:txBody>
      </p:sp>
      <p:sp>
        <p:nvSpPr>
          <p:cNvPr id="25" name="Text 13"/>
          <p:cNvSpPr/>
          <p:nvPr/>
        </p:nvSpPr>
        <p:spPr>
          <a:xfrm>
            <a:off x="7366000" y="2322016"/>
            <a:ext cx="1739900" cy="211634"/>
          </a:xfrm>
          <a:prstGeom prst="rect">
            <a:avLst/>
          </a:prstGeom>
          <a:noFill/>
          <a:ln/>
        </p:spPr>
        <p:txBody>
          <a:bodyPr wrap="square" lIns="0" tIns="0" rIns="0" bIns="0" rtlCol="0" anchor="t">
            <a:normAutofit/>
          </a:bodyPr>
          <a:lstStyle/>
          <a:p>
            <a:pPr algn="ctr" indent="0" marL="0">
              <a:lnSpc>
                <a:spcPts val="1496"/>
              </a:lnSpc>
              <a:buNone/>
            </a:pPr>
            <a:r>
              <a:rPr lang="en-US" sz="1069" dirty="0">
                <a:solidFill>
                  <a:srgbClr val="5B6B70"/>
                </a:solidFill>
                <a:latin typeface="IBM Plex Sans" pitchFamily="34" charset="0"/>
                <a:ea typeface="IBM Plex Sans" pitchFamily="34" charset="-122"/>
                <a:cs typeface="IBM Plex Sans" pitchFamily="34" charset="-120"/>
              </a:rPr>
              <a:t>Web portal</a:t>
            </a:r>
            <a:endParaRPr lang="en-US" sz="1069" dirty="0"/>
          </a:p>
        </p:txBody>
      </p:sp>
      <p:sp>
        <p:nvSpPr>
          <p:cNvPr id="26" name="Shape 14"/>
          <p:cNvSpPr/>
          <p:nvPr/>
        </p:nvSpPr>
        <p:spPr>
          <a:xfrm>
            <a:off x="9378950" y="1911350"/>
            <a:ext cx="1993900" cy="749300"/>
          </a:xfrm>
          <a:prstGeom prst="roundRect">
            <a:avLst>
              <a:gd name="adj" fmla="val 12712"/>
            </a:avLst>
          </a:prstGeom>
          <a:solidFill>
            <a:srgbClr val="FCFDFC"/>
          </a:solidFill>
          <a:ln w="12700">
            <a:solidFill>
              <a:srgbClr val="0B6E64"/>
            </a:solidFill>
            <a:prstDash val="solid"/>
          </a:ln>
        </p:spPr>
      </p:sp>
      <p:sp>
        <p:nvSpPr>
          <p:cNvPr id="27" name="Text 15"/>
          <p:cNvSpPr/>
          <p:nvPr/>
        </p:nvSpPr>
        <p:spPr>
          <a:xfrm>
            <a:off x="9512300" y="2070100"/>
            <a:ext cx="1727200" cy="238621"/>
          </a:xfrm>
          <a:prstGeom prst="rect">
            <a:avLst/>
          </a:prstGeom>
          <a:noFill/>
          <a:ln/>
        </p:spPr>
        <p:txBody>
          <a:bodyPr wrap="square" lIns="0" tIns="0" rIns="0" bIns="0" rtlCol="0" anchor="t">
            <a:normAutofit/>
          </a:bodyPr>
          <a:lstStyle/>
          <a:p>
            <a:pPr algn="ctr" indent="0" marL="0">
              <a:lnSpc>
                <a:spcPts val="1746"/>
              </a:lnSpc>
              <a:buNone/>
            </a:pPr>
            <a:r>
              <a:rPr lang="en-US" sz="1247" b="1" dirty="0">
                <a:solidFill>
                  <a:srgbClr val="0E2A33"/>
                </a:solidFill>
                <a:latin typeface="IBM Plex Sans" pitchFamily="34" charset="0"/>
                <a:ea typeface="IBM Plex Sans" pitchFamily="34" charset="-122"/>
                <a:cs typeface="IBM Plex Sans" pitchFamily="34" charset="-120"/>
              </a:rPr>
              <a:t>Field app</a:t>
            </a:r>
            <a:endParaRPr lang="en-US" sz="1247" dirty="0"/>
          </a:p>
        </p:txBody>
      </p:sp>
      <p:sp>
        <p:nvSpPr>
          <p:cNvPr id="28" name="Text 16"/>
          <p:cNvSpPr/>
          <p:nvPr/>
        </p:nvSpPr>
        <p:spPr>
          <a:xfrm>
            <a:off x="9512300" y="2321421"/>
            <a:ext cx="1727200" cy="205879"/>
          </a:xfrm>
          <a:prstGeom prst="rect">
            <a:avLst/>
          </a:prstGeom>
          <a:noFill/>
          <a:ln/>
        </p:spPr>
        <p:txBody>
          <a:bodyPr wrap="square" lIns="0" tIns="0" rIns="0" bIns="0" rtlCol="0" anchor="t">
            <a:normAutofit/>
          </a:bodyPr>
          <a:lstStyle/>
          <a:p>
            <a:pPr algn="ctr" indent="0" marL="0">
              <a:lnSpc>
                <a:spcPts val="1449"/>
              </a:lnSpc>
              <a:buNone/>
            </a:pPr>
            <a:r>
              <a:rPr lang="en-US" sz="1035" dirty="0">
                <a:solidFill>
                  <a:srgbClr val="5B6B70"/>
                </a:solidFill>
                <a:latin typeface="IBM Plex Sans" pitchFamily="34" charset="0"/>
                <a:ea typeface="IBM Plex Sans" pitchFamily="34" charset="-122"/>
                <a:cs typeface="IBM Plex Sans" pitchFamily="34" charset="-120"/>
              </a:rPr>
              <a:t>Android, offline</a:t>
            </a:r>
            <a:endParaRPr lang="en-US" sz="1035" dirty="0"/>
          </a:p>
        </p:txBody>
      </p:sp>
      <p:sp>
        <p:nvSpPr>
          <p:cNvPr id="29" name="Shape 17"/>
          <p:cNvSpPr/>
          <p:nvPr/>
        </p:nvSpPr>
        <p:spPr>
          <a:xfrm>
            <a:off x="812800" y="3048000"/>
            <a:ext cx="10566400" cy="762000"/>
          </a:xfrm>
          <a:prstGeom prst="roundRect">
            <a:avLst>
              <a:gd name="adj" fmla="val 13333"/>
            </a:avLst>
          </a:prstGeom>
          <a:solidFill>
            <a:srgbClr val="0B6E64"/>
          </a:solidFill>
          <a:ln/>
          <a:effectLst>
            <a:outerShdw sx="100000" sy="100000" kx="0" ky="0" algn="bl" rotWithShape="0" blurRad="254000" dist="101600" dir="5400000">
              <a:srgbClr val="0B6E64">
                <a:alpha val="25000"/>
              </a:srgbClr>
            </a:outerShdw>
          </a:effectLst>
        </p:spPr>
      </p:sp>
      <p:sp>
        <p:nvSpPr>
          <p:cNvPr id="30" name="Text 18"/>
          <p:cNvSpPr/>
          <p:nvPr/>
        </p:nvSpPr>
        <p:spPr>
          <a:xfrm>
            <a:off x="785114" y="3175000"/>
            <a:ext cx="10621772" cy="308471"/>
          </a:xfrm>
          <a:prstGeom prst="rect">
            <a:avLst/>
          </a:prstGeom>
          <a:noFill/>
          <a:ln/>
        </p:spPr>
        <p:txBody>
          <a:bodyPr wrap="square" lIns="0" tIns="0" rIns="0" bIns="0" rtlCol="0" anchor="t">
            <a:normAutofit/>
          </a:bodyPr>
          <a:lstStyle/>
          <a:p>
            <a:pPr algn="ctr" indent="0" marL="0">
              <a:lnSpc>
                <a:spcPts val="2300"/>
              </a:lnSpc>
              <a:buNone/>
            </a:pPr>
            <a:r>
              <a:rPr lang="en-US" sz="1643" b="1" dirty="0">
                <a:solidFill>
                  <a:srgbClr val="F2F5F4"/>
                </a:solidFill>
                <a:latin typeface="IBM Plex Sans" pitchFamily="34" charset="0"/>
                <a:ea typeface="IBM Plex Sans" pitchFamily="34" charset="-122"/>
                <a:cs typeface="IBM Plex Sans" pitchFamily="34" charset="-120"/>
              </a:rPr>
              <a:t>Core system (Spring Boot API)</a:t>
            </a:r>
            <a:endParaRPr lang="en-US" sz="1643" dirty="0"/>
          </a:p>
        </p:txBody>
      </p:sp>
      <p:sp>
        <p:nvSpPr>
          <p:cNvPr id="31" name="Text 19"/>
          <p:cNvSpPr/>
          <p:nvPr/>
        </p:nvSpPr>
        <p:spPr>
          <a:xfrm>
            <a:off x="785114" y="3496171"/>
            <a:ext cx="10621772" cy="212229"/>
          </a:xfrm>
          <a:prstGeom prst="rect">
            <a:avLst/>
          </a:prstGeom>
          <a:noFill/>
          <a:ln/>
        </p:spPr>
        <p:txBody>
          <a:bodyPr wrap="square" lIns="0" tIns="0" rIns="0" bIns="0" rtlCol="0" anchor="t">
            <a:normAutofit/>
          </a:bodyPr>
          <a:lstStyle/>
          <a:p>
            <a:pPr algn="ctr" indent="0" marL="0">
              <a:lnSpc>
                <a:spcPts val="1496"/>
              </a:lnSpc>
              <a:buNone/>
            </a:pPr>
            <a:r>
              <a:rPr lang="en-US" sz="1069" dirty="0">
                <a:solidFill>
                  <a:srgbClr val="CDE7E2"/>
                </a:solidFill>
                <a:latin typeface="IBM Plex Sans" pitchFamily="34" charset="0"/>
                <a:ea typeface="IBM Plex Sans" pitchFamily="34" charset="-122"/>
                <a:cs typeface="IBM Plex Sans" pitchFamily="34" charset="-120"/>
              </a:rPr>
              <a:t>Cases · dispatch · patients · roles · live updates · offline sync · access records</a:t>
            </a:r>
            <a:endParaRPr lang="en-US" sz="1069" dirty="0"/>
          </a:p>
        </p:txBody>
      </p:sp>
      <p:sp>
        <p:nvSpPr>
          <p:cNvPr id="32" name="Shape 20"/>
          <p:cNvSpPr/>
          <p:nvPr/>
        </p:nvSpPr>
        <p:spPr>
          <a:xfrm>
            <a:off x="812800" y="4191000"/>
            <a:ext cx="2006600" cy="698500"/>
          </a:xfrm>
          <a:prstGeom prst="roundRect">
            <a:avLst>
              <a:gd name="adj" fmla="val 14545"/>
            </a:avLst>
          </a:prstGeom>
          <a:solidFill>
            <a:srgbClr val="EAF1EF"/>
          </a:solidFill>
          <a:ln/>
        </p:spPr>
      </p:sp>
      <p:sp>
        <p:nvSpPr>
          <p:cNvPr id="33" name="Text 21"/>
          <p:cNvSpPr/>
          <p:nvPr/>
        </p:nvSpPr>
        <p:spPr>
          <a:xfrm>
            <a:off x="913511" y="4318000"/>
            <a:ext cx="1805178" cy="252413"/>
          </a:xfrm>
          <a:prstGeom prst="rect">
            <a:avLst/>
          </a:prstGeom>
          <a:noFill/>
          <a:ln/>
        </p:spPr>
        <p:txBody>
          <a:bodyPr wrap="square" lIns="0" tIns="0" rIns="0" bIns="0" rtlCol="0" anchor="t">
            <a:normAutofit/>
          </a:bodyPr>
          <a:lstStyle/>
          <a:p>
            <a:pPr algn="ctr" indent="0" marL="0">
              <a:lnSpc>
                <a:spcPts val="1850"/>
              </a:lnSpc>
              <a:buNone/>
            </a:pPr>
            <a:r>
              <a:rPr lang="en-US" sz="1321" b="1" dirty="0">
                <a:solidFill>
                  <a:srgbClr val="0E2A33"/>
                </a:solidFill>
                <a:latin typeface="IBM Plex Sans" pitchFamily="34" charset="0"/>
                <a:ea typeface="IBM Plex Sans" pitchFamily="34" charset="-122"/>
                <a:cs typeface="IBM Plex Sans" pitchFamily="34" charset="-120"/>
              </a:rPr>
              <a:t>Database</a:t>
            </a:r>
            <a:endParaRPr lang="en-US" sz="1321" dirty="0"/>
          </a:p>
        </p:txBody>
      </p:sp>
      <p:sp>
        <p:nvSpPr>
          <p:cNvPr id="34" name="Text 22"/>
          <p:cNvSpPr/>
          <p:nvPr/>
        </p:nvSpPr>
        <p:spPr>
          <a:xfrm>
            <a:off x="913511" y="4570413"/>
            <a:ext cx="1805178" cy="217488"/>
          </a:xfrm>
          <a:prstGeom prst="rect">
            <a:avLst/>
          </a:prstGeom>
          <a:noFill/>
          <a:ln/>
        </p:spPr>
        <p:txBody>
          <a:bodyPr wrap="square" lIns="0" tIns="0" rIns="0" bIns="0" rtlCol="0" anchor="t">
            <a:normAutofit/>
          </a:bodyPr>
          <a:lstStyle/>
          <a:p>
            <a:pPr algn="ctr" indent="0" marL="0">
              <a:lnSpc>
                <a:spcPts val="1549"/>
              </a:lnSpc>
              <a:buNone/>
            </a:pPr>
            <a:r>
              <a:rPr lang="en-US" sz="1106" dirty="0">
                <a:solidFill>
                  <a:srgbClr val="5B6B70"/>
                </a:solidFill>
                <a:latin typeface="IBM Plex Sans" pitchFamily="34" charset="0"/>
                <a:ea typeface="IBM Plex Sans" pitchFamily="34" charset="-122"/>
                <a:cs typeface="IBM Plex Sans" pitchFamily="34" charset="-120"/>
              </a:rPr>
              <a:t>PostgreSQL</a:t>
            </a:r>
            <a:endParaRPr lang="en-US" sz="1106" dirty="0"/>
          </a:p>
        </p:txBody>
      </p:sp>
      <p:sp>
        <p:nvSpPr>
          <p:cNvPr id="35" name="Shape 23"/>
          <p:cNvSpPr/>
          <p:nvPr/>
        </p:nvSpPr>
        <p:spPr>
          <a:xfrm>
            <a:off x="2952750" y="4191000"/>
            <a:ext cx="2006600" cy="698500"/>
          </a:xfrm>
          <a:prstGeom prst="roundRect">
            <a:avLst>
              <a:gd name="adj" fmla="val 14545"/>
            </a:avLst>
          </a:prstGeom>
          <a:solidFill>
            <a:srgbClr val="EAF1EF"/>
          </a:solidFill>
          <a:ln/>
        </p:spPr>
      </p:sp>
      <p:sp>
        <p:nvSpPr>
          <p:cNvPr id="36" name="Text 24"/>
          <p:cNvSpPr/>
          <p:nvPr/>
        </p:nvSpPr>
        <p:spPr>
          <a:xfrm>
            <a:off x="3053461" y="4318000"/>
            <a:ext cx="1805178" cy="252413"/>
          </a:xfrm>
          <a:prstGeom prst="rect">
            <a:avLst/>
          </a:prstGeom>
          <a:noFill/>
          <a:ln/>
        </p:spPr>
        <p:txBody>
          <a:bodyPr wrap="square" lIns="0" tIns="0" rIns="0" bIns="0" rtlCol="0" anchor="t">
            <a:normAutofit/>
          </a:bodyPr>
          <a:lstStyle/>
          <a:p>
            <a:pPr algn="ctr" indent="0" marL="0">
              <a:lnSpc>
                <a:spcPts val="1850"/>
              </a:lnSpc>
              <a:buNone/>
            </a:pPr>
            <a:r>
              <a:rPr lang="en-US" sz="1321" b="1" dirty="0">
                <a:solidFill>
                  <a:srgbClr val="0E2A33"/>
                </a:solidFill>
                <a:latin typeface="IBM Plex Sans" pitchFamily="34" charset="0"/>
                <a:ea typeface="IBM Plex Sans" pitchFamily="34" charset="-122"/>
                <a:cs typeface="IBM Plex Sans" pitchFamily="34" charset="-120"/>
              </a:rPr>
              <a:t>Phone system</a:t>
            </a:r>
            <a:endParaRPr lang="en-US" sz="1321" dirty="0"/>
          </a:p>
        </p:txBody>
      </p:sp>
      <p:sp>
        <p:nvSpPr>
          <p:cNvPr id="37" name="Text 25"/>
          <p:cNvSpPr/>
          <p:nvPr/>
        </p:nvSpPr>
        <p:spPr>
          <a:xfrm>
            <a:off x="3053461" y="4570413"/>
            <a:ext cx="1805178" cy="217488"/>
          </a:xfrm>
          <a:prstGeom prst="rect">
            <a:avLst/>
          </a:prstGeom>
          <a:noFill/>
          <a:ln/>
        </p:spPr>
        <p:txBody>
          <a:bodyPr wrap="square" lIns="0" tIns="0" rIns="0" bIns="0" rtlCol="0" anchor="t">
            <a:normAutofit/>
          </a:bodyPr>
          <a:lstStyle/>
          <a:p>
            <a:pPr algn="ctr" indent="0" marL="0">
              <a:lnSpc>
                <a:spcPts val="1549"/>
              </a:lnSpc>
              <a:buNone/>
            </a:pPr>
            <a:r>
              <a:rPr lang="en-US" sz="1106" dirty="0">
                <a:solidFill>
                  <a:srgbClr val="5B6B70"/>
                </a:solidFill>
                <a:latin typeface="IBM Plex Sans" pitchFamily="34" charset="0"/>
                <a:ea typeface="IBM Plex Sans" pitchFamily="34" charset="-122"/>
                <a:cs typeface="IBM Plex Sans" pitchFamily="34" charset="-120"/>
              </a:rPr>
              <a:t>Caller number link</a:t>
            </a:r>
            <a:endParaRPr lang="en-US" sz="1106" dirty="0"/>
          </a:p>
        </p:txBody>
      </p:sp>
      <p:sp>
        <p:nvSpPr>
          <p:cNvPr id="38" name="Shape 26"/>
          <p:cNvSpPr/>
          <p:nvPr/>
        </p:nvSpPr>
        <p:spPr>
          <a:xfrm>
            <a:off x="5092700" y="4191000"/>
            <a:ext cx="2006600" cy="698500"/>
          </a:xfrm>
          <a:prstGeom prst="roundRect">
            <a:avLst>
              <a:gd name="adj" fmla="val 14545"/>
            </a:avLst>
          </a:prstGeom>
          <a:solidFill>
            <a:srgbClr val="EAF1EF"/>
          </a:solidFill>
          <a:ln/>
        </p:spPr>
      </p:sp>
      <p:sp>
        <p:nvSpPr>
          <p:cNvPr id="39" name="Text 27"/>
          <p:cNvSpPr/>
          <p:nvPr/>
        </p:nvSpPr>
        <p:spPr>
          <a:xfrm>
            <a:off x="5193411" y="4318000"/>
            <a:ext cx="1805178" cy="252413"/>
          </a:xfrm>
          <a:prstGeom prst="rect">
            <a:avLst/>
          </a:prstGeom>
          <a:noFill/>
          <a:ln/>
        </p:spPr>
        <p:txBody>
          <a:bodyPr wrap="square" lIns="0" tIns="0" rIns="0" bIns="0" rtlCol="0" anchor="t">
            <a:normAutofit/>
          </a:bodyPr>
          <a:lstStyle/>
          <a:p>
            <a:pPr algn="ctr" indent="0" marL="0">
              <a:lnSpc>
                <a:spcPts val="1850"/>
              </a:lnSpc>
              <a:buNone/>
            </a:pPr>
            <a:r>
              <a:rPr lang="en-US" sz="1321" b="1" dirty="0">
                <a:solidFill>
                  <a:srgbClr val="0E2A33"/>
                </a:solidFill>
                <a:latin typeface="IBM Plex Sans" pitchFamily="34" charset="0"/>
                <a:ea typeface="IBM Plex Sans" pitchFamily="34" charset="-122"/>
                <a:cs typeface="IBM Plex Sans" pitchFamily="34" charset="-120"/>
              </a:rPr>
              <a:t>SMS</a:t>
            </a:r>
            <a:endParaRPr lang="en-US" sz="1321" dirty="0"/>
          </a:p>
        </p:txBody>
      </p:sp>
      <p:sp>
        <p:nvSpPr>
          <p:cNvPr id="40" name="Text 28"/>
          <p:cNvSpPr/>
          <p:nvPr/>
        </p:nvSpPr>
        <p:spPr>
          <a:xfrm>
            <a:off x="5193411" y="4570413"/>
            <a:ext cx="1805178" cy="217488"/>
          </a:xfrm>
          <a:prstGeom prst="rect">
            <a:avLst/>
          </a:prstGeom>
          <a:noFill/>
          <a:ln/>
        </p:spPr>
        <p:txBody>
          <a:bodyPr wrap="square" lIns="0" tIns="0" rIns="0" bIns="0" rtlCol="0" anchor="t">
            <a:normAutofit/>
          </a:bodyPr>
          <a:lstStyle/>
          <a:p>
            <a:pPr algn="ctr" indent="0" marL="0">
              <a:lnSpc>
                <a:spcPts val="1549"/>
              </a:lnSpc>
              <a:buNone/>
            </a:pPr>
            <a:r>
              <a:rPr lang="en-US" sz="1106" dirty="0">
                <a:solidFill>
                  <a:srgbClr val="5B6B70"/>
                </a:solidFill>
                <a:latin typeface="IBM Plex Sans" pitchFamily="34" charset="0"/>
                <a:ea typeface="IBM Plex Sans" pitchFamily="34" charset="-122"/>
                <a:cs typeface="IBM Plex Sans" pitchFamily="34" charset="-120"/>
              </a:rPr>
              <a:t>Zain (login codes)</a:t>
            </a:r>
            <a:endParaRPr lang="en-US" sz="1106" dirty="0"/>
          </a:p>
        </p:txBody>
      </p:sp>
      <p:sp>
        <p:nvSpPr>
          <p:cNvPr id="41" name="Shape 29"/>
          <p:cNvSpPr/>
          <p:nvPr/>
        </p:nvSpPr>
        <p:spPr>
          <a:xfrm>
            <a:off x="7232650" y="4191000"/>
            <a:ext cx="2006600" cy="698500"/>
          </a:xfrm>
          <a:prstGeom prst="roundRect">
            <a:avLst>
              <a:gd name="adj" fmla="val 14545"/>
            </a:avLst>
          </a:prstGeom>
          <a:solidFill>
            <a:srgbClr val="EAF1EF"/>
          </a:solidFill>
          <a:ln/>
        </p:spPr>
      </p:sp>
      <p:sp>
        <p:nvSpPr>
          <p:cNvPr id="42" name="Text 30"/>
          <p:cNvSpPr/>
          <p:nvPr/>
        </p:nvSpPr>
        <p:spPr>
          <a:xfrm>
            <a:off x="7333361" y="4318000"/>
            <a:ext cx="1805178" cy="252413"/>
          </a:xfrm>
          <a:prstGeom prst="rect">
            <a:avLst/>
          </a:prstGeom>
          <a:noFill/>
          <a:ln/>
        </p:spPr>
        <p:txBody>
          <a:bodyPr wrap="square" lIns="0" tIns="0" rIns="0" bIns="0" rtlCol="0" anchor="t">
            <a:normAutofit/>
          </a:bodyPr>
          <a:lstStyle/>
          <a:p>
            <a:pPr algn="ctr" indent="0" marL="0">
              <a:lnSpc>
                <a:spcPts val="1850"/>
              </a:lnSpc>
              <a:buNone/>
            </a:pPr>
            <a:r>
              <a:rPr lang="en-US" sz="1321" b="1" dirty="0">
                <a:solidFill>
                  <a:srgbClr val="0E2A33"/>
                </a:solidFill>
                <a:latin typeface="IBM Plex Sans" pitchFamily="34" charset="0"/>
                <a:ea typeface="IBM Plex Sans" pitchFamily="34" charset="-122"/>
                <a:cs typeface="IBM Plex Sans" pitchFamily="34" charset="-120"/>
              </a:rPr>
              <a:t>Maps</a:t>
            </a:r>
            <a:endParaRPr lang="en-US" sz="1321" dirty="0"/>
          </a:p>
        </p:txBody>
      </p:sp>
      <p:sp>
        <p:nvSpPr>
          <p:cNvPr id="43" name="Text 31"/>
          <p:cNvSpPr/>
          <p:nvPr/>
        </p:nvSpPr>
        <p:spPr>
          <a:xfrm>
            <a:off x="7333361" y="4570413"/>
            <a:ext cx="1805178" cy="217488"/>
          </a:xfrm>
          <a:prstGeom prst="rect">
            <a:avLst/>
          </a:prstGeom>
          <a:noFill/>
          <a:ln/>
        </p:spPr>
        <p:txBody>
          <a:bodyPr wrap="square" lIns="0" tIns="0" rIns="0" bIns="0" rtlCol="0" anchor="t">
            <a:normAutofit/>
          </a:bodyPr>
          <a:lstStyle/>
          <a:p>
            <a:pPr algn="ctr" indent="0" marL="0">
              <a:lnSpc>
                <a:spcPts val="1549"/>
              </a:lnSpc>
              <a:buNone/>
            </a:pPr>
            <a:r>
              <a:rPr lang="en-US" sz="1106" dirty="0">
                <a:solidFill>
                  <a:srgbClr val="5B6B70"/>
                </a:solidFill>
                <a:latin typeface="IBM Plex Sans" pitchFamily="34" charset="0"/>
                <a:ea typeface="IBM Plex Sans" pitchFamily="34" charset="-122"/>
                <a:cs typeface="IBM Plex Sans" pitchFamily="34" charset="-120"/>
              </a:rPr>
              <a:t>OpenStreetMap</a:t>
            </a:r>
            <a:endParaRPr lang="en-US" sz="1106" dirty="0"/>
          </a:p>
        </p:txBody>
      </p:sp>
      <p:sp>
        <p:nvSpPr>
          <p:cNvPr id="44" name="Shape 32"/>
          <p:cNvSpPr/>
          <p:nvPr/>
        </p:nvSpPr>
        <p:spPr>
          <a:xfrm>
            <a:off x="9372600" y="4191000"/>
            <a:ext cx="2006600" cy="698500"/>
          </a:xfrm>
          <a:prstGeom prst="roundRect">
            <a:avLst>
              <a:gd name="adj" fmla="val 14545"/>
            </a:avLst>
          </a:prstGeom>
          <a:solidFill>
            <a:srgbClr val="EAF1EF"/>
          </a:solidFill>
          <a:ln/>
        </p:spPr>
      </p:sp>
      <p:sp>
        <p:nvSpPr>
          <p:cNvPr id="45" name="Text 33"/>
          <p:cNvSpPr/>
          <p:nvPr/>
        </p:nvSpPr>
        <p:spPr>
          <a:xfrm>
            <a:off x="9473311" y="4318000"/>
            <a:ext cx="1805178" cy="252413"/>
          </a:xfrm>
          <a:prstGeom prst="rect">
            <a:avLst/>
          </a:prstGeom>
          <a:noFill/>
          <a:ln/>
        </p:spPr>
        <p:txBody>
          <a:bodyPr wrap="square" lIns="0" tIns="0" rIns="0" bIns="0" rtlCol="0" anchor="t">
            <a:normAutofit/>
          </a:bodyPr>
          <a:lstStyle/>
          <a:p>
            <a:pPr algn="ctr" indent="0" marL="0">
              <a:lnSpc>
                <a:spcPts val="1850"/>
              </a:lnSpc>
              <a:buNone/>
            </a:pPr>
            <a:r>
              <a:rPr lang="en-US" sz="1321" b="1" dirty="0">
                <a:solidFill>
                  <a:srgbClr val="0E2A33"/>
                </a:solidFill>
                <a:latin typeface="IBM Plex Sans" pitchFamily="34" charset="0"/>
                <a:ea typeface="IBM Plex Sans" pitchFamily="34" charset="-122"/>
                <a:cs typeface="IBM Plex Sans" pitchFamily="34" charset="-120"/>
              </a:rPr>
              <a:t>DHIS2</a:t>
            </a:r>
            <a:endParaRPr lang="en-US" sz="1321" dirty="0"/>
          </a:p>
        </p:txBody>
      </p:sp>
      <p:sp>
        <p:nvSpPr>
          <p:cNvPr id="46" name="Text 34"/>
          <p:cNvSpPr/>
          <p:nvPr/>
        </p:nvSpPr>
        <p:spPr>
          <a:xfrm>
            <a:off x="9473311" y="4570413"/>
            <a:ext cx="1805178" cy="217488"/>
          </a:xfrm>
          <a:prstGeom prst="rect">
            <a:avLst/>
          </a:prstGeom>
          <a:noFill/>
          <a:ln/>
        </p:spPr>
        <p:txBody>
          <a:bodyPr wrap="square" lIns="0" tIns="0" rIns="0" bIns="0" rtlCol="0" anchor="t">
            <a:normAutofit/>
          </a:bodyPr>
          <a:lstStyle/>
          <a:p>
            <a:pPr algn="ctr" indent="0" marL="0">
              <a:lnSpc>
                <a:spcPts val="1549"/>
              </a:lnSpc>
              <a:buNone/>
            </a:pPr>
            <a:r>
              <a:rPr lang="en-US" sz="1106" dirty="0">
                <a:solidFill>
                  <a:srgbClr val="5B6B70"/>
                </a:solidFill>
                <a:latin typeface="IBM Plex Sans" pitchFamily="34" charset="0"/>
                <a:ea typeface="IBM Plex Sans" pitchFamily="34" charset="-122"/>
                <a:cs typeface="IBM Plex Sans" pitchFamily="34" charset="-120"/>
              </a:rPr>
              <a:t>Later release</a:t>
            </a:r>
            <a:endParaRPr lang="en-US" sz="1106" dirty="0"/>
          </a:p>
        </p:txBody>
      </p:sp>
      <p:sp>
        <p:nvSpPr>
          <p:cNvPr id="47" name="Text 35"/>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KEY TERMS · 1 OF 2</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Systems and data terms in plain words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1950"/>
          <a:ext cx="10553700" cy="2993231"/>
        </p:xfrm>
        <a:graphic>
          <a:graphicData uri="http://schemas.openxmlformats.org/drawingml/2006/table">
            <a:tbl>
              <a:tblPr/>
              <a:tblGrid>
                <a:gridCol w="2532888"/>
                <a:gridCol w="5910072"/>
                <a:gridCol w="2110740"/>
              </a:tblGrid>
              <a:tr h="332581">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What it means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Used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The one doorway all portals and apps use for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Core 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Spring Boot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Java framework for the core system, with login and roles built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Core 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PostgreSQL + PostGIS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The database; PostGIS adds maps and distances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Database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DHIS2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Ministry reporting system; added later (no access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FHIR R4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World standard for sharing health records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Data exchange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ICD-10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International disease codes, so cases can be counted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Hospital portals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Access records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Who opened or changed what, and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Packs each part so it runs the same on any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Hosting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bl>
          </a:graphicData>
        </a:graphic>
      </p:graphicFrame>
      <p:sp>
        <p:nvSpPr>
          <p:cNvPr id="5" name="Text 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KEY TERMS · 2 OF 2</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Field and connection terms in plain words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1950"/>
          <a:ext cx="10553700" cy="2660650"/>
        </p:xfrm>
        <a:graphic>
          <a:graphicData uri="http://schemas.openxmlformats.org/drawingml/2006/table">
            <a:tbl>
              <a:tblPr/>
              <a:tblGrid>
                <a:gridCol w="2532888"/>
                <a:gridCol w="5910072"/>
                <a:gridCol w="2110740"/>
              </a:tblGrid>
              <a:tr h="332581">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What it means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Used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Offline-first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Save on the phone first, send when the signal returns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Field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Send-later queue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Saved items waiting to be sent, kept in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Field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SMS gateway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Link to Zain for sending login codes by SMS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Login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OpenStreetMap + OSRM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Free map, plus routes and travel times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Maps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CI/CD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Automatic build, test and release of each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Operations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P1 to P4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Urgency: P1 life in danger, P4 not urgent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All parts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32581">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WP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0E2A33"/>
                          </a:solidFill>
                          <a:latin typeface="IBM Plex Sans" pitchFamily="34" charset="0"/>
                          <a:ea typeface="IBM Plex Sans" pitchFamily="34" charset="-122"/>
                          <a:cs typeface="IBM Plex Sans" pitchFamily="34" charset="-120"/>
                        </a:rPr>
                        <a:t>Work package: one block of the build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Build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bl>
          </a:graphicData>
        </a:graphic>
      </p:graphicFrame>
      <p:sp>
        <p:nvSpPr>
          <p:cNvPr id="5" name="Text 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CASE JOURNEY</a:t>
            </a:r>
            <a:endParaRPr lang="en-US" sz="1200" dirty="0"/>
          </a:p>
        </p:txBody>
      </p:sp>
      <p:sp>
        <p:nvSpPr>
          <p:cNvPr id="3" name="Text 1"/>
          <p:cNvSpPr/>
          <p:nvPr>
            <p:ph type="title"/>
          </p:nvPr>
        </p:nvSpPr>
        <p:spPr>
          <a:xfrm>
            <a:off x="812800" y="1098550"/>
            <a:ext cx="10883392" cy="9144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From the Health Authority call to the hospital and its ambulance</a:t>
            </a:r>
            <a:endParaRPr lang="en-US" sz="3200" dirty="0"/>
          </a:p>
        </p:txBody>
      </p:sp>
      <p:sp>
        <p:nvSpPr>
          <p:cNvPr id="4" name="Shape 2"/>
          <p:cNvSpPr/>
          <p:nvPr/>
        </p:nvSpPr>
        <p:spPr>
          <a:xfrm>
            <a:off x="812800" y="2349500"/>
            <a:ext cx="3822700" cy="361950"/>
          </a:xfrm>
          <a:prstGeom prst="roundRect">
            <a:avLst>
              <a:gd name="adj" fmla="val 21053"/>
            </a:avLst>
          </a:prstGeom>
          <a:solidFill>
            <a:srgbClr val="0E2A33"/>
          </a:solidFill>
          <a:ln/>
        </p:spPr>
      </p:sp>
      <p:sp>
        <p:nvSpPr>
          <p:cNvPr id="5" name="Text 3"/>
          <p:cNvSpPr/>
          <p:nvPr/>
        </p:nvSpPr>
        <p:spPr>
          <a:xfrm>
            <a:off x="939800" y="2425700"/>
            <a:ext cx="367576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Health Authority call centre</a:t>
            </a:r>
            <a:endParaRPr lang="en-US" sz="1200" dirty="0"/>
          </a:p>
        </p:txBody>
      </p:sp>
      <p:sp>
        <p:nvSpPr>
          <p:cNvPr id="6" name="Shape 4"/>
          <p:cNvSpPr/>
          <p:nvPr/>
        </p:nvSpPr>
        <p:spPr>
          <a:xfrm>
            <a:off x="4737100" y="2349500"/>
            <a:ext cx="1206500" cy="361950"/>
          </a:xfrm>
          <a:prstGeom prst="roundRect">
            <a:avLst>
              <a:gd name="adj" fmla="val 21053"/>
            </a:avLst>
          </a:prstGeom>
          <a:solidFill>
            <a:srgbClr val="2F7F77"/>
          </a:solidFill>
          <a:ln/>
        </p:spPr>
      </p:sp>
      <p:sp>
        <p:nvSpPr>
          <p:cNvPr id="7" name="Text 5"/>
          <p:cNvSpPr/>
          <p:nvPr/>
        </p:nvSpPr>
        <p:spPr>
          <a:xfrm>
            <a:off x="4864100" y="2425700"/>
            <a:ext cx="1003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Hospital ER</a:t>
            </a:r>
            <a:endParaRPr lang="en-US" sz="1200" dirty="0"/>
          </a:p>
        </p:txBody>
      </p:sp>
      <p:sp>
        <p:nvSpPr>
          <p:cNvPr id="8" name="Shape 6"/>
          <p:cNvSpPr/>
          <p:nvPr/>
        </p:nvSpPr>
        <p:spPr>
          <a:xfrm>
            <a:off x="6045200" y="2349500"/>
            <a:ext cx="2514600" cy="361950"/>
          </a:xfrm>
          <a:prstGeom prst="roundRect">
            <a:avLst>
              <a:gd name="adj" fmla="val 21053"/>
            </a:avLst>
          </a:prstGeom>
          <a:solidFill>
            <a:srgbClr val="0B6E64"/>
          </a:solidFill>
          <a:ln/>
        </p:spPr>
      </p:sp>
      <p:sp>
        <p:nvSpPr>
          <p:cNvPr id="9" name="Text 7"/>
          <p:cNvSpPr/>
          <p:nvPr/>
        </p:nvSpPr>
        <p:spPr>
          <a:xfrm>
            <a:off x="6172200" y="2425700"/>
            <a:ext cx="232841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Field app</a:t>
            </a:r>
            <a:endParaRPr lang="en-US" sz="1200" dirty="0"/>
          </a:p>
        </p:txBody>
      </p:sp>
      <p:sp>
        <p:nvSpPr>
          <p:cNvPr id="10" name="Shape 8"/>
          <p:cNvSpPr/>
          <p:nvPr/>
        </p:nvSpPr>
        <p:spPr>
          <a:xfrm>
            <a:off x="8661400" y="2349500"/>
            <a:ext cx="1206500" cy="361950"/>
          </a:xfrm>
          <a:prstGeom prst="roundRect">
            <a:avLst>
              <a:gd name="adj" fmla="val 21053"/>
            </a:avLst>
          </a:prstGeom>
          <a:solidFill>
            <a:srgbClr val="2F7F77"/>
          </a:solidFill>
          <a:ln/>
        </p:spPr>
      </p:sp>
      <p:sp>
        <p:nvSpPr>
          <p:cNvPr id="11" name="Text 9"/>
          <p:cNvSpPr/>
          <p:nvPr/>
        </p:nvSpPr>
        <p:spPr>
          <a:xfrm>
            <a:off x="8788400" y="2425700"/>
            <a:ext cx="1003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Hospital ER</a:t>
            </a:r>
            <a:endParaRPr lang="en-US" sz="1200" dirty="0"/>
          </a:p>
        </p:txBody>
      </p:sp>
      <p:sp>
        <p:nvSpPr>
          <p:cNvPr id="12" name="Shape 10"/>
          <p:cNvSpPr/>
          <p:nvPr/>
        </p:nvSpPr>
        <p:spPr>
          <a:xfrm>
            <a:off x="9969500" y="2349500"/>
            <a:ext cx="1206500" cy="361950"/>
          </a:xfrm>
          <a:prstGeom prst="roundRect">
            <a:avLst>
              <a:gd name="adj" fmla="val 21053"/>
            </a:avLst>
          </a:prstGeom>
          <a:solidFill>
            <a:srgbClr val="BFDCD7"/>
          </a:solidFill>
          <a:ln/>
        </p:spPr>
      </p:sp>
      <p:sp>
        <p:nvSpPr>
          <p:cNvPr id="13" name="Text 11"/>
          <p:cNvSpPr/>
          <p:nvPr/>
        </p:nvSpPr>
        <p:spPr>
          <a:xfrm>
            <a:off x="10096500" y="2425700"/>
            <a:ext cx="1003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Ward staff</a:t>
            </a:r>
            <a:endParaRPr lang="en-US" sz="1200" dirty="0"/>
          </a:p>
        </p:txBody>
      </p:sp>
      <p:sp>
        <p:nvSpPr>
          <p:cNvPr id="14" name="Shape 12"/>
          <p:cNvSpPr/>
          <p:nvPr/>
        </p:nvSpPr>
        <p:spPr>
          <a:xfrm>
            <a:off x="815975" y="2860675"/>
            <a:ext cx="1200150" cy="1454150"/>
          </a:xfrm>
          <a:prstGeom prst="roundRect">
            <a:avLst>
              <a:gd name="adj" fmla="val 8201"/>
            </a:avLst>
          </a:prstGeom>
          <a:solidFill>
            <a:srgbClr val="FCFDFC"/>
          </a:solidFill>
          <a:ln w="6350">
            <a:solidFill>
              <a:srgbClr val="DCE5E2"/>
            </a:solidFill>
            <a:prstDash val="solid"/>
          </a:ln>
        </p:spPr>
      </p:sp>
      <p:sp>
        <p:nvSpPr>
          <p:cNvPr id="15" name="Text 13"/>
          <p:cNvSpPr/>
          <p:nvPr/>
        </p:nvSpPr>
        <p:spPr>
          <a:xfrm>
            <a:off x="9588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01</a:t>
            </a:r>
            <a:endParaRPr lang="en-US" sz="1800" dirty="0"/>
          </a:p>
        </p:txBody>
      </p:sp>
      <p:sp>
        <p:nvSpPr>
          <p:cNvPr id="16" name="Text 14"/>
          <p:cNvSpPr/>
          <p:nvPr/>
        </p:nvSpPr>
        <p:spPr>
          <a:xfrm>
            <a:off x="958850" y="3397250"/>
            <a:ext cx="965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Answer call</a:t>
            </a:r>
            <a:endParaRPr lang="en-US" sz="1400" dirty="0"/>
          </a:p>
        </p:txBody>
      </p:sp>
      <p:sp>
        <p:nvSpPr>
          <p:cNvPr id="17" name="Shape 15"/>
          <p:cNvSpPr/>
          <p:nvPr/>
        </p:nvSpPr>
        <p:spPr>
          <a:xfrm>
            <a:off x="2124075" y="2860675"/>
            <a:ext cx="1200150" cy="1454150"/>
          </a:xfrm>
          <a:prstGeom prst="roundRect">
            <a:avLst>
              <a:gd name="adj" fmla="val 8201"/>
            </a:avLst>
          </a:prstGeom>
          <a:solidFill>
            <a:srgbClr val="FCFDFC"/>
          </a:solidFill>
          <a:ln w="6350">
            <a:solidFill>
              <a:srgbClr val="DCE5E2"/>
            </a:solidFill>
            <a:prstDash val="solid"/>
          </a:ln>
        </p:spPr>
      </p:sp>
      <p:sp>
        <p:nvSpPr>
          <p:cNvPr id="18" name="Text 16"/>
          <p:cNvSpPr/>
          <p:nvPr/>
        </p:nvSpPr>
        <p:spPr>
          <a:xfrm>
            <a:off x="22669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02</a:t>
            </a:r>
            <a:endParaRPr lang="en-US" sz="1800" dirty="0"/>
          </a:p>
        </p:txBody>
      </p:sp>
      <p:sp>
        <p:nvSpPr>
          <p:cNvPr id="19" name="Text 17"/>
          <p:cNvSpPr/>
          <p:nvPr/>
        </p:nvSpPr>
        <p:spPr>
          <a:xfrm>
            <a:off x="2266950" y="3397250"/>
            <a:ext cx="9652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Set urgency and place</a:t>
            </a:r>
            <a:endParaRPr lang="en-US" sz="1400" dirty="0"/>
          </a:p>
        </p:txBody>
      </p:sp>
      <p:sp>
        <p:nvSpPr>
          <p:cNvPr id="20" name="Shape 18"/>
          <p:cNvSpPr/>
          <p:nvPr/>
        </p:nvSpPr>
        <p:spPr>
          <a:xfrm>
            <a:off x="3435350" y="2863850"/>
            <a:ext cx="1193800" cy="1447800"/>
          </a:xfrm>
          <a:prstGeom prst="roundRect">
            <a:avLst>
              <a:gd name="adj" fmla="val 7979"/>
            </a:avLst>
          </a:prstGeom>
          <a:solidFill>
            <a:srgbClr val="FCFDFC"/>
          </a:solidFill>
          <a:ln w="12700">
            <a:solidFill>
              <a:srgbClr val="0B6E64"/>
            </a:solidFill>
            <a:prstDash val="solid"/>
          </a:ln>
        </p:spPr>
      </p:sp>
      <p:sp>
        <p:nvSpPr>
          <p:cNvPr id="21" name="Text 19"/>
          <p:cNvSpPr/>
          <p:nvPr/>
        </p:nvSpPr>
        <p:spPr>
          <a:xfrm>
            <a:off x="3581400" y="3009900"/>
            <a:ext cx="9525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03</a:t>
            </a:r>
            <a:endParaRPr lang="en-US" sz="1800" dirty="0"/>
          </a:p>
        </p:txBody>
      </p:sp>
      <p:sp>
        <p:nvSpPr>
          <p:cNvPr id="22" name="Text 20"/>
          <p:cNvSpPr/>
          <p:nvPr/>
        </p:nvSpPr>
        <p:spPr>
          <a:xfrm>
            <a:off x="3581400" y="3403600"/>
            <a:ext cx="9525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Request to nearest hospital</a:t>
            </a:r>
            <a:endParaRPr lang="en-US" sz="1400" dirty="0"/>
          </a:p>
        </p:txBody>
      </p:sp>
      <p:sp>
        <p:nvSpPr>
          <p:cNvPr id="23" name="Shape 21"/>
          <p:cNvSpPr/>
          <p:nvPr/>
        </p:nvSpPr>
        <p:spPr>
          <a:xfrm>
            <a:off x="4740275" y="2860675"/>
            <a:ext cx="1200150" cy="1454150"/>
          </a:xfrm>
          <a:prstGeom prst="roundRect">
            <a:avLst>
              <a:gd name="adj" fmla="val 8201"/>
            </a:avLst>
          </a:prstGeom>
          <a:solidFill>
            <a:srgbClr val="FCFDFC"/>
          </a:solidFill>
          <a:ln w="6350">
            <a:solidFill>
              <a:srgbClr val="DCE5E2"/>
            </a:solidFill>
            <a:prstDash val="solid"/>
          </a:ln>
        </p:spPr>
      </p:sp>
      <p:sp>
        <p:nvSpPr>
          <p:cNvPr id="24" name="Text 22"/>
          <p:cNvSpPr/>
          <p:nvPr/>
        </p:nvSpPr>
        <p:spPr>
          <a:xfrm>
            <a:off x="48831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04</a:t>
            </a:r>
            <a:endParaRPr lang="en-US" sz="1800" dirty="0"/>
          </a:p>
        </p:txBody>
      </p:sp>
      <p:sp>
        <p:nvSpPr>
          <p:cNvPr id="25" name="Text 23"/>
          <p:cNvSpPr/>
          <p:nvPr/>
        </p:nvSpPr>
        <p:spPr>
          <a:xfrm>
            <a:off x="4883150" y="3397250"/>
            <a:ext cx="9652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Hospital sends own ambulance</a:t>
            </a:r>
            <a:endParaRPr lang="en-US" sz="1400" dirty="0"/>
          </a:p>
        </p:txBody>
      </p:sp>
      <p:sp>
        <p:nvSpPr>
          <p:cNvPr id="26" name="Shape 24"/>
          <p:cNvSpPr/>
          <p:nvPr/>
        </p:nvSpPr>
        <p:spPr>
          <a:xfrm>
            <a:off x="6048375" y="2860675"/>
            <a:ext cx="1200150" cy="1454150"/>
          </a:xfrm>
          <a:prstGeom prst="roundRect">
            <a:avLst>
              <a:gd name="adj" fmla="val 8201"/>
            </a:avLst>
          </a:prstGeom>
          <a:solidFill>
            <a:srgbClr val="FCFDFC"/>
          </a:solidFill>
          <a:ln w="6350">
            <a:solidFill>
              <a:srgbClr val="DCE5E2"/>
            </a:solidFill>
            <a:prstDash val="solid"/>
          </a:ln>
        </p:spPr>
      </p:sp>
      <p:sp>
        <p:nvSpPr>
          <p:cNvPr id="27" name="Text 25"/>
          <p:cNvSpPr/>
          <p:nvPr/>
        </p:nvSpPr>
        <p:spPr>
          <a:xfrm>
            <a:off x="61912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05</a:t>
            </a:r>
            <a:endParaRPr lang="en-US" sz="1800" dirty="0"/>
          </a:p>
        </p:txBody>
      </p:sp>
      <p:sp>
        <p:nvSpPr>
          <p:cNvPr id="28" name="Text 26"/>
          <p:cNvSpPr/>
          <p:nvPr/>
        </p:nvSpPr>
        <p:spPr>
          <a:xfrm>
            <a:off x="6191250" y="3397250"/>
            <a:ext cx="9652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Drive and care at scene</a:t>
            </a:r>
            <a:endParaRPr lang="en-US" sz="1400" dirty="0"/>
          </a:p>
        </p:txBody>
      </p:sp>
      <p:sp>
        <p:nvSpPr>
          <p:cNvPr id="29" name="Shape 27"/>
          <p:cNvSpPr/>
          <p:nvPr/>
        </p:nvSpPr>
        <p:spPr>
          <a:xfrm>
            <a:off x="7356475" y="2860675"/>
            <a:ext cx="1200150" cy="1454150"/>
          </a:xfrm>
          <a:prstGeom prst="roundRect">
            <a:avLst>
              <a:gd name="adj" fmla="val 8201"/>
            </a:avLst>
          </a:prstGeom>
          <a:solidFill>
            <a:srgbClr val="FCFDFC"/>
          </a:solidFill>
          <a:ln w="6350">
            <a:solidFill>
              <a:srgbClr val="DCE5E2"/>
            </a:solidFill>
            <a:prstDash val="solid"/>
          </a:ln>
        </p:spPr>
      </p:sp>
      <p:sp>
        <p:nvSpPr>
          <p:cNvPr id="30" name="Text 28"/>
          <p:cNvSpPr/>
          <p:nvPr/>
        </p:nvSpPr>
        <p:spPr>
          <a:xfrm>
            <a:off x="74993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06</a:t>
            </a:r>
            <a:endParaRPr lang="en-US" sz="1800" dirty="0"/>
          </a:p>
        </p:txBody>
      </p:sp>
      <p:sp>
        <p:nvSpPr>
          <p:cNvPr id="31" name="Text 29"/>
          <p:cNvSpPr/>
          <p:nvPr/>
        </p:nvSpPr>
        <p:spPr>
          <a:xfrm>
            <a:off x="7499350" y="3397250"/>
            <a:ext cx="965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Send summary</a:t>
            </a:r>
            <a:endParaRPr lang="en-US" sz="1400" dirty="0"/>
          </a:p>
        </p:txBody>
      </p:sp>
      <p:sp>
        <p:nvSpPr>
          <p:cNvPr id="32" name="Shape 30"/>
          <p:cNvSpPr/>
          <p:nvPr/>
        </p:nvSpPr>
        <p:spPr>
          <a:xfrm>
            <a:off x="8664575" y="2860675"/>
            <a:ext cx="1200150" cy="1454150"/>
          </a:xfrm>
          <a:prstGeom prst="roundRect">
            <a:avLst>
              <a:gd name="adj" fmla="val 8201"/>
            </a:avLst>
          </a:prstGeom>
          <a:solidFill>
            <a:srgbClr val="FCFDFC"/>
          </a:solidFill>
          <a:ln w="6350">
            <a:solidFill>
              <a:srgbClr val="DCE5E2"/>
            </a:solidFill>
            <a:prstDash val="solid"/>
          </a:ln>
        </p:spPr>
      </p:sp>
      <p:sp>
        <p:nvSpPr>
          <p:cNvPr id="33" name="Text 31"/>
          <p:cNvSpPr/>
          <p:nvPr/>
        </p:nvSpPr>
        <p:spPr>
          <a:xfrm>
            <a:off x="88074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07</a:t>
            </a:r>
            <a:endParaRPr lang="en-US" sz="1800" dirty="0"/>
          </a:p>
        </p:txBody>
      </p:sp>
      <p:sp>
        <p:nvSpPr>
          <p:cNvPr id="34" name="Text 32"/>
          <p:cNvSpPr/>
          <p:nvPr/>
        </p:nvSpPr>
        <p:spPr>
          <a:xfrm>
            <a:off x="8807450" y="3397250"/>
            <a:ext cx="965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Hand over</a:t>
            </a:r>
            <a:endParaRPr lang="en-US" sz="1400" dirty="0"/>
          </a:p>
        </p:txBody>
      </p:sp>
      <p:sp>
        <p:nvSpPr>
          <p:cNvPr id="35" name="Shape 33"/>
          <p:cNvSpPr/>
          <p:nvPr/>
        </p:nvSpPr>
        <p:spPr>
          <a:xfrm>
            <a:off x="9972675" y="2860675"/>
            <a:ext cx="1200150" cy="1454150"/>
          </a:xfrm>
          <a:prstGeom prst="roundRect">
            <a:avLst>
              <a:gd name="adj" fmla="val 8201"/>
            </a:avLst>
          </a:prstGeom>
          <a:solidFill>
            <a:srgbClr val="FCFDFC"/>
          </a:solidFill>
          <a:ln w="6350">
            <a:solidFill>
              <a:srgbClr val="DCE5E2"/>
            </a:solidFill>
            <a:prstDash val="solid"/>
          </a:ln>
        </p:spPr>
      </p:sp>
      <p:sp>
        <p:nvSpPr>
          <p:cNvPr id="36" name="Text 34"/>
          <p:cNvSpPr/>
          <p:nvPr/>
        </p:nvSpPr>
        <p:spPr>
          <a:xfrm>
            <a:off x="10115550" y="3003550"/>
            <a:ext cx="9652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08</a:t>
            </a:r>
            <a:endParaRPr lang="en-US" sz="1800" dirty="0"/>
          </a:p>
        </p:txBody>
      </p:sp>
      <p:sp>
        <p:nvSpPr>
          <p:cNvPr id="37" name="Text 35"/>
          <p:cNvSpPr/>
          <p:nvPr/>
        </p:nvSpPr>
        <p:spPr>
          <a:xfrm>
            <a:off x="10115550" y="3397250"/>
            <a:ext cx="96520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0E2A33"/>
                </a:solidFill>
                <a:latin typeface="IBM Plex Sans" pitchFamily="34" charset="0"/>
                <a:ea typeface="IBM Plex Sans" pitchFamily="34" charset="-122"/>
                <a:cs typeface="IBM Plex Sans" pitchFamily="34" charset="-120"/>
              </a:rPr>
              <a:t>Open or create record</a:t>
            </a:r>
            <a:endParaRPr lang="en-US" sz="1400" dirty="0"/>
          </a:p>
        </p:txBody>
      </p:sp>
      <p:sp>
        <p:nvSpPr>
          <p:cNvPr id="38" name="Text 36"/>
          <p:cNvSpPr/>
          <p:nvPr/>
        </p:nvSpPr>
        <p:spPr>
          <a:xfrm>
            <a:off x="812800" y="4635500"/>
            <a:ext cx="9810750" cy="53340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6167"/>
                </a:solidFill>
                <a:latin typeface="IBM Plex Sans" pitchFamily="34" charset="0"/>
                <a:ea typeface="IBM Plex Sans" pitchFamily="34" charset="-122"/>
                <a:cs typeface="IBM Plex Sans" pitchFamily="34" charset="-120"/>
              </a:rPr>
              <a:t>If a hospital does not answer in 5 minutes, the request goes to the next hospital. First-time patients get a full new record: height, weight, blood type and health checks.</a:t>
            </a:r>
            <a:endParaRPr lang="en-US" sz="1400" dirty="0"/>
          </a:p>
        </p:txBody>
      </p:sp>
      <p:sp>
        <p:nvSpPr>
          <p:cNvPr id="39" name="Text 3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TECHNICAL BLOCKERS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Five gaps must be closed before go-live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1950"/>
          <a:ext cx="10553700" cy="2315766"/>
        </p:xfrm>
        <a:graphic>
          <a:graphicData uri="http://schemas.openxmlformats.org/drawingml/2006/table">
            <a:tbl>
              <a:tblPr/>
              <a:tblGrid>
                <a:gridCol w="633222"/>
                <a:gridCol w="3588258"/>
                <a:gridCol w="6332220"/>
              </a:tblGrid>
              <a:tr h="385961">
                <a:tc>
                  <a:txBody>
                    <a:bodyPr/>
                    <a:lstStyle/>
                    <a:p>
                      <a:pPr indent="0" marL="0">
                        <a:lnSpc>
                          <a:spcPts val="1960"/>
                        </a:lnSpc>
                        <a:buNone/>
                      </a:pPr>
                      <a:r>
                        <a:rPr lang="en-US" sz="1400" b="1" dirty="0">
                          <a:solidFill>
                            <a:srgbClr val="F2F5F4"/>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960"/>
                        </a:lnSpc>
                        <a:buNone/>
                      </a:pPr>
                      <a:r>
                        <a:rPr lang="en-US" sz="1400" b="1" dirty="0">
                          <a:solidFill>
                            <a:srgbClr val="F2F5F4"/>
                          </a:solidFill>
                          <a:latin typeface="IBM Plex Sans" pitchFamily="34" charset="0"/>
                          <a:ea typeface="IBM Plex Sans" pitchFamily="34" charset="-122"/>
                          <a:cs typeface="IBM Plex Sans" pitchFamily="34" charset="-120"/>
                        </a:rPr>
                        <a:t>Gap 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960"/>
                        </a:lnSpc>
                        <a:buNone/>
                      </a:pPr>
                      <a:r>
                        <a:rPr lang="en-US" sz="1400" b="1" dirty="0">
                          <a:solidFill>
                            <a:srgbClr val="F2F5F4"/>
                          </a:solidFill>
                          <a:latin typeface="IBM Plex Sans" pitchFamily="34" charset="0"/>
                          <a:ea typeface="IBM Plex Sans" pitchFamily="34" charset="-122"/>
                          <a:cs typeface="IBM Plex Sans" pitchFamily="34" charset="-120"/>
                        </a:rPr>
                        <a:t>What we build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r>
              <a:tr h="385961">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No call-taking or phone link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Call screen linked to the phone system; number auto-filled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85961">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Stops when the internet drops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Save first, send later; hospital phones the crew if needed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85961">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English only, left-to-right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Full Arabic and English screens; Arabic right-to-left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85961">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No login, roles or access log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Login with a second code; every access recorded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85961">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No live dispatch screen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Live queue and map; nearest ambulance suggested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bl>
          </a:graphicData>
        </a:graphic>
      </p:graphicFrame>
      <p:sp>
        <p:nvSpPr>
          <p:cNvPr id="5" name="Text 2"/>
          <p:cNvSpPr/>
          <p:nvPr/>
        </p:nvSpPr>
        <p:spPr>
          <a:xfrm>
            <a:off x="812800" y="4023916"/>
            <a:ext cx="10883392" cy="27940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6167"/>
                </a:solidFill>
                <a:latin typeface="IBM Plex Sans" pitchFamily="34" charset="0"/>
                <a:ea typeface="IBM Plex Sans" pitchFamily="34" charset="-122"/>
                <a:cs typeface="IBM Plex Sans" pitchFamily="34" charset="-120"/>
              </a:rPr>
              <a:t>Fifteen technical gaps in total; these five are Blockers. The full list is in the Technical Gaps document.</a:t>
            </a:r>
            <a:endParaRPr lang="en-US" sz="1400" dirty="0"/>
          </a:p>
        </p:txBody>
      </p:sp>
      <p:sp>
        <p:nvSpPr>
          <p:cNvPr id="6" name="Text 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6E64"/>
        </a:solidFill>
      </p:bgPr>
    </p:bg>
    <p:spTree>
      <p:nvGrpSpPr>
        <p:cNvPr id="1" name=""/>
        <p:cNvGrpSpPr/>
        <p:nvPr/>
      </p:nvGrpSpPr>
      <p:grpSpPr>
        <a:xfrm>
          <a:off x="0" y="0"/>
          <a:ext cx="0" cy="0"/>
          <a:chOff x="0" y="0"/>
          <a:chExt cx="0" cy="0"/>
        </a:xfrm>
      </p:grpSpPr>
      <p:pic>
        <p:nvPicPr>
          <p:cNvPr id="2" name="Image 0" descr="Heartbeat line">    </p:cNvPr>
          <p:cNvPicPr>
            <a:picLocks noChangeAspect="1"/>
          </p:cNvPicPr>
          <p:nvPr/>
        </p:nvPicPr>
        <p:blipFill>
          <a:blip r:embed="rId1"/>
          <a:srcRect l="0" r="0" t="-31" b="-31"/>
          <a:stretch/>
        </p:blipFill>
        <p:spPr>
          <a:xfrm>
            <a:off x="812800" y="5207000"/>
            <a:ext cx="10566400" cy="635000"/>
          </a:xfrm>
          <a:prstGeom prst="rect">
            <a:avLst/>
          </a:prstGeom>
        </p:spPr>
      </p:pic>
      <p:sp>
        <p:nvSpPr>
          <p:cNvPr id="3" name="Text 0"/>
          <p:cNvSpPr/>
          <p:nvPr/>
        </p:nvSpPr>
        <p:spPr>
          <a:xfrm>
            <a:off x="812800" y="2193925"/>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FE6DF"/>
                </a:solidFill>
                <a:latin typeface="IBM Plex Sans" pitchFamily="34" charset="0"/>
                <a:ea typeface="IBM Plex Sans" pitchFamily="34" charset="-122"/>
                <a:cs typeface="IBM Plex Sans" pitchFamily="34" charset="-120"/>
              </a:rPr>
              <a:t>PART 2 · UI/UX DIRECTION</a:t>
            </a:r>
            <a:endParaRPr lang="en-US" sz="1200" dirty="0"/>
          </a:p>
        </p:txBody>
      </p:sp>
      <p:sp>
        <p:nvSpPr>
          <p:cNvPr id="4" name="Text 1"/>
          <p:cNvSpPr/>
          <p:nvPr>
            <p:ph type="title"/>
          </p:nvPr>
        </p:nvSpPr>
        <p:spPr>
          <a:xfrm>
            <a:off x="812800" y="2581275"/>
            <a:ext cx="8502650" cy="129540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F2F5F4"/>
                </a:solidFill>
                <a:latin typeface="IBM Plex Sans" pitchFamily="34" charset="0"/>
                <a:ea typeface="IBM Plex Sans" pitchFamily="34" charset="-122"/>
                <a:cs typeface="IBM Plex Sans" pitchFamily="34" charset="-120"/>
              </a:rPr>
              <a:t>Designed for a call that cannot wait</a:t>
            </a:r>
            <a:endParaRPr lang="en-US" sz="4800" dirty="0"/>
          </a:p>
        </p:txBody>
      </p:sp>
      <p:sp>
        <p:nvSpPr>
          <p:cNvPr id="5" name="Text 2"/>
          <p:cNvSpPr/>
          <p:nvPr/>
        </p:nvSpPr>
        <p:spPr>
          <a:xfrm>
            <a:off x="812800" y="4029075"/>
            <a:ext cx="7521575" cy="6604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7EEEA"/>
                </a:solidFill>
                <a:latin typeface="IBM Plex Sans" pitchFamily="34" charset="0"/>
                <a:ea typeface="IBM Plex Sans" pitchFamily="34" charset="-122"/>
                <a:cs typeface="IBM Plex Sans" pitchFamily="34" charset="-120"/>
              </a:rPr>
              <a:t>Arabic and English, calm by default, loud only when it matters, and still working when the network is not.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DESIGN PRINCIPLES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Six principles guide every screen</a:t>
            </a:r>
            <a:endParaRPr lang="en-US" sz="3200" dirty="0"/>
          </a:p>
        </p:txBody>
      </p:sp>
      <p:sp>
        <p:nvSpPr>
          <p:cNvPr id="4" name="Shape 2"/>
          <p:cNvSpPr/>
          <p:nvPr/>
        </p:nvSpPr>
        <p:spPr>
          <a:xfrm>
            <a:off x="815975" y="1622425"/>
            <a:ext cx="3414117" cy="1638300"/>
          </a:xfrm>
          <a:prstGeom prst="roundRect">
            <a:avLst>
              <a:gd name="adj" fmla="val 7558"/>
            </a:avLst>
          </a:prstGeom>
          <a:solidFill>
            <a:srgbClr val="FCFDFC"/>
          </a:solidFill>
          <a:ln w="6350">
            <a:solidFill>
              <a:srgbClr val="DCE5E2"/>
            </a:solidFill>
            <a:prstDash val="solid"/>
          </a:ln>
        </p:spPr>
      </p:sp>
      <p:pic>
        <p:nvPicPr>
          <p:cNvPr id="5" name="Image 0" descr="Globe">    </p:cNvPr>
          <p:cNvPicPr>
            <a:picLocks noChangeAspect="1"/>
          </p:cNvPicPr>
          <p:nvPr/>
        </p:nvPicPr>
        <p:blipFill>
          <a:blip r:embed="rId1"/>
          <a:srcRect l="0" r="0" t="0" b="0"/>
          <a:stretch/>
        </p:blipFill>
        <p:spPr>
          <a:xfrm>
            <a:off x="1047750" y="1854200"/>
            <a:ext cx="304800" cy="304800"/>
          </a:xfrm>
          <a:prstGeom prst="rect">
            <a:avLst/>
          </a:prstGeom>
        </p:spPr>
      </p:pic>
      <p:sp>
        <p:nvSpPr>
          <p:cNvPr id="6" name="Text 3"/>
          <p:cNvSpPr/>
          <p:nvPr/>
        </p:nvSpPr>
        <p:spPr>
          <a:xfrm>
            <a:off x="1047750" y="2247900"/>
            <a:ext cx="30390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Arabic and English</a:t>
            </a:r>
            <a:endParaRPr lang="en-US" sz="1800" dirty="0"/>
          </a:p>
        </p:txBody>
      </p:sp>
      <p:sp>
        <p:nvSpPr>
          <p:cNvPr id="7" name="Text 4"/>
          <p:cNvSpPr/>
          <p:nvPr/>
        </p:nvSpPr>
        <p:spPr>
          <a:xfrm>
            <a:off x="1047750" y="2609850"/>
            <a:ext cx="303908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Both languages equal; each user chooses. Arabic is right-to-left.</a:t>
            </a:r>
            <a:endParaRPr lang="en-US" sz="1200" dirty="0"/>
          </a:p>
        </p:txBody>
      </p:sp>
      <p:sp>
        <p:nvSpPr>
          <p:cNvPr id="8" name="Shape 5"/>
          <p:cNvSpPr/>
          <p:nvPr/>
        </p:nvSpPr>
        <p:spPr>
          <a:xfrm>
            <a:off x="4388842" y="1622425"/>
            <a:ext cx="3414216" cy="1638300"/>
          </a:xfrm>
          <a:prstGeom prst="roundRect">
            <a:avLst>
              <a:gd name="adj" fmla="val 7558"/>
            </a:avLst>
          </a:prstGeom>
          <a:solidFill>
            <a:srgbClr val="FCFDFC"/>
          </a:solidFill>
          <a:ln w="6350">
            <a:solidFill>
              <a:srgbClr val="DCE5E2"/>
            </a:solidFill>
            <a:prstDash val="solid"/>
          </a:ln>
        </p:spPr>
      </p:sp>
      <p:pic>
        <p:nvPicPr>
          <p:cNvPr id="9" name="Image 1" descr="Lightning">    </p:cNvPr>
          <p:cNvPicPr>
            <a:picLocks noChangeAspect="1"/>
          </p:cNvPicPr>
          <p:nvPr/>
        </p:nvPicPr>
        <p:blipFill>
          <a:blip r:embed="rId2"/>
          <a:srcRect l="0" r="0" t="0" b="0"/>
          <a:stretch/>
        </p:blipFill>
        <p:spPr>
          <a:xfrm>
            <a:off x="4620617" y="1854200"/>
            <a:ext cx="304800" cy="304800"/>
          </a:xfrm>
          <a:prstGeom prst="rect">
            <a:avLst/>
          </a:prstGeom>
        </p:spPr>
      </p:pic>
      <p:sp>
        <p:nvSpPr>
          <p:cNvPr id="10" name="Text 6"/>
          <p:cNvSpPr/>
          <p:nvPr/>
        </p:nvSpPr>
        <p:spPr>
          <a:xfrm>
            <a:off x="4620617" y="2247900"/>
            <a:ext cx="303918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One glance, one action</a:t>
            </a:r>
            <a:endParaRPr lang="en-US" sz="1800" dirty="0"/>
          </a:p>
        </p:txBody>
      </p:sp>
      <p:sp>
        <p:nvSpPr>
          <p:cNvPr id="11" name="Text 7"/>
          <p:cNvSpPr/>
          <p:nvPr/>
        </p:nvSpPr>
        <p:spPr>
          <a:xfrm>
            <a:off x="4620617" y="2609850"/>
            <a:ext cx="303918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Most urgent case on top; the next step is the biggest button.</a:t>
            </a:r>
            <a:endParaRPr lang="en-US" sz="1200" dirty="0"/>
          </a:p>
        </p:txBody>
      </p:sp>
      <p:sp>
        <p:nvSpPr>
          <p:cNvPr id="12" name="Shape 8"/>
          <p:cNvSpPr/>
          <p:nvPr/>
        </p:nvSpPr>
        <p:spPr>
          <a:xfrm>
            <a:off x="7961809" y="1622425"/>
            <a:ext cx="3414117" cy="1638300"/>
          </a:xfrm>
          <a:prstGeom prst="roundRect">
            <a:avLst>
              <a:gd name="adj" fmla="val 7558"/>
            </a:avLst>
          </a:prstGeom>
          <a:solidFill>
            <a:srgbClr val="FCFDFC"/>
          </a:solidFill>
          <a:ln w="6350">
            <a:solidFill>
              <a:srgbClr val="DCE5E2"/>
            </a:solidFill>
            <a:prstDash val="solid"/>
          </a:ln>
        </p:spPr>
      </p:sp>
      <p:pic>
        <p:nvPicPr>
          <p:cNvPr id="13" name="Image 2" descr="Warning">    </p:cNvPr>
          <p:cNvPicPr>
            <a:picLocks noChangeAspect="1"/>
          </p:cNvPicPr>
          <p:nvPr/>
        </p:nvPicPr>
        <p:blipFill>
          <a:blip r:embed="rId3"/>
          <a:srcRect l="0" r="0" t="0" b="0"/>
          <a:stretch/>
        </p:blipFill>
        <p:spPr>
          <a:xfrm>
            <a:off x="8193584" y="1854200"/>
            <a:ext cx="304800" cy="304800"/>
          </a:xfrm>
          <a:prstGeom prst="rect">
            <a:avLst/>
          </a:prstGeom>
        </p:spPr>
      </p:pic>
      <p:sp>
        <p:nvSpPr>
          <p:cNvPr id="14" name="Text 9"/>
          <p:cNvSpPr/>
          <p:nvPr/>
        </p:nvSpPr>
        <p:spPr>
          <a:xfrm>
            <a:off x="8193584" y="2247900"/>
            <a:ext cx="30390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Colour means urgency</a:t>
            </a:r>
            <a:endParaRPr lang="en-US" sz="1800" dirty="0"/>
          </a:p>
        </p:txBody>
      </p:sp>
      <p:sp>
        <p:nvSpPr>
          <p:cNvPr id="15" name="Text 10"/>
          <p:cNvSpPr/>
          <p:nvPr/>
        </p:nvSpPr>
        <p:spPr>
          <a:xfrm>
            <a:off x="8193584" y="2609850"/>
            <a:ext cx="303908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Calm screens; strong colour only for P1 and P2, with a label.</a:t>
            </a:r>
            <a:endParaRPr lang="en-US" sz="1200" dirty="0"/>
          </a:p>
        </p:txBody>
      </p:sp>
      <p:sp>
        <p:nvSpPr>
          <p:cNvPr id="16" name="Shape 11"/>
          <p:cNvSpPr/>
          <p:nvPr/>
        </p:nvSpPr>
        <p:spPr>
          <a:xfrm>
            <a:off x="815975" y="3419475"/>
            <a:ext cx="3414117" cy="1638300"/>
          </a:xfrm>
          <a:prstGeom prst="roundRect">
            <a:avLst>
              <a:gd name="adj" fmla="val 7558"/>
            </a:avLst>
          </a:prstGeom>
          <a:solidFill>
            <a:srgbClr val="FCFDFC"/>
          </a:solidFill>
          <a:ln w="6350">
            <a:solidFill>
              <a:srgbClr val="DCE5E2"/>
            </a:solidFill>
            <a:prstDash val="solid"/>
          </a:ln>
        </p:spPr>
      </p:sp>
      <p:pic>
        <p:nvPicPr>
          <p:cNvPr id="17" name="Image 3" descr="Cloud">    </p:cNvPr>
          <p:cNvPicPr>
            <a:picLocks noChangeAspect="1"/>
          </p:cNvPicPr>
          <p:nvPr/>
        </p:nvPicPr>
        <p:blipFill>
          <a:blip r:embed="rId4"/>
          <a:srcRect l="0" r="0" t="0" b="0"/>
          <a:stretch/>
        </p:blipFill>
        <p:spPr>
          <a:xfrm>
            <a:off x="1047750" y="3651250"/>
            <a:ext cx="304800" cy="304800"/>
          </a:xfrm>
          <a:prstGeom prst="rect">
            <a:avLst/>
          </a:prstGeom>
        </p:spPr>
      </p:pic>
      <p:sp>
        <p:nvSpPr>
          <p:cNvPr id="18" name="Text 12"/>
          <p:cNvSpPr/>
          <p:nvPr/>
        </p:nvSpPr>
        <p:spPr>
          <a:xfrm>
            <a:off x="1047750" y="4044950"/>
            <a:ext cx="30390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Built for weak networks</a:t>
            </a:r>
            <a:endParaRPr lang="en-US" sz="1800" dirty="0"/>
          </a:p>
        </p:txBody>
      </p:sp>
      <p:sp>
        <p:nvSpPr>
          <p:cNvPr id="19" name="Text 13"/>
          <p:cNvSpPr/>
          <p:nvPr/>
        </p:nvSpPr>
        <p:spPr>
          <a:xfrm>
            <a:off x="1047750" y="4406900"/>
            <a:ext cx="303908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Every screen shows if it is online; nothing is lost offline.</a:t>
            </a:r>
            <a:endParaRPr lang="en-US" sz="1200" dirty="0"/>
          </a:p>
        </p:txBody>
      </p:sp>
      <p:sp>
        <p:nvSpPr>
          <p:cNvPr id="20" name="Shape 14"/>
          <p:cNvSpPr/>
          <p:nvPr/>
        </p:nvSpPr>
        <p:spPr>
          <a:xfrm>
            <a:off x="4388842" y="3419475"/>
            <a:ext cx="3414216" cy="1638300"/>
          </a:xfrm>
          <a:prstGeom prst="roundRect">
            <a:avLst>
              <a:gd name="adj" fmla="val 7558"/>
            </a:avLst>
          </a:prstGeom>
          <a:solidFill>
            <a:srgbClr val="FCFDFC"/>
          </a:solidFill>
          <a:ln w="6350">
            <a:solidFill>
              <a:srgbClr val="DCE5E2"/>
            </a:solidFill>
            <a:prstDash val="solid"/>
          </a:ln>
        </p:spPr>
      </p:sp>
      <p:pic>
        <p:nvPicPr>
          <p:cNvPr id="21" name="Image 4" descr="Users">    </p:cNvPr>
          <p:cNvPicPr>
            <a:picLocks noChangeAspect="1"/>
          </p:cNvPicPr>
          <p:nvPr/>
        </p:nvPicPr>
        <p:blipFill>
          <a:blip r:embed="rId5"/>
          <a:srcRect l="0" r="0" t="0" b="0"/>
          <a:stretch/>
        </p:blipFill>
        <p:spPr>
          <a:xfrm>
            <a:off x="4620617" y="3651250"/>
            <a:ext cx="304800" cy="304800"/>
          </a:xfrm>
          <a:prstGeom prst="rect">
            <a:avLst/>
          </a:prstGeom>
        </p:spPr>
      </p:pic>
      <p:sp>
        <p:nvSpPr>
          <p:cNvPr id="22" name="Text 15"/>
          <p:cNvSpPr/>
          <p:nvPr/>
        </p:nvSpPr>
        <p:spPr>
          <a:xfrm>
            <a:off x="4620617" y="4044950"/>
            <a:ext cx="3039186"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Big targets in the field</a:t>
            </a:r>
            <a:endParaRPr lang="en-US" sz="1800" dirty="0"/>
          </a:p>
        </p:txBody>
      </p:sp>
      <p:sp>
        <p:nvSpPr>
          <p:cNvPr id="23" name="Text 16"/>
          <p:cNvSpPr/>
          <p:nvPr/>
        </p:nvSpPr>
        <p:spPr>
          <a:xfrm>
            <a:off x="4620617" y="4406900"/>
            <a:ext cx="303918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Large buttons, sunlight contrast, three taps or fewer per step.</a:t>
            </a:r>
            <a:endParaRPr lang="en-US" sz="1200" dirty="0"/>
          </a:p>
        </p:txBody>
      </p:sp>
      <p:sp>
        <p:nvSpPr>
          <p:cNvPr id="24" name="Shape 17"/>
          <p:cNvSpPr/>
          <p:nvPr/>
        </p:nvSpPr>
        <p:spPr>
          <a:xfrm>
            <a:off x="7961809" y="3419475"/>
            <a:ext cx="3414117" cy="1638300"/>
          </a:xfrm>
          <a:prstGeom prst="roundRect">
            <a:avLst>
              <a:gd name="adj" fmla="val 7558"/>
            </a:avLst>
          </a:prstGeom>
          <a:solidFill>
            <a:srgbClr val="FCFDFC"/>
          </a:solidFill>
          <a:ln w="6350">
            <a:solidFill>
              <a:srgbClr val="DCE5E2"/>
            </a:solidFill>
            <a:prstDash val="solid"/>
          </a:ln>
        </p:spPr>
      </p:sp>
      <p:pic>
        <p:nvPicPr>
          <p:cNvPr id="25" name="Image 5" descr="Lock">    </p:cNvPr>
          <p:cNvPicPr>
            <a:picLocks noChangeAspect="1"/>
          </p:cNvPicPr>
          <p:nvPr/>
        </p:nvPicPr>
        <p:blipFill>
          <a:blip r:embed="rId6"/>
          <a:srcRect l="0" r="0" t="0" b="0"/>
          <a:stretch/>
        </p:blipFill>
        <p:spPr>
          <a:xfrm>
            <a:off x="8193584" y="3651250"/>
            <a:ext cx="304800" cy="304800"/>
          </a:xfrm>
          <a:prstGeom prst="rect">
            <a:avLst/>
          </a:prstGeom>
        </p:spPr>
      </p:pic>
      <p:sp>
        <p:nvSpPr>
          <p:cNvPr id="26" name="Text 18"/>
          <p:cNvSpPr/>
          <p:nvPr/>
        </p:nvSpPr>
        <p:spPr>
          <a:xfrm>
            <a:off x="8193584" y="4044950"/>
            <a:ext cx="30390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Private by design</a:t>
            </a:r>
            <a:endParaRPr lang="en-US" sz="1800" dirty="0"/>
          </a:p>
        </p:txBody>
      </p:sp>
      <p:sp>
        <p:nvSpPr>
          <p:cNvPr id="27" name="Text 19"/>
          <p:cNvSpPr/>
          <p:nvPr/>
        </p:nvSpPr>
        <p:spPr>
          <a:xfrm>
            <a:off x="8193584" y="4406900"/>
            <a:ext cx="303908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Users see only their own cases; every view is recorded.</a:t>
            </a:r>
            <a:endParaRPr lang="en-US" sz="1200" dirty="0"/>
          </a:p>
        </p:txBody>
      </p:sp>
      <p:sp>
        <p:nvSpPr>
          <p:cNvPr id="28" name="Text 20"/>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VISUAL LANGUAGE</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A calm palette with clear urgency signals</a:t>
            </a:r>
            <a:endParaRPr lang="en-US" sz="3200" dirty="0"/>
          </a:p>
        </p:txBody>
      </p:sp>
      <p:sp>
        <p:nvSpPr>
          <p:cNvPr id="4" name="Text 2"/>
          <p:cNvSpPr/>
          <p:nvPr/>
        </p:nvSpPr>
        <p:spPr>
          <a:xfrm>
            <a:off x="812800" y="1619250"/>
            <a:ext cx="34533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Core colours</a:t>
            </a:r>
            <a:endParaRPr lang="en-US" sz="1800" dirty="0"/>
          </a:p>
        </p:txBody>
      </p:sp>
      <p:sp>
        <p:nvSpPr>
          <p:cNvPr id="5" name="Shape 3"/>
          <p:cNvSpPr/>
          <p:nvPr/>
        </p:nvSpPr>
        <p:spPr>
          <a:xfrm>
            <a:off x="812800" y="2006600"/>
            <a:ext cx="558800" cy="558800"/>
          </a:xfrm>
          <a:prstGeom prst="roundRect">
            <a:avLst>
              <a:gd name="adj" fmla="val 18182"/>
            </a:avLst>
          </a:prstGeom>
          <a:solidFill>
            <a:srgbClr val="0E2A33"/>
          </a:solidFill>
          <a:ln/>
        </p:spPr>
      </p:sp>
      <p:sp>
        <p:nvSpPr>
          <p:cNvPr id="6" name="Text 4"/>
          <p:cNvSpPr/>
          <p:nvPr/>
        </p:nvSpPr>
        <p:spPr>
          <a:xfrm>
            <a:off x="1498600" y="2051050"/>
            <a:ext cx="1730177"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Ink</a:t>
            </a:r>
            <a:endParaRPr lang="en-US" sz="1400" dirty="0"/>
          </a:p>
        </p:txBody>
      </p:sp>
      <p:sp>
        <p:nvSpPr>
          <p:cNvPr id="7" name="Text 5"/>
          <p:cNvSpPr/>
          <p:nvPr/>
        </p:nvSpPr>
        <p:spPr>
          <a:xfrm>
            <a:off x="1498600" y="2311400"/>
            <a:ext cx="201525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#0E2A33 · text, headers</a:t>
            </a:r>
            <a:endParaRPr lang="en-US" sz="1200" dirty="0"/>
          </a:p>
        </p:txBody>
      </p:sp>
      <p:sp>
        <p:nvSpPr>
          <p:cNvPr id="8" name="Shape 6"/>
          <p:cNvSpPr/>
          <p:nvPr/>
        </p:nvSpPr>
        <p:spPr>
          <a:xfrm>
            <a:off x="812800" y="2679700"/>
            <a:ext cx="558800" cy="558800"/>
          </a:xfrm>
          <a:prstGeom prst="roundRect">
            <a:avLst>
              <a:gd name="adj" fmla="val 18182"/>
            </a:avLst>
          </a:prstGeom>
          <a:solidFill>
            <a:srgbClr val="0B6E64"/>
          </a:solidFill>
          <a:ln/>
        </p:spPr>
      </p:sp>
      <p:sp>
        <p:nvSpPr>
          <p:cNvPr id="9" name="Text 7"/>
          <p:cNvSpPr/>
          <p:nvPr/>
        </p:nvSpPr>
        <p:spPr>
          <a:xfrm>
            <a:off x="1498600" y="2724150"/>
            <a:ext cx="170606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Teal</a:t>
            </a:r>
            <a:endParaRPr lang="en-US" sz="1400" dirty="0"/>
          </a:p>
        </p:txBody>
      </p:sp>
      <p:sp>
        <p:nvSpPr>
          <p:cNvPr id="10" name="Text 8"/>
          <p:cNvSpPr/>
          <p:nvPr/>
        </p:nvSpPr>
        <p:spPr>
          <a:xfrm>
            <a:off x="1498600" y="2984500"/>
            <a:ext cx="19863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#0B6E64 · main actions</a:t>
            </a:r>
            <a:endParaRPr lang="en-US" sz="1200" dirty="0"/>
          </a:p>
        </p:txBody>
      </p:sp>
      <p:sp>
        <p:nvSpPr>
          <p:cNvPr id="11" name="Shape 9"/>
          <p:cNvSpPr/>
          <p:nvPr/>
        </p:nvSpPr>
        <p:spPr>
          <a:xfrm>
            <a:off x="815975" y="3355975"/>
            <a:ext cx="552450" cy="552450"/>
          </a:xfrm>
          <a:prstGeom prst="roundRect">
            <a:avLst>
              <a:gd name="adj" fmla="val 17816"/>
            </a:avLst>
          </a:prstGeom>
          <a:solidFill>
            <a:srgbClr val="EAF1EF"/>
          </a:solidFill>
          <a:ln w="6350">
            <a:solidFill>
              <a:srgbClr val="C9D8D4"/>
            </a:solidFill>
            <a:prstDash val="solid"/>
          </a:ln>
        </p:spPr>
      </p:sp>
      <p:sp>
        <p:nvSpPr>
          <p:cNvPr id="12" name="Text 10"/>
          <p:cNvSpPr/>
          <p:nvPr/>
        </p:nvSpPr>
        <p:spPr>
          <a:xfrm>
            <a:off x="1498600" y="3397250"/>
            <a:ext cx="1273969"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Mist</a:t>
            </a:r>
            <a:endParaRPr lang="en-US" sz="1400" dirty="0"/>
          </a:p>
        </p:txBody>
      </p:sp>
      <p:sp>
        <p:nvSpPr>
          <p:cNvPr id="13" name="Text 11"/>
          <p:cNvSpPr/>
          <p:nvPr/>
        </p:nvSpPr>
        <p:spPr>
          <a:xfrm>
            <a:off x="1498600" y="3657600"/>
            <a:ext cx="146780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#EAF1EF · panels</a:t>
            </a:r>
            <a:endParaRPr lang="en-US" sz="1200" dirty="0"/>
          </a:p>
        </p:txBody>
      </p:sp>
      <p:sp>
        <p:nvSpPr>
          <p:cNvPr id="14" name="Shape 12"/>
          <p:cNvSpPr/>
          <p:nvPr/>
        </p:nvSpPr>
        <p:spPr>
          <a:xfrm>
            <a:off x="815975" y="4029075"/>
            <a:ext cx="552450" cy="552450"/>
          </a:xfrm>
          <a:prstGeom prst="roundRect">
            <a:avLst>
              <a:gd name="adj" fmla="val 17816"/>
            </a:avLst>
          </a:prstGeom>
          <a:solidFill>
            <a:srgbClr val="F5F7F6"/>
          </a:solidFill>
          <a:ln w="6350">
            <a:solidFill>
              <a:srgbClr val="C9D8D4"/>
            </a:solidFill>
            <a:prstDash val="solid"/>
          </a:ln>
        </p:spPr>
      </p:sp>
      <p:sp>
        <p:nvSpPr>
          <p:cNvPr id="15" name="Text 13"/>
          <p:cNvSpPr/>
          <p:nvPr/>
        </p:nvSpPr>
        <p:spPr>
          <a:xfrm>
            <a:off x="1498600" y="4070350"/>
            <a:ext cx="1618754"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Paper</a:t>
            </a:r>
            <a:endParaRPr lang="en-US" sz="1400" dirty="0"/>
          </a:p>
        </p:txBody>
      </p:sp>
      <p:sp>
        <p:nvSpPr>
          <p:cNvPr id="16" name="Text 14"/>
          <p:cNvSpPr/>
          <p:nvPr/>
        </p:nvSpPr>
        <p:spPr>
          <a:xfrm>
            <a:off x="1498600" y="4330700"/>
            <a:ext cx="188154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#F5F7F6 · background</a:t>
            </a:r>
            <a:endParaRPr lang="en-US" sz="1200" dirty="0"/>
          </a:p>
        </p:txBody>
      </p:sp>
      <p:sp>
        <p:nvSpPr>
          <p:cNvPr id="17" name="Text 15"/>
          <p:cNvSpPr/>
          <p:nvPr/>
        </p:nvSpPr>
        <p:spPr>
          <a:xfrm>
            <a:off x="4419600" y="1619250"/>
            <a:ext cx="34533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Urgency scale</a:t>
            </a:r>
            <a:endParaRPr lang="en-US" sz="1800" dirty="0"/>
          </a:p>
        </p:txBody>
      </p:sp>
      <p:sp>
        <p:nvSpPr>
          <p:cNvPr id="18" name="Text 16"/>
          <p:cNvSpPr/>
          <p:nvPr/>
        </p:nvSpPr>
        <p:spPr>
          <a:xfrm>
            <a:off x="4419600" y="2006600"/>
            <a:ext cx="528141" cy="501650"/>
          </a:xfrm>
          <a:prstGeom prst="roundRect">
            <a:avLst>
              <a:gd name="adj" fmla="val 20253"/>
            </a:avLst>
          </a:prstGeom>
          <a:solidFill>
            <a:srgbClr val="B42318"/>
          </a:solidFill>
          <a:ln/>
        </p:spPr>
        <p:txBody>
          <a:bodyPr wrap="none" lIns="0" tIns="0" rIns="0" bIns="0" rtlCol="0" anchor="ctr">
            <a:normAutofit/>
          </a:bodyPr>
          <a:lstStyle/>
          <a:p>
            <a:pPr algn="ctr" indent="0" marL="0">
              <a:lnSpc>
                <a:spcPts val="1960"/>
              </a:lnSpc>
              <a:buNone/>
            </a:pPr>
            <a:r>
              <a:rPr lang="en-US" sz="1400" b="1" dirty="0">
                <a:solidFill>
                  <a:srgbClr val="FCFDFC"/>
                </a:solidFill>
                <a:latin typeface="IBM Plex Sans" pitchFamily="34" charset="0"/>
                <a:ea typeface="IBM Plex Sans" pitchFamily="34" charset="-122"/>
                <a:cs typeface="IBM Plex Sans" pitchFamily="34" charset="-120"/>
              </a:rPr>
              <a:t>P1</a:t>
            </a:r>
            <a:endParaRPr lang="en-US" sz="1400" dirty="0"/>
          </a:p>
        </p:txBody>
      </p:sp>
      <p:sp>
        <p:nvSpPr>
          <p:cNvPr id="19" name="Text 17"/>
          <p:cNvSpPr/>
          <p:nvPr/>
        </p:nvSpPr>
        <p:spPr>
          <a:xfrm>
            <a:off x="5074741" y="2133600"/>
            <a:ext cx="1286589"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Life in danger</a:t>
            </a:r>
            <a:endParaRPr lang="en-US" sz="1400" dirty="0"/>
          </a:p>
        </p:txBody>
      </p:sp>
      <p:sp>
        <p:nvSpPr>
          <p:cNvPr id="20" name="Text 18"/>
          <p:cNvSpPr/>
          <p:nvPr/>
        </p:nvSpPr>
        <p:spPr>
          <a:xfrm>
            <a:off x="4419600" y="2622550"/>
            <a:ext cx="528141" cy="501650"/>
          </a:xfrm>
          <a:prstGeom prst="roundRect">
            <a:avLst>
              <a:gd name="adj" fmla="val 20253"/>
            </a:avLst>
          </a:prstGeom>
          <a:solidFill>
            <a:srgbClr val="E8743B"/>
          </a:solidFill>
          <a:ln/>
        </p:spPr>
        <p:txBody>
          <a:bodyPr wrap="none" lIns="0" tIns="0" rIns="0" bIns="0" rtlCol="0" anchor="ctr">
            <a:normAutofit/>
          </a:bodyPr>
          <a:lstStyle/>
          <a:p>
            <a:pPr algn="ctr"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P2</a:t>
            </a:r>
            <a:endParaRPr lang="en-US" sz="1400" dirty="0"/>
          </a:p>
        </p:txBody>
      </p:sp>
      <p:sp>
        <p:nvSpPr>
          <p:cNvPr id="21" name="Text 19"/>
          <p:cNvSpPr/>
          <p:nvPr/>
        </p:nvSpPr>
        <p:spPr>
          <a:xfrm>
            <a:off x="5074741" y="2749550"/>
            <a:ext cx="71735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Serious</a:t>
            </a:r>
            <a:endParaRPr lang="en-US" sz="1400" dirty="0"/>
          </a:p>
        </p:txBody>
      </p:sp>
      <p:sp>
        <p:nvSpPr>
          <p:cNvPr id="22" name="Text 20"/>
          <p:cNvSpPr/>
          <p:nvPr/>
        </p:nvSpPr>
        <p:spPr>
          <a:xfrm>
            <a:off x="4419600" y="3238500"/>
            <a:ext cx="528141" cy="501650"/>
          </a:xfrm>
          <a:prstGeom prst="roundRect">
            <a:avLst>
              <a:gd name="adj" fmla="val 20253"/>
            </a:avLst>
          </a:prstGeom>
          <a:solidFill>
            <a:srgbClr val="F2C94C"/>
          </a:solidFill>
          <a:ln/>
        </p:spPr>
        <p:txBody>
          <a:bodyPr wrap="none" lIns="0" tIns="0" rIns="0" bIns="0" rtlCol="0" anchor="ctr">
            <a:normAutofit/>
          </a:bodyPr>
          <a:lstStyle/>
          <a:p>
            <a:pPr algn="ctr"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P3</a:t>
            </a:r>
            <a:endParaRPr lang="en-US" sz="1400" dirty="0"/>
          </a:p>
        </p:txBody>
      </p:sp>
      <p:sp>
        <p:nvSpPr>
          <p:cNvPr id="23" name="Text 21"/>
          <p:cNvSpPr/>
          <p:nvPr/>
        </p:nvSpPr>
        <p:spPr>
          <a:xfrm>
            <a:off x="5074741" y="3365500"/>
            <a:ext cx="1653421"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Urgent but stable</a:t>
            </a:r>
            <a:endParaRPr lang="en-US" sz="1400" dirty="0"/>
          </a:p>
        </p:txBody>
      </p:sp>
      <p:sp>
        <p:nvSpPr>
          <p:cNvPr id="24" name="Text 22"/>
          <p:cNvSpPr/>
          <p:nvPr/>
        </p:nvSpPr>
        <p:spPr>
          <a:xfrm>
            <a:off x="4419600" y="3854450"/>
            <a:ext cx="528141" cy="501650"/>
          </a:xfrm>
          <a:prstGeom prst="roundRect">
            <a:avLst>
              <a:gd name="adj" fmla="val 20253"/>
            </a:avLst>
          </a:prstGeom>
          <a:solidFill>
            <a:srgbClr val="C9D3D1"/>
          </a:solidFill>
          <a:ln/>
        </p:spPr>
        <p:txBody>
          <a:bodyPr wrap="none" lIns="0" tIns="0" rIns="0" bIns="0" rtlCol="0" anchor="ctr">
            <a:normAutofit/>
          </a:bodyPr>
          <a:lstStyle/>
          <a:p>
            <a:pPr algn="ctr"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P4</a:t>
            </a:r>
            <a:endParaRPr lang="en-US" sz="1400" dirty="0"/>
          </a:p>
        </p:txBody>
      </p:sp>
      <p:sp>
        <p:nvSpPr>
          <p:cNvPr id="25" name="Text 23"/>
          <p:cNvSpPr/>
          <p:nvPr/>
        </p:nvSpPr>
        <p:spPr>
          <a:xfrm>
            <a:off x="5074741" y="3981450"/>
            <a:ext cx="1014770"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Not urgent</a:t>
            </a:r>
            <a:endParaRPr lang="en-US" sz="1400" dirty="0"/>
          </a:p>
        </p:txBody>
      </p:sp>
      <p:sp>
        <p:nvSpPr>
          <p:cNvPr id="26" name="Text 24"/>
          <p:cNvSpPr/>
          <p:nvPr/>
        </p:nvSpPr>
        <p:spPr>
          <a:xfrm>
            <a:off x="8026400" y="1619250"/>
            <a:ext cx="3453384"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Typeface</a:t>
            </a:r>
            <a:endParaRPr lang="en-US" sz="1800" dirty="0"/>
          </a:p>
        </p:txBody>
      </p:sp>
      <p:sp>
        <p:nvSpPr>
          <p:cNvPr id="27" name="Shape 25"/>
          <p:cNvSpPr/>
          <p:nvPr/>
        </p:nvSpPr>
        <p:spPr>
          <a:xfrm>
            <a:off x="8029575" y="2009775"/>
            <a:ext cx="3346450" cy="1143000"/>
          </a:xfrm>
          <a:prstGeom prst="roundRect">
            <a:avLst>
              <a:gd name="adj" fmla="val 10833"/>
            </a:avLst>
          </a:prstGeom>
          <a:solidFill>
            <a:srgbClr val="FCFDFC"/>
          </a:solidFill>
          <a:ln w="6350">
            <a:solidFill>
              <a:srgbClr val="DCE5E2"/>
            </a:solidFill>
            <a:prstDash val="solid"/>
          </a:ln>
        </p:spPr>
      </p:sp>
      <p:sp>
        <p:nvSpPr>
          <p:cNvPr id="28" name="Text 26"/>
          <p:cNvSpPr/>
          <p:nvPr/>
        </p:nvSpPr>
        <p:spPr>
          <a:xfrm>
            <a:off x="8235950" y="2216150"/>
            <a:ext cx="302171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IBM Plex Sans</a:t>
            </a:r>
            <a:endParaRPr lang="en-US" sz="1200" dirty="0"/>
          </a:p>
        </p:txBody>
      </p:sp>
      <p:sp>
        <p:nvSpPr>
          <p:cNvPr id="29" name="Text 27"/>
          <p:cNvSpPr/>
          <p:nvPr/>
        </p:nvSpPr>
        <p:spPr>
          <a:xfrm>
            <a:off x="8235950" y="2501900"/>
            <a:ext cx="3021711"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2A33"/>
                </a:solidFill>
                <a:latin typeface="IBM Plex Sans" pitchFamily="34" charset="0"/>
                <a:ea typeface="IBM Plex Sans" pitchFamily="34" charset="-122"/>
                <a:cs typeface="IBM Plex Sans" pitchFamily="34" charset="-120"/>
              </a:rPr>
              <a:t>Aa 123</a:t>
            </a:r>
            <a:endParaRPr lang="en-US" sz="3200" dirty="0"/>
          </a:p>
        </p:txBody>
      </p:sp>
      <p:sp>
        <p:nvSpPr>
          <p:cNvPr id="30" name="Shape 28"/>
          <p:cNvSpPr/>
          <p:nvPr/>
        </p:nvSpPr>
        <p:spPr>
          <a:xfrm>
            <a:off x="8029575" y="3273425"/>
            <a:ext cx="3346450" cy="1181100"/>
          </a:xfrm>
          <a:prstGeom prst="roundRect">
            <a:avLst>
              <a:gd name="adj" fmla="val 10484"/>
            </a:avLst>
          </a:prstGeom>
          <a:solidFill>
            <a:srgbClr val="FCFDFC"/>
          </a:solidFill>
          <a:ln w="6350">
            <a:solidFill>
              <a:srgbClr val="DCE5E2"/>
            </a:solidFill>
            <a:prstDash val="solid"/>
          </a:ln>
        </p:spPr>
      </p:sp>
      <p:sp>
        <p:nvSpPr>
          <p:cNvPr id="31" name="Text 29"/>
          <p:cNvSpPr/>
          <p:nvPr/>
        </p:nvSpPr>
        <p:spPr>
          <a:xfrm>
            <a:off x="8235950" y="3479800"/>
            <a:ext cx="302171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IBM Plex Sans Arabic</a:t>
            </a:r>
            <a:endParaRPr lang="en-US" sz="1200" dirty="0"/>
          </a:p>
        </p:txBody>
      </p:sp>
      <p:sp>
        <p:nvSpPr>
          <p:cNvPr id="32" name="Text 30"/>
          <p:cNvSpPr/>
          <p:nvPr/>
        </p:nvSpPr>
        <p:spPr>
          <a:xfrm>
            <a:off x="8147939" y="3765550"/>
            <a:ext cx="3021711" cy="508000"/>
          </a:xfrm>
          <a:prstGeom prst="rect">
            <a:avLst/>
          </a:prstGeom>
          <a:noFill/>
          <a:ln/>
        </p:spPr>
        <p:txBody>
          <a:bodyPr wrap="square" lIns="0" tIns="0" rIns="0" bIns="0" rtlCol="0" anchor="t">
            <a:normAutofit/>
          </a:bodyPr>
          <a:lstStyle/>
          <a:p>
            <a:pPr algn="r" indent="0" marL="0">
              <a:lnSpc>
                <a:spcPts val="3840"/>
              </a:lnSpc>
              <a:buNone/>
            </a:pPr>
            <a:r>
              <a:rPr lang="en-US" sz="3200" b="1" dirty="0">
                <a:solidFill>
                  <a:srgbClr val="0E2A33"/>
                </a:solidFill>
                <a:latin typeface="IBM Plex Sans Arabic" pitchFamily="34" charset="0"/>
                <a:ea typeface="IBM Plex Sans Arabic" pitchFamily="34" charset="-122"/>
                <a:cs typeface="IBM Plex Sans Arabic" pitchFamily="34" charset="-120"/>
              </a:rPr>
              <a:t>بلاغ طارئ</a:t>
            </a:r>
            <a:endParaRPr lang="en-US" sz="3200" dirty="0"/>
          </a:p>
        </p:txBody>
      </p:sp>
      <p:sp>
        <p:nvSpPr>
          <p:cNvPr id="33" name="Text 31"/>
          <p:cNvSpPr/>
          <p:nvPr/>
        </p:nvSpPr>
        <p:spPr>
          <a:xfrm>
            <a:off x="8026400" y="4572000"/>
            <a:ext cx="3453384"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pitchFamily="34" charset="0"/>
                <a:ea typeface="IBM Plex Sans" pitchFamily="34" charset="-122"/>
                <a:cs typeface="IBM Plex Sans" pitchFamily="34" charset="-120"/>
              </a:rPr>
              <a:t>One family for both languages keeps Arabic and English screens consistent.</a:t>
            </a:r>
            <a:endParaRPr lang="en-US" sz="1200" dirty="0"/>
          </a:p>
        </p:txBody>
      </p:sp>
      <p:sp>
        <p:nvSpPr>
          <p:cNvPr id="34" name="Text 32"/>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IBM Plex Sans" pitchFamily="34" charset="0"/>
                <a:ea typeface="IBM Plex Sans" pitchFamily="34" charset="-122"/>
                <a:cs typeface="IBM Plex Sans" pitchFamily="34" charset="-120"/>
              </a:rPr>
              <a:t>SCREEN 1 · HEALTH AUTHORITY CALL CENTRE</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4F8F7"/>
                </a:solidFill>
                <a:latin typeface="IBM Plex Sans" pitchFamily="34" charset="0"/>
                <a:ea typeface="IBM Plex Sans" pitchFamily="34" charset="-122"/>
                <a:cs typeface="IBM Plex Sans" pitchFamily="34" charset="-120"/>
              </a:rPr>
              <a:t>Queue, map and case on one screen</a:t>
            </a:r>
            <a:endParaRPr lang="en-US" sz="3200" dirty="0"/>
          </a:p>
        </p:txBody>
      </p:sp>
      <p:sp>
        <p:nvSpPr>
          <p:cNvPr id="4" name="Shape 2"/>
          <p:cNvSpPr/>
          <p:nvPr/>
        </p:nvSpPr>
        <p:spPr>
          <a:xfrm>
            <a:off x="815975" y="1781175"/>
            <a:ext cx="10560050" cy="3676650"/>
          </a:xfrm>
          <a:prstGeom prst="roundRect">
            <a:avLst>
              <a:gd name="adj" fmla="val 4750"/>
            </a:avLst>
          </a:prstGeom>
          <a:solidFill>
            <a:srgbClr val="0F1E24"/>
          </a:solidFill>
          <a:ln w="6350">
            <a:solidFill>
              <a:srgbClr val="FFFFFF">
                <a:alpha val="8000"/>
              </a:srgbClr>
            </a:solidFill>
            <a:prstDash val="solid"/>
          </a:ln>
          <a:effectLst>
            <a:outerShdw sx="100000" sy="100000" kx="0" ky="0" algn="bl" rotWithShape="0" blurRad="508000" dist="254000" dir="5400000">
              <a:srgbClr val="000000">
                <a:alpha val="45000"/>
              </a:srgbClr>
            </a:outerShdw>
          </a:effectLst>
        </p:spPr>
      </p:sp>
      <p:sp>
        <p:nvSpPr>
          <p:cNvPr id="5" name="Shape 3"/>
          <p:cNvSpPr/>
          <p:nvPr/>
        </p:nvSpPr>
        <p:spPr>
          <a:xfrm>
            <a:off x="819150" y="1784350"/>
            <a:ext cx="10553700" cy="457200"/>
          </a:xfrm>
          <a:custGeom>
            <a:avLst/>
            <a:gdLst/>
            <a:ahLst/>
            <a:cxnLst/>
            <a:rect l="l" t="t" r="r" b="b"/>
            <a:pathLst>
              <a:path w="10553700" h="457200">
                <a:moveTo>
                  <a:pt x="0" y="450850"/>
                </a:moveTo>
                <a:lnTo>
                  <a:pt x="10553700" y="450850"/>
                </a:lnTo>
                <a:lnTo>
                  <a:pt x="10553700" y="457200"/>
                </a:lnTo>
                <a:lnTo>
                  <a:pt x="0" y="457200"/>
                </a:lnTo>
                <a:lnTo>
                  <a:pt x="0" y="450850"/>
                </a:lnTo>
                <a:close/>
              </a:path>
            </a:pathLst>
          </a:custGeom>
          <a:solidFill>
            <a:srgbClr val="FFFFFF">
              <a:alpha val="6000"/>
            </a:srgbClr>
          </a:solidFill>
          <a:ln/>
        </p:spPr>
      </p:sp>
      <p:sp>
        <p:nvSpPr>
          <p:cNvPr id="6" name="Text 4"/>
          <p:cNvSpPr/>
          <p:nvPr/>
        </p:nvSpPr>
        <p:spPr>
          <a:xfrm>
            <a:off x="971550" y="18573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2DD4BF"/>
              </a:gs>
              <a:gs pos="100000">
                <a:srgbClr val="0EA5E9"/>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062A26"/>
                </a:solidFill>
                <a:latin typeface="IBM Plex Sans Arabic" pitchFamily="34" charset="0"/>
                <a:ea typeface="IBM Plex Sans Arabic" pitchFamily="34" charset="-122"/>
                <a:cs typeface="IBM Plex Sans Arabic" pitchFamily="34" charset="-120"/>
              </a:rPr>
              <a:t>م</a:t>
            </a:r>
            <a:endParaRPr lang="en-US" sz="1200" dirty="0"/>
          </a:p>
        </p:txBody>
      </p:sp>
      <p:sp>
        <p:nvSpPr>
          <p:cNvPr id="7" name="Text 5"/>
          <p:cNvSpPr/>
          <p:nvPr/>
        </p:nvSpPr>
        <p:spPr>
          <a:xfrm>
            <a:off x="1377950" y="1905000"/>
            <a:ext cx="49232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10:42</a:t>
            </a:r>
            <a:endParaRPr lang="en-US" sz="1200" dirty="0"/>
          </a:p>
        </p:txBody>
      </p:sp>
      <p:sp>
        <p:nvSpPr>
          <p:cNvPr id="8" name="Shape 6"/>
          <p:cNvSpPr/>
          <p:nvPr/>
        </p:nvSpPr>
        <p:spPr>
          <a:xfrm>
            <a:off x="1889820" y="1879600"/>
            <a:ext cx="705445" cy="260350"/>
          </a:xfrm>
          <a:prstGeom prst="roundRect">
            <a:avLst>
              <a:gd name="adj" fmla="val 50000"/>
            </a:avLst>
          </a:prstGeom>
          <a:solidFill>
            <a:srgbClr val="2DD4BF">
              <a:alpha val="14000"/>
            </a:srgbClr>
          </a:solidFill>
          <a:ln/>
        </p:spPr>
      </p:sp>
      <p:sp>
        <p:nvSpPr>
          <p:cNvPr id="9" name="Text 7"/>
          <p:cNvSpPr/>
          <p:nvPr/>
        </p:nvSpPr>
        <p:spPr>
          <a:xfrm>
            <a:off x="1991420" y="1905000"/>
            <a:ext cx="5530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EAD4"/>
                </a:solidFill>
                <a:latin typeface="IBM Plex Sans Arabic" pitchFamily="34" charset="0"/>
                <a:ea typeface="IBM Plex Sans Arabic" pitchFamily="34" charset="-122"/>
                <a:cs typeface="IBM Plex Sans Arabic" pitchFamily="34" charset="-120"/>
              </a:rPr>
              <a:t>● متصل</a:t>
            </a:r>
            <a:endParaRPr lang="en-US" sz="1200" dirty="0"/>
          </a:p>
        </p:txBody>
      </p:sp>
      <p:sp>
        <p:nvSpPr>
          <p:cNvPr id="10" name="Shape 8"/>
          <p:cNvSpPr/>
          <p:nvPr/>
        </p:nvSpPr>
        <p:spPr>
          <a:xfrm>
            <a:off x="7550348" y="1851025"/>
            <a:ext cx="2660650" cy="317500"/>
          </a:xfrm>
          <a:prstGeom prst="roundRect">
            <a:avLst>
              <a:gd name="adj" fmla="val 50000"/>
            </a:avLst>
          </a:prstGeom>
          <a:solidFill>
            <a:srgbClr val="152A31"/>
          </a:solidFill>
          <a:ln w="6350">
            <a:solidFill>
              <a:srgbClr val="FFFFFF">
                <a:alpha val="6000"/>
              </a:srgbClr>
            </a:solidFill>
            <a:prstDash val="solid"/>
          </a:ln>
        </p:spPr>
      </p:sp>
      <p:pic>
        <p:nvPicPr>
          <p:cNvPr id="11" name="Image 0" descr="Search">    </p:cNvPr>
          <p:cNvPicPr>
            <a:picLocks noChangeAspect="1"/>
          </p:cNvPicPr>
          <p:nvPr/>
        </p:nvPicPr>
        <p:blipFill>
          <a:blip r:embed="rId1"/>
          <a:srcRect l="0" r="0" t="0" b="0"/>
          <a:stretch/>
        </p:blipFill>
        <p:spPr>
          <a:xfrm>
            <a:off x="7680523" y="1920875"/>
            <a:ext cx="177800" cy="177800"/>
          </a:xfrm>
          <a:prstGeom prst="rect">
            <a:avLst/>
          </a:prstGeom>
        </p:spPr>
      </p:pic>
      <p:sp>
        <p:nvSpPr>
          <p:cNvPr id="12" name="Text 9"/>
          <p:cNvSpPr/>
          <p:nvPr/>
        </p:nvSpPr>
        <p:spPr>
          <a:xfrm>
            <a:off x="8557419" y="1905000"/>
            <a:ext cx="1523405"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8782"/>
                </a:solidFill>
                <a:latin typeface="IBM Plex Sans Arabic" pitchFamily="34" charset="0"/>
                <a:ea typeface="IBM Plex Sans Arabic" pitchFamily="34" charset="-122"/>
                <a:cs typeface="IBM Plex Sans Arabic" pitchFamily="34" charset="-120"/>
              </a:rPr>
              <a:t>ابحث عن بلاغ أو سيارة</a:t>
            </a:r>
            <a:endParaRPr lang="en-US" sz="1200" dirty="0"/>
          </a:p>
        </p:txBody>
      </p:sp>
      <p:sp>
        <p:nvSpPr>
          <p:cNvPr id="13" name="Text 10"/>
          <p:cNvSpPr/>
          <p:nvPr/>
        </p:nvSpPr>
        <p:spPr>
          <a:xfrm>
            <a:off x="10341173" y="1885950"/>
            <a:ext cx="1031677"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EFED"/>
                </a:solidFill>
                <a:latin typeface="IBM Plex Sans Arabic" pitchFamily="34" charset="0"/>
                <a:ea typeface="IBM Plex Sans Arabic" pitchFamily="34" charset="-122"/>
                <a:cs typeface="IBM Plex Sans Arabic" pitchFamily="34" charset="-120"/>
              </a:rPr>
              <a:t>مركز البلاغات</a:t>
            </a:r>
            <a:endParaRPr lang="en-US" sz="1400" dirty="0"/>
          </a:p>
        </p:txBody>
      </p:sp>
      <p:sp>
        <p:nvSpPr>
          <p:cNvPr id="14" name="Shape 11"/>
          <p:cNvSpPr/>
          <p:nvPr/>
        </p:nvSpPr>
        <p:spPr>
          <a:xfrm>
            <a:off x="819150" y="2241550"/>
            <a:ext cx="3048000" cy="3213100"/>
          </a:xfrm>
          <a:custGeom>
            <a:avLst/>
            <a:gdLst/>
            <a:ahLst/>
            <a:cxnLst/>
            <a:rect l="l" t="t" r="r" b="b"/>
            <a:pathLst>
              <a:path w="3048000" h="3213100">
                <a:moveTo>
                  <a:pt x="3041650" y="0"/>
                </a:moveTo>
                <a:lnTo>
                  <a:pt x="3048000" y="0"/>
                </a:lnTo>
                <a:lnTo>
                  <a:pt x="3048000" y="3213100"/>
                </a:lnTo>
                <a:lnTo>
                  <a:pt x="3041650" y="3213100"/>
                </a:lnTo>
                <a:lnTo>
                  <a:pt x="3041650" y="0"/>
                </a:lnTo>
                <a:close/>
              </a:path>
            </a:pathLst>
          </a:custGeom>
          <a:solidFill>
            <a:srgbClr val="FFFFFF">
              <a:alpha val="6000"/>
            </a:srgbClr>
          </a:solidFill>
          <a:ln/>
        </p:spPr>
      </p:sp>
      <p:sp>
        <p:nvSpPr>
          <p:cNvPr id="15" name="Shape 12"/>
          <p:cNvSpPr/>
          <p:nvPr/>
        </p:nvSpPr>
        <p:spPr>
          <a:xfrm>
            <a:off x="971550" y="2393355"/>
            <a:ext cx="657721" cy="234950"/>
          </a:xfrm>
          <a:prstGeom prst="roundRect">
            <a:avLst>
              <a:gd name="adj" fmla="val 50000"/>
            </a:avLst>
          </a:prstGeom>
          <a:solidFill>
            <a:srgbClr val="F43F5E">
              <a:alpha val="16000"/>
            </a:srgbClr>
          </a:solidFill>
          <a:ln/>
        </p:spPr>
      </p:sp>
      <p:sp>
        <p:nvSpPr>
          <p:cNvPr id="16" name="Text 13"/>
          <p:cNvSpPr/>
          <p:nvPr/>
        </p:nvSpPr>
        <p:spPr>
          <a:xfrm>
            <a:off x="1060450" y="2406055"/>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7185"/>
                </a:solidFill>
                <a:latin typeface="IBM Plex Sans Arabic" pitchFamily="34" charset="0"/>
                <a:ea typeface="IBM Plex Sans Arabic" pitchFamily="34" charset="-122"/>
                <a:cs typeface="IBM Plex Sans Arabic" pitchFamily="34" charset="-120"/>
              </a:rPr>
              <a:t>أولوية 1</a:t>
            </a:r>
            <a:endParaRPr lang="en-US" sz="1200" dirty="0"/>
          </a:p>
        </p:txBody>
      </p:sp>
      <p:sp>
        <p:nvSpPr>
          <p:cNvPr id="17" name="Text 14"/>
          <p:cNvSpPr/>
          <p:nvPr/>
        </p:nvSpPr>
        <p:spPr>
          <a:xfrm>
            <a:off x="2208570" y="2405955"/>
            <a:ext cx="1499830"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6EFED"/>
                </a:solidFill>
                <a:latin typeface="IBM Plex Sans Arabic" pitchFamily="34" charset="0"/>
                <a:ea typeface="IBM Plex Sans Arabic" pitchFamily="34" charset="-122"/>
                <a:cs typeface="IBM Plex Sans Arabic" pitchFamily="34" charset="-120"/>
              </a:rPr>
              <a:t>KH-2026-000123</a:t>
            </a:r>
            <a:endParaRPr lang="en-US" sz="1200" dirty="0"/>
          </a:p>
        </p:txBody>
      </p:sp>
      <p:sp>
        <p:nvSpPr>
          <p:cNvPr id="18" name="Shape 15"/>
          <p:cNvSpPr/>
          <p:nvPr/>
        </p:nvSpPr>
        <p:spPr>
          <a:xfrm>
            <a:off x="974725" y="2719685"/>
            <a:ext cx="2730500" cy="997942"/>
          </a:xfrm>
          <a:prstGeom prst="roundRect">
            <a:avLst>
              <a:gd name="adj" fmla="val 11135"/>
            </a:avLst>
          </a:prstGeom>
          <a:solidFill>
            <a:srgbClr val="152A31"/>
          </a:solidFill>
          <a:ln w="6350">
            <a:solidFill>
              <a:srgbClr val="FFFFFF">
                <a:alpha val="6000"/>
              </a:srgbClr>
            </a:solidFill>
            <a:prstDash val="solid"/>
          </a:ln>
        </p:spPr>
      </p:sp>
      <p:sp>
        <p:nvSpPr>
          <p:cNvPr id="19" name="Text 16"/>
          <p:cNvSpPr/>
          <p:nvPr/>
        </p:nvSpPr>
        <p:spPr>
          <a:xfrm>
            <a:off x="1092200" y="2798167"/>
            <a:ext cx="157507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+249 9X XXX XXXX</a:t>
            </a:r>
            <a:endParaRPr lang="en-US" sz="1200" dirty="0"/>
          </a:p>
        </p:txBody>
      </p:sp>
      <p:sp>
        <p:nvSpPr>
          <p:cNvPr id="20" name="Text 17"/>
          <p:cNvSpPr/>
          <p:nvPr/>
        </p:nvSpPr>
        <p:spPr>
          <a:xfrm>
            <a:off x="3058993" y="2798167"/>
            <a:ext cx="528757"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المتصل</a:t>
            </a:r>
            <a:endParaRPr lang="en-US" sz="1200" dirty="0"/>
          </a:p>
        </p:txBody>
      </p:sp>
      <p:sp>
        <p:nvSpPr>
          <p:cNvPr id="21" name="Shape 18"/>
          <p:cNvSpPr/>
          <p:nvPr/>
        </p:nvSpPr>
        <p:spPr>
          <a:xfrm>
            <a:off x="1092200" y="3060799"/>
            <a:ext cx="2495550" cy="0"/>
          </a:xfrm>
          <a:prstGeom prst="line">
            <a:avLst/>
          </a:prstGeom>
          <a:noFill/>
          <a:ln w="6350">
            <a:solidFill>
              <a:srgbClr val="FFFFFF">
                <a:alpha val="6000"/>
              </a:srgbClr>
            </a:solidFill>
            <a:prstDash val="solid"/>
          </a:ln>
        </p:spPr>
      </p:sp>
      <p:sp>
        <p:nvSpPr>
          <p:cNvPr id="22" name="Text 19"/>
          <p:cNvSpPr/>
          <p:nvPr/>
        </p:nvSpPr>
        <p:spPr>
          <a:xfrm>
            <a:off x="1092200" y="3113881"/>
            <a:ext cx="127087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قرب المسجد الكبير</a:t>
            </a:r>
            <a:endParaRPr lang="en-US" sz="1200" dirty="0"/>
          </a:p>
        </p:txBody>
      </p:sp>
      <p:sp>
        <p:nvSpPr>
          <p:cNvPr id="23" name="Text 20"/>
          <p:cNvSpPr/>
          <p:nvPr/>
        </p:nvSpPr>
        <p:spPr>
          <a:xfrm>
            <a:off x="3149481" y="3113881"/>
            <a:ext cx="438269"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المكان</a:t>
            </a:r>
            <a:endParaRPr lang="en-US" sz="1200" dirty="0"/>
          </a:p>
        </p:txBody>
      </p:sp>
      <p:sp>
        <p:nvSpPr>
          <p:cNvPr id="24" name="Shape 21"/>
          <p:cNvSpPr/>
          <p:nvPr/>
        </p:nvSpPr>
        <p:spPr>
          <a:xfrm>
            <a:off x="1092200" y="3376513"/>
            <a:ext cx="2495550" cy="0"/>
          </a:xfrm>
          <a:prstGeom prst="line">
            <a:avLst/>
          </a:prstGeom>
          <a:noFill/>
          <a:ln w="6350">
            <a:solidFill>
              <a:srgbClr val="FFFFFF">
                <a:alpha val="6000"/>
              </a:srgbClr>
            </a:solidFill>
            <a:prstDash val="solid"/>
          </a:ln>
        </p:spPr>
      </p:sp>
      <p:sp>
        <p:nvSpPr>
          <p:cNvPr id="25" name="Text 22"/>
          <p:cNvSpPr/>
          <p:nvPr/>
        </p:nvSpPr>
        <p:spPr>
          <a:xfrm>
            <a:off x="1092200" y="3429595"/>
            <a:ext cx="79176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ضيق تنفس</a:t>
            </a:r>
            <a:endParaRPr lang="en-US" sz="1200" dirty="0"/>
          </a:p>
        </p:txBody>
      </p:sp>
      <p:sp>
        <p:nvSpPr>
          <p:cNvPr id="26" name="Text 23"/>
          <p:cNvSpPr/>
          <p:nvPr/>
        </p:nvSpPr>
        <p:spPr>
          <a:xfrm>
            <a:off x="3190677" y="3429595"/>
            <a:ext cx="397073"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الحالة</a:t>
            </a:r>
            <a:endParaRPr lang="en-US" sz="1200" dirty="0"/>
          </a:p>
        </p:txBody>
      </p:sp>
      <p:sp>
        <p:nvSpPr>
          <p:cNvPr id="27" name="Text 24"/>
          <p:cNvSpPr/>
          <p:nvPr/>
        </p:nvSpPr>
        <p:spPr>
          <a:xfrm>
            <a:off x="889445" y="3809702"/>
            <a:ext cx="2818956" cy="23375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أقرب المستشفيات</a:t>
            </a:r>
            <a:endParaRPr lang="en-US" sz="1200" dirty="0"/>
          </a:p>
        </p:txBody>
      </p:sp>
      <p:sp>
        <p:nvSpPr>
          <p:cNvPr id="28" name="Shape 25"/>
          <p:cNvSpPr/>
          <p:nvPr/>
        </p:nvSpPr>
        <p:spPr>
          <a:xfrm>
            <a:off x="974725" y="4110137"/>
            <a:ext cx="1317625" cy="587177"/>
          </a:xfrm>
          <a:prstGeom prst="roundRect">
            <a:avLst>
              <a:gd name="adj" fmla="val 16762"/>
            </a:avLst>
          </a:prstGeom>
          <a:solidFill>
            <a:srgbClr val="152A31"/>
          </a:solidFill>
          <a:ln w="6350">
            <a:solidFill>
              <a:srgbClr val="FFFFFF">
                <a:alpha val="6000"/>
              </a:srgbClr>
            </a:solidFill>
            <a:prstDash val="solid"/>
          </a:ln>
        </p:spPr>
      </p:sp>
      <p:sp>
        <p:nvSpPr>
          <p:cNvPr id="29" name="Text 26"/>
          <p:cNvSpPr/>
          <p:nvPr/>
        </p:nvSpPr>
        <p:spPr>
          <a:xfrm>
            <a:off x="1188403" y="4189512"/>
            <a:ext cx="999173"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6EFED"/>
                </a:solidFill>
                <a:latin typeface="IBM Plex Sans Arabic" pitchFamily="34" charset="0"/>
                <a:ea typeface="IBM Plex Sans Arabic" pitchFamily="34" charset="-122"/>
                <a:cs typeface="IBM Plex Sans Arabic" pitchFamily="34" charset="-120"/>
              </a:rPr>
              <a:t>مستشفى [ب]</a:t>
            </a:r>
            <a:endParaRPr lang="en-US" sz="1200" dirty="0"/>
          </a:p>
        </p:txBody>
      </p:sp>
      <p:sp>
        <p:nvSpPr>
          <p:cNvPr id="30" name="Text 27"/>
          <p:cNvSpPr/>
          <p:nvPr/>
        </p:nvSpPr>
        <p:spPr>
          <a:xfrm>
            <a:off x="1252815" y="4399062"/>
            <a:ext cx="93476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7 د · 2 متاحة</a:t>
            </a:r>
            <a:endParaRPr lang="en-US" sz="1200" dirty="0"/>
          </a:p>
        </p:txBody>
      </p:sp>
      <p:sp>
        <p:nvSpPr>
          <p:cNvPr id="31" name="Shape 28"/>
          <p:cNvSpPr/>
          <p:nvPr/>
        </p:nvSpPr>
        <p:spPr>
          <a:xfrm>
            <a:off x="2378075" y="4113312"/>
            <a:ext cx="1323975" cy="580827"/>
          </a:xfrm>
          <a:prstGeom prst="roundRect">
            <a:avLst>
              <a:gd name="adj" fmla="val 16399"/>
            </a:avLst>
          </a:prstGeom>
          <a:solidFill>
            <a:srgbClr val="2DD4BF">
              <a:alpha val="10000"/>
            </a:srgbClr>
          </a:solidFill>
          <a:ln w="12700">
            <a:solidFill>
              <a:srgbClr val="2DD4BF"/>
            </a:solidFill>
            <a:prstDash val="solid"/>
          </a:ln>
          <a:effectLst>
            <a:outerShdw sx="100000" sy="100000" kx="0" ky="0" algn="bl" rotWithShape="0" blurRad="152400" dist="0" dir="60000">
              <a:srgbClr val="2DD4BF">
                <a:alpha val="18000"/>
              </a:srgbClr>
            </a:outerShdw>
          </a:effectLst>
        </p:spPr>
      </p:sp>
      <p:sp>
        <p:nvSpPr>
          <p:cNvPr id="32" name="Text 29"/>
          <p:cNvSpPr/>
          <p:nvPr/>
        </p:nvSpPr>
        <p:spPr>
          <a:xfrm>
            <a:off x="2708513" y="4195862"/>
            <a:ext cx="885587" cy="233263"/>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EAD4"/>
                </a:solidFill>
                <a:latin typeface="IBM Plex Sans Arabic" pitchFamily="34" charset="0"/>
                <a:ea typeface="IBM Plex Sans Arabic" pitchFamily="34" charset="-122"/>
                <a:cs typeface="IBM Plex Sans Arabic" pitchFamily="34" charset="-120"/>
              </a:rPr>
              <a:t>مستشفى [أ]</a:t>
            </a:r>
            <a:endParaRPr lang="en-US" sz="1200" dirty="0"/>
          </a:p>
        </p:txBody>
      </p:sp>
      <p:sp>
        <p:nvSpPr>
          <p:cNvPr id="33" name="Text 30"/>
          <p:cNvSpPr/>
          <p:nvPr/>
        </p:nvSpPr>
        <p:spPr>
          <a:xfrm>
            <a:off x="2659340" y="4403725"/>
            <a:ext cx="934760" cy="23326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4 د · 3 متاحة</a:t>
            </a:r>
            <a:endParaRPr lang="en-US" sz="1200" dirty="0"/>
          </a:p>
        </p:txBody>
      </p:sp>
      <p:sp>
        <p:nvSpPr>
          <p:cNvPr id="34" name="Text 31"/>
          <p:cNvSpPr/>
          <p:nvPr/>
        </p:nvSpPr>
        <p:spPr>
          <a:xfrm>
            <a:off x="971550" y="4878288"/>
            <a:ext cx="2736850" cy="424061"/>
          </a:xfrm>
          <a:prstGeom prst="roundRect">
            <a:avLst>
              <a:gd name="adj" fmla="val 23959"/>
            </a:avLst>
          </a:prstGeom>
          <a:gradFill rotWithShape="1">
            <a:gsLst>
              <a:gs pos="0">
                <a:srgbClr val="14B8A6"/>
              </a:gs>
              <a:gs pos="100000">
                <a:srgbClr val="2DD4BF"/>
              </a:gs>
            </a:gsLst>
            <a:lin ang="0" scaled="0"/>
          </a:gradFill>
          <a:ln/>
          <a:effectLst>
            <a:outerShdw sx="100000" sy="100000" kx="0" ky="0" algn="bl" rotWithShape="0" blurRad="177800" dist="76200" dir="5400000">
              <a:srgbClr val="2DD4BF">
                <a:alpha val="25000"/>
              </a:srgbClr>
            </a:outerShdw>
          </a:effectLst>
        </p:spPr>
        <p:txBody>
          <a:bodyPr wrap="square" lIns="20757" tIns="59142" rIns="20757" bIns="33742" rtlCol="0" anchor="t">
            <a:normAutofit/>
          </a:bodyPr>
          <a:lstStyle/>
          <a:p>
            <a:pPr algn="ctr" indent="0" marL="0">
              <a:lnSpc>
                <a:spcPts val="1960"/>
              </a:lnSpc>
              <a:buNone/>
            </a:pPr>
            <a:r>
              <a:rPr lang="en-US" sz="1400" b="1" dirty="0">
                <a:solidFill>
                  <a:srgbClr val="062A26"/>
                </a:solidFill>
                <a:latin typeface="IBM Plex Sans Arabic" pitchFamily="34" charset="0"/>
                <a:ea typeface="IBM Plex Sans Arabic" pitchFamily="34" charset="-122"/>
                <a:cs typeface="IBM Plex Sans Arabic" pitchFamily="34" charset="-120"/>
              </a:rPr>
              <a:t>إرسال الطلب</a:t>
            </a:r>
            <a:endParaRPr lang="en-US" sz="1400" dirty="0"/>
          </a:p>
        </p:txBody>
      </p:sp>
      <p:sp>
        <p:nvSpPr>
          <p:cNvPr id="35" name="Shape 32"/>
          <p:cNvSpPr/>
          <p:nvPr/>
        </p:nvSpPr>
        <p:spPr>
          <a:xfrm>
            <a:off x="3867150" y="2241550"/>
            <a:ext cx="4292600" cy="3225800"/>
          </a:xfrm>
          <a:prstGeom prst="rect">
            <a:avLst/>
          </a:prstGeom>
          <a:gradFill rotWithShape="1">
            <a:gsLst>
              <a:gs pos="0">
                <a:srgbClr val="17343C"/>
              </a:gs>
              <a:gs pos="70000">
                <a:srgbClr val="0F2229"/>
              </a:gs>
            </a:gsLst>
            <a:path path="circle">
              <a:fillToRect l="60000" t="40000" r="40000" b="60000"/>
            </a:path>
          </a:gradFill>
          <a:ln/>
        </p:spPr>
      </p:sp>
      <p:sp>
        <p:nvSpPr>
          <p:cNvPr id="36" name="Shape 33"/>
          <p:cNvSpPr/>
          <p:nvPr/>
        </p:nvSpPr>
        <p:spPr>
          <a:xfrm rot="21120000">
            <a:off x="3867150" y="3575050"/>
            <a:ext cx="4292600" cy="63500"/>
          </a:xfrm>
          <a:prstGeom prst="rect">
            <a:avLst/>
          </a:prstGeom>
          <a:solidFill>
            <a:srgbClr val="FFFFFF">
              <a:alpha val="6000"/>
            </a:srgbClr>
          </a:solidFill>
          <a:ln/>
        </p:spPr>
      </p:sp>
      <p:sp>
        <p:nvSpPr>
          <p:cNvPr id="37" name="Shape 34"/>
          <p:cNvSpPr/>
          <p:nvPr/>
        </p:nvSpPr>
        <p:spPr>
          <a:xfrm rot="840000">
            <a:off x="5772150" y="2241550"/>
            <a:ext cx="63500" cy="3225800"/>
          </a:xfrm>
          <a:prstGeom prst="rect">
            <a:avLst/>
          </a:prstGeom>
          <a:solidFill>
            <a:srgbClr val="FFFFFF">
              <a:alpha val="6000"/>
            </a:srgbClr>
          </a:solidFill>
          <a:ln/>
        </p:spPr>
      </p:sp>
      <p:sp>
        <p:nvSpPr>
          <p:cNvPr id="38" name="Shape 35"/>
          <p:cNvSpPr/>
          <p:nvPr/>
        </p:nvSpPr>
        <p:spPr>
          <a:xfrm rot="300000">
            <a:off x="3867150" y="4654550"/>
            <a:ext cx="4292600" cy="50800"/>
          </a:xfrm>
          <a:prstGeom prst="rect">
            <a:avLst/>
          </a:prstGeom>
          <a:solidFill>
            <a:srgbClr val="FFFFFF">
              <a:alpha val="4000"/>
            </a:srgbClr>
          </a:solidFill>
          <a:ln/>
        </p:spPr>
      </p:sp>
      <p:sp>
        <p:nvSpPr>
          <p:cNvPr id="39" name="Shape 36"/>
          <p:cNvSpPr/>
          <p:nvPr/>
        </p:nvSpPr>
        <p:spPr>
          <a:xfrm rot="21480000">
            <a:off x="3867150" y="2813050"/>
            <a:ext cx="4292600" cy="50800"/>
          </a:xfrm>
          <a:prstGeom prst="rect">
            <a:avLst/>
          </a:prstGeom>
          <a:solidFill>
            <a:srgbClr val="FFFFFF">
              <a:alpha val="4000"/>
            </a:srgbClr>
          </a:solidFill>
          <a:ln/>
        </p:spPr>
      </p:sp>
      <p:pic>
        <p:nvPicPr>
          <p:cNvPr id="40" name="Image 1" descr="connector">    </p:cNvPr>
          <p:cNvPicPr>
            <a:picLocks noChangeAspect="1"/>
          </p:cNvPicPr>
          <p:nvPr/>
        </p:nvPicPr>
        <p:blipFill>
          <a:blip r:embed="rId2"/>
          <a:srcRect l="0" r="0" t="0" b="0"/>
          <a:stretch/>
        </p:blipFill>
        <p:spPr>
          <a:xfrm>
            <a:off x="5467350" y="3765550"/>
            <a:ext cx="1092200" cy="584200"/>
          </a:xfrm>
          <a:prstGeom prst="rect">
            <a:avLst/>
          </a:prstGeom>
        </p:spPr>
      </p:pic>
      <p:pic>
        <p:nvPicPr>
          <p:cNvPr id="41" name="Image 2" descr="ellipse">    </p:cNvPr>
          <p:cNvPicPr>
            <a:picLocks noChangeAspect="1"/>
          </p:cNvPicPr>
          <p:nvPr/>
        </p:nvPicPr>
        <p:blipFill>
          <a:blip r:embed="rId3"/>
          <a:srcRect l="0" r="0" t="0" b="0"/>
          <a:stretch/>
        </p:blipFill>
        <p:spPr>
          <a:xfrm>
            <a:off x="6267450" y="3536950"/>
            <a:ext cx="609600" cy="609600"/>
          </a:xfrm>
          <a:prstGeom prst="rect">
            <a:avLst/>
          </a:prstGeom>
        </p:spPr>
      </p:pic>
      <p:pic>
        <p:nvPicPr>
          <p:cNvPr id="42" name="Image 3" descr="ellipse">    </p:cNvPr>
          <p:cNvPicPr>
            <a:picLocks noChangeAspect="1"/>
          </p:cNvPicPr>
          <p:nvPr/>
        </p:nvPicPr>
        <p:blipFill>
          <a:blip r:embed="rId4"/>
          <a:srcRect l="0" r="0" t="0" b="0"/>
          <a:stretch/>
        </p:blipFill>
        <p:spPr>
          <a:xfrm>
            <a:off x="6457950" y="3727450"/>
            <a:ext cx="228600" cy="228600"/>
          </a:xfrm>
          <a:prstGeom prst="rect">
            <a:avLst/>
          </a:prstGeom>
        </p:spPr>
      </p:pic>
      <p:sp>
        <p:nvSpPr>
          <p:cNvPr id="43" name="Shape 37"/>
          <p:cNvSpPr/>
          <p:nvPr/>
        </p:nvSpPr>
        <p:spPr>
          <a:xfrm>
            <a:off x="5137150" y="4171950"/>
            <a:ext cx="698500" cy="234950"/>
          </a:xfrm>
          <a:prstGeom prst="roundRect">
            <a:avLst>
              <a:gd name="adj" fmla="val 50000"/>
            </a:avLst>
          </a:prstGeom>
          <a:solidFill>
            <a:srgbClr val="2DD4BF"/>
          </a:solidFill>
          <a:ln/>
          <a:effectLst>
            <a:outerShdw sx="100000" sy="100000" kx="0" ky="0" algn="bl" rotWithShape="0" blurRad="50800" dist="0" dir="60000">
              <a:srgbClr val="2DD4BF">
                <a:alpha val="18000"/>
              </a:srgbClr>
            </a:outerShdw>
          </a:effectLst>
        </p:spPr>
      </p:sp>
      <p:sp>
        <p:nvSpPr>
          <p:cNvPr id="44" name="Text 38"/>
          <p:cNvSpPr/>
          <p:nvPr/>
        </p:nvSpPr>
        <p:spPr>
          <a:xfrm>
            <a:off x="5175250" y="4184650"/>
            <a:ext cx="6223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62A26"/>
                </a:solidFill>
                <a:latin typeface="IBM Plex Sans Arabic" pitchFamily="34" charset="0"/>
                <a:ea typeface="IBM Plex Sans Arabic" pitchFamily="34" charset="-122"/>
                <a:cs typeface="IBM Plex Sans Arabic" pitchFamily="34" charset="-120"/>
              </a:rPr>
              <a:t>[أ]</a:t>
            </a:r>
            <a:endParaRPr lang="en-US" sz="1200" dirty="0"/>
          </a:p>
        </p:txBody>
      </p:sp>
      <p:sp>
        <p:nvSpPr>
          <p:cNvPr id="45" name="Shape 39"/>
          <p:cNvSpPr/>
          <p:nvPr/>
        </p:nvSpPr>
        <p:spPr>
          <a:xfrm>
            <a:off x="4406900" y="3009900"/>
            <a:ext cx="685800" cy="222250"/>
          </a:xfrm>
          <a:prstGeom prst="roundRect">
            <a:avLst>
              <a:gd name="adj" fmla="val 50000"/>
            </a:avLst>
          </a:prstGeom>
          <a:solidFill>
            <a:srgbClr val="1B343C"/>
          </a:solidFill>
          <a:ln w="12700">
            <a:solidFill>
              <a:srgbClr val="2DD4BF"/>
            </a:solidFill>
            <a:prstDash val="solid"/>
          </a:ln>
        </p:spPr>
      </p:sp>
      <p:sp>
        <p:nvSpPr>
          <p:cNvPr id="46" name="Text 40"/>
          <p:cNvSpPr/>
          <p:nvPr/>
        </p:nvSpPr>
        <p:spPr>
          <a:xfrm>
            <a:off x="4451350" y="3016250"/>
            <a:ext cx="5969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EEAD4"/>
                </a:solidFill>
                <a:latin typeface="IBM Plex Sans Arabic" pitchFamily="34" charset="0"/>
                <a:ea typeface="IBM Plex Sans Arabic" pitchFamily="34" charset="-122"/>
                <a:cs typeface="IBM Plex Sans Arabic" pitchFamily="34" charset="-120"/>
              </a:rPr>
              <a:t>[ب]</a:t>
            </a:r>
            <a:endParaRPr lang="en-US" sz="1200" dirty="0"/>
          </a:p>
        </p:txBody>
      </p:sp>
      <p:sp>
        <p:nvSpPr>
          <p:cNvPr id="47" name="Shape 41"/>
          <p:cNvSpPr/>
          <p:nvPr/>
        </p:nvSpPr>
        <p:spPr>
          <a:xfrm>
            <a:off x="7048500" y="4813300"/>
            <a:ext cx="685800" cy="222250"/>
          </a:xfrm>
          <a:prstGeom prst="roundRect">
            <a:avLst>
              <a:gd name="adj" fmla="val 50000"/>
            </a:avLst>
          </a:prstGeom>
          <a:solidFill>
            <a:srgbClr val="1B343C"/>
          </a:solidFill>
          <a:ln w="12700">
            <a:solidFill>
              <a:srgbClr val="34505A"/>
            </a:solidFill>
            <a:prstDash val="solid"/>
          </a:ln>
        </p:spPr>
      </p:sp>
      <p:sp>
        <p:nvSpPr>
          <p:cNvPr id="48" name="Text 42"/>
          <p:cNvSpPr/>
          <p:nvPr/>
        </p:nvSpPr>
        <p:spPr>
          <a:xfrm>
            <a:off x="7092950" y="4819650"/>
            <a:ext cx="5969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E8782"/>
                </a:solidFill>
                <a:latin typeface="IBM Plex Sans Arabic" pitchFamily="34" charset="0"/>
                <a:ea typeface="IBM Plex Sans Arabic" pitchFamily="34" charset="-122"/>
                <a:cs typeface="IBM Plex Sans Arabic" pitchFamily="34" charset="-120"/>
              </a:rPr>
              <a:t>[ج]</a:t>
            </a:r>
            <a:endParaRPr lang="en-US" sz="1200" dirty="0"/>
          </a:p>
        </p:txBody>
      </p:sp>
      <p:sp>
        <p:nvSpPr>
          <p:cNvPr id="49" name="Shape 43"/>
          <p:cNvSpPr/>
          <p:nvPr/>
        </p:nvSpPr>
        <p:spPr>
          <a:xfrm>
            <a:off x="3997325" y="2371725"/>
            <a:ext cx="1898650" cy="577850"/>
          </a:xfrm>
          <a:prstGeom prst="roundRect">
            <a:avLst>
              <a:gd name="adj" fmla="val 17033"/>
            </a:avLst>
          </a:prstGeom>
          <a:solidFill>
            <a:srgbClr val="0F1E24">
              <a:alpha val="80000"/>
            </a:srgbClr>
          </a:solidFill>
          <a:ln w="6350">
            <a:solidFill>
              <a:srgbClr val="FFFFFF">
                <a:alpha val="10000"/>
              </a:srgbClr>
            </a:solidFill>
            <a:prstDash val="solid"/>
          </a:ln>
        </p:spPr>
      </p:sp>
      <p:sp>
        <p:nvSpPr>
          <p:cNvPr id="50" name="Text 44"/>
          <p:cNvSpPr/>
          <p:nvPr/>
        </p:nvSpPr>
        <p:spPr>
          <a:xfrm>
            <a:off x="4905613" y="2451100"/>
            <a:ext cx="885587"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6EFED"/>
                </a:solidFill>
                <a:latin typeface="IBM Plex Sans Arabic" pitchFamily="34" charset="0"/>
                <a:ea typeface="IBM Plex Sans Arabic" pitchFamily="34" charset="-122"/>
                <a:cs typeface="IBM Plex Sans Arabic" pitchFamily="34" charset="-120"/>
              </a:rPr>
              <a:t>مستشفى [أ]</a:t>
            </a:r>
            <a:endParaRPr lang="en-US" sz="1200" dirty="0"/>
          </a:p>
        </p:txBody>
      </p:sp>
      <p:sp>
        <p:nvSpPr>
          <p:cNvPr id="51" name="Text 45"/>
          <p:cNvSpPr/>
          <p:nvPr/>
        </p:nvSpPr>
        <p:spPr>
          <a:xfrm>
            <a:off x="4019074" y="2660650"/>
            <a:ext cx="1772126"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4 دقائق · 3 سيارات متاحة</a:t>
            </a:r>
            <a:endParaRPr lang="en-US" sz="1200" dirty="0"/>
          </a:p>
        </p:txBody>
      </p:sp>
      <p:sp>
        <p:nvSpPr>
          <p:cNvPr id="52" name="Shape 46"/>
          <p:cNvSpPr/>
          <p:nvPr/>
        </p:nvSpPr>
        <p:spPr>
          <a:xfrm>
            <a:off x="8159750" y="2241550"/>
            <a:ext cx="2654300" cy="3213100"/>
          </a:xfrm>
          <a:prstGeom prst="rect">
            <a:avLst/>
          </a:prstGeom>
          <a:solidFill>
            <a:srgbClr val="0C1A1F"/>
          </a:solidFill>
          <a:ln/>
        </p:spPr>
      </p:sp>
      <p:sp>
        <p:nvSpPr>
          <p:cNvPr id="53" name="Shape 47"/>
          <p:cNvSpPr/>
          <p:nvPr/>
        </p:nvSpPr>
        <p:spPr>
          <a:xfrm>
            <a:off x="8286750" y="2368550"/>
            <a:ext cx="269280" cy="209550"/>
          </a:xfrm>
          <a:prstGeom prst="roundRect">
            <a:avLst>
              <a:gd name="adj" fmla="val 50000"/>
            </a:avLst>
          </a:prstGeom>
          <a:solidFill>
            <a:srgbClr val="1B343C"/>
          </a:solidFill>
          <a:ln/>
        </p:spPr>
      </p:sp>
      <p:sp>
        <p:nvSpPr>
          <p:cNvPr id="54" name="Text 48"/>
          <p:cNvSpPr/>
          <p:nvPr/>
        </p:nvSpPr>
        <p:spPr>
          <a:xfrm>
            <a:off x="8375650" y="2368550"/>
            <a:ext cx="14228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6EFED"/>
                </a:solidFill>
                <a:latin typeface="IBM Plex Sans Arabic" pitchFamily="34" charset="0"/>
                <a:ea typeface="IBM Plex Sans Arabic" pitchFamily="34" charset="-122"/>
                <a:cs typeface="IBM Plex Sans Arabic" pitchFamily="34" charset="-120"/>
              </a:rPr>
              <a:t>3</a:t>
            </a:r>
            <a:endParaRPr lang="en-US" sz="1200" dirty="0"/>
          </a:p>
        </p:txBody>
      </p:sp>
      <p:sp>
        <p:nvSpPr>
          <p:cNvPr id="55" name="Text 49"/>
          <p:cNvSpPr/>
          <p:nvPr/>
        </p:nvSpPr>
        <p:spPr>
          <a:xfrm>
            <a:off x="9418201" y="2368550"/>
            <a:ext cx="1268849"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6EFED"/>
                </a:solidFill>
                <a:latin typeface="IBM Plex Sans Arabic" pitchFamily="34" charset="0"/>
                <a:ea typeface="IBM Plex Sans Arabic" pitchFamily="34" charset="-122"/>
                <a:cs typeface="IBM Plex Sans Arabic" pitchFamily="34" charset="-120"/>
              </a:rPr>
              <a:t>البلاغات المفتوحة</a:t>
            </a:r>
            <a:endParaRPr lang="en-US" sz="1200" dirty="0"/>
          </a:p>
        </p:txBody>
      </p:sp>
      <p:sp>
        <p:nvSpPr>
          <p:cNvPr id="56" name="Shape 50"/>
          <p:cNvSpPr/>
          <p:nvPr/>
        </p:nvSpPr>
        <p:spPr>
          <a:xfrm>
            <a:off x="8289925" y="2657475"/>
            <a:ext cx="2393950" cy="654050"/>
          </a:xfrm>
          <a:prstGeom prst="roundRect">
            <a:avLst>
              <a:gd name="adj" fmla="val 16990"/>
            </a:avLst>
          </a:prstGeom>
          <a:solidFill>
            <a:srgbClr val="2DD4BF">
              <a:alpha val="6000"/>
            </a:srgbClr>
          </a:solidFill>
          <a:ln w="6350">
            <a:solidFill>
              <a:srgbClr val="2DD4BF"/>
            </a:solidFill>
            <a:prstDash val="solid"/>
          </a:ln>
        </p:spPr>
      </p:sp>
      <p:sp>
        <p:nvSpPr>
          <p:cNvPr id="57" name="Text 51"/>
          <p:cNvSpPr/>
          <p:nvPr/>
        </p:nvSpPr>
        <p:spPr>
          <a:xfrm>
            <a:off x="8394700" y="2749550"/>
            <a:ext cx="49708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7185"/>
                </a:solidFill>
                <a:latin typeface="IBM Plex Sans Arabic" pitchFamily="34" charset="0"/>
                <a:ea typeface="IBM Plex Sans Arabic" pitchFamily="34" charset="-122"/>
                <a:cs typeface="IBM Plex Sans Arabic" pitchFamily="34" charset="-120"/>
              </a:rPr>
              <a:t>02:14</a:t>
            </a:r>
            <a:endParaRPr lang="en-US" sz="1200" dirty="0"/>
          </a:p>
        </p:txBody>
      </p:sp>
      <p:sp>
        <p:nvSpPr>
          <p:cNvPr id="58" name="Shape 52"/>
          <p:cNvSpPr/>
          <p:nvPr/>
        </p:nvSpPr>
        <p:spPr>
          <a:xfrm>
            <a:off x="9946779" y="2749550"/>
            <a:ext cx="632321" cy="209550"/>
          </a:xfrm>
          <a:prstGeom prst="roundRect">
            <a:avLst>
              <a:gd name="adj" fmla="val 50000"/>
            </a:avLst>
          </a:prstGeom>
          <a:solidFill>
            <a:srgbClr val="F43F5E">
              <a:alpha val="16000"/>
            </a:srgbClr>
          </a:solidFill>
          <a:ln/>
        </p:spPr>
      </p:sp>
      <p:sp>
        <p:nvSpPr>
          <p:cNvPr id="59" name="Text 53"/>
          <p:cNvSpPr/>
          <p:nvPr/>
        </p:nvSpPr>
        <p:spPr>
          <a:xfrm>
            <a:off x="10022979" y="2749550"/>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7185"/>
                </a:solidFill>
                <a:latin typeface="IBM Plex Sans Arabic" pitchFamily="34" charset="0"/>
                <a:ea typeface="IBM Plex Sans Arabic" pitchFamily="34" charset="-122"/>
                <a:cs typeface="IBM Plex Sans Arabic" pitchFamily="34" charset="-120"/>
              </a:rPr>
              <a:t>أولوية 1</a:t>
            </a:r>
            <a:endParaRPr lang="en-US" sz="1200" dirty="0"/>
          </a:p>
        </p:txBody>
      </p:sp>
      <p:sp>
        <p:nvSpPr>
          <p:cNvPr id="60" name="Text 54"/>
          <p:cNvSpPr/>
          <p:nvPr/>
        </p:nvSpPr>
        <p:spPr>
          <a:xfrm>
            <a:off x="8329168" y="3009900"/>
            <a:ext cx="224993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ضيق تنفس · المسجد الكبير</a:t>
            </a:r>
            <a:endParaRPr lang="en-US" sz="1200" dirty="0"/>
          </a:p>
        </p:txBody>
      </p:sp>
      <p:sp>
        <p:nvSpPr>
          <p:cNvPr id="61" name="Shape 55"/>
          <p:cNvSpPr/>
          <p:nvPr/>
        </p:nvSpPr>
        <p:spPr>
          <a:xfrm>
            <a:off x="8289925" y="3394075"/>
            <a:ext cx="2393950" cy="654050"/>
          </a:xfrm>
          <a:prstGeom prst="roundRect">
            <a:avLst>
              <a:gd name="adj" fmla="val 16990"/>
            </a:avLst>
          </a:prstGeom>
          <a:solidFill>
            <a:srgbClr val="152A31"/>
          </a:solidFill>
          <a:ln w="6350">
            <a:solidFill>
              <a:srgbClr val="FFFFFF">
                <a:alpha val="6000"/>
              </a:srgbClr>
            </a:solidFill>
            <a:prstDash val="solid"/>
          </a:ln>
        </p:spPr>
      </p:sp>
      <p:sp>
        <p:nvSpPr>
          <p:cNvPr id="62" name="Text 56"/>
          <p:cNvSpPr/>
          <p:nvPr/>
        </p:nvSpPr>
        <p:spPr>
          <a:xfrm>
            <a:off x="8394700" y="3486150"/>
            <a:ext cx="49232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00:58</a:t>
            </a:r>
            <a:endParaRPr lang="en-US" sz="1200" dirty="0"/>
          </a:p>
        </p:txBody>
      </p:sp>
      <p:sp>
        <p:nvSpPr>
          <p:cNvPr id="63" name="Shape 57"/>
          <p:cNvSpPr/>
          <p:nvPr/>
        </p:nvSpPr>
        <p:spPr>
          <a:xfrm>
            <a:off x="9946779" y="3486150"/>
            <a:ext cx="632321" cy="209550"/>
          </a:xfrm>
          <a:prstGeom prst="roundRect">
            <a:avLst>
              <a:gd name="adj" fmla="val 50000"/>
            </a:avLst>
          </a:prstGeom>
          <a:solidFill>
            <a:srgbClr val="FB923C">
              <a:alpha val="16000"/>
            </a:srgbClr>
          </a:solidFill>
          <a:ln/>
        </p:spPr>
      </p:sp>
      <p:sp>
        <p:nvSpPr>
          <p:cNvPr id="64" name="Text 58"/>
          <p:cNvSpPr/>
          <p:nvPr/>
        </p:nvSpPr>
        <p:spPr>
          <a:xfrm>
            <a:off x="10022979" y="3486150"/>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DBA74"/>
                </a:solidFill>
                <a:latin typeface="IBM Plex Sans Arabic" pitchFamily="34" charset="0"/>
                <a:ea typeface="IBM Plex Sans Arabic" pitchFamily="34" charset="-122"/>
                <a:cs typeface="IBM Plex Sans Arabic" pitchFamily="34" charset="-120"/>
              </a:rPr>
              <a:t>أولوية 2</a:t>
            </a:r>
            <a:endParaRPr lang="en-US" sz="1200" dirty="0"/>
          </a:p>
        </p:txBody>
      </p:sp>
      <p:sp>
        <p:nvSpPr>
          <p:cNvPr id="65" name="Text 59"/>
          <p:cNvSpPr/>
          <p:nvPr/>
        </p:nvSpPr>
        <p:spPr>
          <a:xfrm>
            <a:off x="8329168" y="3746500"/>
            <a:ext cx="224993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حادث سير · الطريق الرئيسي</a:t>
            </a:r>
            <a:endParaRPr lang="en-US" sz="1200" dirty="0"/>
          </a:p>
        </p:txBody>
      </p:sp>
      <p:sp>
        <p:nvSpPr>
          <p:cNvPr id="66" name="Shape 60"/>
          <p:cNvSpPr/>
          <p:nvPr/>
        </p:nvSpPr>
        <p:spPr>
          <a:xfrm>
            <a:off x="8289925" y="4130675"/>
            <a:ext cx="2393950" cy="654050"/>
          </a:xfrm>
          <a:prstGeom prst="roundRect">
            <a:avLst>
              <a:gd name="adj" fmla="val 16990"/>
            </a:avLst>
          </a:prstGeom>
          <a:solidFill>
            <a:srgbClr val="152A31"/>
          </a:solidFill>
          <a:ln w="6350">
            <a:solidFill>
              <a:srgbClr val="FFFFFF">
                <a:alpha val="6000"/>
              </a:srgbClr>
            </a:solidFill>
            <a:prstDash val="solid"/>
          </a:ln>
        </p:spPr>
      </p:sp>
      <p:sp>
        <p:nvSpPr>
          <p:cNvPr id="67" name="Text 61"/>
          <p:cNvSpPr/>
          <p:nvPr/>
        </p:nvSpPr>
        <p:spPr>
          <a:xfrm>
            <a:off x="8394700" y="4222750"/>
            <a:ext cx="49232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29D"/>
                </a:solidFill>
                <a:latin typeface="IBM Plex Sans Arabic" pitchFamily="34" charset="0"/>
                <a:ea typeface="IBM Plex Sans Arabic" pitchFamily="34" charset="-122"/>
                <a:cs typeface="IBM Plex Sans Arabic" pitchFamily="34" charset="-120"/>
              </a:rPr>
              <a:t>04:30</a:t>
            </a:r>
            <a:endParaRPr lang="en-US" sz="1200" dirty="0"/>
          </a:p>
        </p:txBody>
      </p:sp>
      <p:sp>
        <p:nvSpPr>
          <p:cNvPr id="68" name="Shape 62"/>
          <p:cNvSpPr/>
          <p:nvPr/>
        </p:nvSpPr>
        <p:spPr>
          <a:xfrm>
            <a:off x="9946779" y="4222750"/>
            <a:ext cx="632321" cy="209550"/>
          </a:xfrm>
          <a:prstGeom prst="roundRect">
            <a:avLst>
              <a:gd name="adj" fmla="val 50000"/>
            </a:avLst>
          </a:prstGeom>
          <a:solidFill>
            <a:srgbClr val="FACC15">
              <a:alpha val="14000"/>
            </a:srgbClr>
          </a:solidFill>
          <a:ln/>
        </p:spPr>
      </p:sp>
      <p:sp>
        <p:nvSpPr>
          <p:cNvPr id="69" name="Text 63"/>
          <p:cNvSpPr/>
          <p:nvPr/>
        </p:nvSpPr>
        <p:spPr>
          <a:xfrm>
            <a:off x="10022979" y="4222750"/>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DE047"/>
                </a:solidFill>
                <a:latin typeface="IBM Plex Sans Arabic" pitchFamily="34" charset="0"/>
                <a:ea typeface="IBM Plex Sans Arabic" pitchFamily="34" charset="-122"/>
                <a:cs typeface="IBM Plex Sans Arabic" pitchFamily="34" charset="-120"/>
              </a:rPr>
              <a:t>أولوية 3</a:t>
            </a:r>
            <a:endParaRPr lang="en-US" sz="1200" dirty="0"/>
          </a:p>
        </p:txBody>
      </p:sp>
      <p:sp>
        <p:nvSpPr>
          <p:cNvPr id="70" name="Text 64"/>
          <p:cNvSpPr/>
          <p:nvPr/>
        </p:nvSpPr>
        <p:spPr>
          <a:xfrm>
            <a:off x="8329168" y="4483100"/>
            <a:ext cx="224993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6EFED"/>
                </a:solidFill>
                <a:latin typeface="IBM Plex Sans Arabic" pitchFamily="34" charset="0"/>
                <a:ea typeface="IBM Plex Sans Arabic" pitchFamily="34" charset="-122"/>
                <a:cs typeface="IBM Plex Sans Arabic" pitchFamily="34" charset="-120"/>
              </a:rPr>
              <a:t>كسر في الساق · سوق الحي</a:t>
            </a:r>
            <a:endParaRPr lang="en-US" sz="1200" dirty="0"/>
          </a:p>
        </p:txBody>
      </p:sp>
      <p:sp>
        <p:nvSpPr>
          <p:cNvPr id="71" name="Shape 65"/>
          <p:cNvSpPr/>
          <p:nvPr/>
        </p:nvSpPr>
        <p:spPr>
          <a:xfrm>
            <a:off x="10814050" y="2241550"/>
            <a:ext cx="558800" cy="3213100"/>
          </a:xfrm>
          <a:custGeom>
            <a:avLst/>
            <a:gdLst/>
            <a:ahLst/>
            <a:cxnLst/>
            <a:rect l="l" t="t" r="r" b="b"/>
            <a:pathLst>
              <a:path w="558800" h="3213100">
                <a:moveTo>
                  <a:pt x="558800" y="3041650"/>
                </a:moveTo>
                <a:arcTo hR="171450" wR="171450" stAng="0" swAng="5400000"/>
                <a:lnTo>
                  <a:pt x="0" y="3213100"/>
                </a:lnTo>
                <a:lnTo>
                  <a:pt x="0" y="0"/>
                </a:lnTo>
                <a:lnTo>
                  <a:pt x="558800" y="0"/>
                </a:lnTo>
                <a:close/>
              </a:path>
            </a:pathLst>
          </a:custGeom>
          <a:solidFill>
            <a:srgbClr val="0A161A"/>
          </a:solidFill>
          <a:ln/>
        </p:spPr>
      </p:sp>
      <p:sp>
        <p:nvSpPr>
          <p:cNvPr id="72" name="Shape 66"/>
          <p:cNvSpPr/>
          <p:nvPr/>
        </p:nvSpPr>
        <p:spPr>
          <a:xfrm>
            <a:off x="10814050" y="2241550"/>
            <a:ext cx="558800" cy="3213100"/>
          </a:xfrm>
          <a:custGeom>
            <a:avLst/>
            <a:gdLst/>
            <a:ahLst/>
            <a:cxnLst/>
            <a:rect l="l" t="t" r="r" b="b"/>
            <a:pathLst>
              <a:path w="558800" h="3213100">
                <a:moveTo>
                  <a:pt x="0" y="0"/>
                </a:moveTo>
                <a:lnTo>
                  <a:pt x="6350" y="0"/>
                </a:lnTo>
                <a:lnTo>
                  <a:pt x="6350" y="3213100"/>
                </a:lnTo>
                <a:lnTo>
                  <a:pt x="0" y="3213100"/>
                </a:lnTo>
                <a:lnTo>
                  <a:pt x="0" y="0"/>
                </a:lnTo>
                <a:close/>
              </a:path>
            </a:pathLst>
          </a:custGeom>
          <a:solidFill>
            <a:srgbClr val="FFFFFF">
              <a:alpha val="6000"/>
            </a:srgbClr>
          </a:solidFill>
          <a:ln/>
        </p:spPr>
      </p:sp>
      <p:sp>
        <p:nvSpPr>
          <p:cNvPr id="73" name="Shape 67"/>
          <p:cNvSpPr/>
          <p:nvPr/>
        </p:nvSpPr>
        <p:spPr>
          <a:xfrm>
            <a:off x="10931525" y="2368550"/>
            <a:ext cx="330200" cy="330200"/>
          </a:xfrm>
          <a:prstGeom prst="roundRect">
            <a:avLst>
              <a:gd name="adj" fmla="val 30769"/>
            </a:avLst>
          </a:prstGeom>
          <a:solidFill>
            <a:srgbClr val="2DD4BF">
              <a:alpha val="16000"/>
            </a:srgbClr>
          </a:solidFill>
          <a:ln/>
        </p:spPr>
      </p:sp>
      <p:pic>
        <p:nvPicPr>
          <p:cNvPr id="74" name="Image 4" descr="Activity">    </p:cNvPr>
          <p:cNvPicPr>
            <a:picLocks noChangeAspect="1"/>
          </p:cNvPicPr>
          <p:nvPr/>
        </p:nvPicPr>
        <p:blipFill>
          <a:blip r:embed="rId5"/>
          <a:srcRect l="0" r="0" t="0" b="0"/>
          <a:stretch/>
        </p:blipFill>
        <p:spPr>
          <a:xfrm>
            <a:off x="11007725" y="2444750"/>
            <a:ext cx="177800" cy="177800"/>
          </a:xfrm>
          <a:prstGeom prst="rect">
            <a:avLst/>
          </a:prstGeom>
        </p:spPr>
      </p:pic>
      <p:pic>
        <p:nvPicPr>
          <p:cNvPr id="75" name="Image 5" descr="Chart">    </p:cNvPr>
          <p:cNvPicPr>
            <a:picLocks noChangeAspect="1"/>
          </p:cNvPicPr>
          <p:nvPr/>
        </p:nvPicPr>
        <p:blipFill>
          <a:blip r:embed="rId6"/>
          <a:srcRect l="0" r="0" t="0" b="0"/>
          <a:stretch/>
        </p:blipFill>
        <p:spPr>
          <a:xfrm>
            <a:off x="11007725" y="2838450"/>
            <a:ext cx="177800" cy="177800"/>
          </a:xfrm>
          <a:prstGeom prst="rect">
            <a:avLst/>
          </a:prstGeom>
        </p:spPr>
      </p:pic>
      <p:pic>
        <p:nvPicPr>
          <p:cNvPr id="76" name="Image 6" descr="Users">    </p:cNvPr>
          <p:cNvPicPr>
            <a:picLocks noChangeAspect="1"/>
          </p:cNvPicPr>
          <p:nvPr/>
        </p:nvPicPr>
        <p:blipFill>
          <a:blip r:embed="rId7"/>
          <a:srcRect l="0" r="0" t="0" b="0"/>
          <a:stretch/>
        </p:blipFill>
        <p:spPr>
          <a:xfrm>
            <a:off x="11007725" y="3155950"/>
            <a:ext cx="177800" cy="177800"/>
          </a:xfrm>
          <a:prstGeom prst="rect">
            <a:avLst/>
          </a:prstGeom>
        </p:spPr>
      </p:pic>
      <p:pic>
        <p:nvPicPr>
          <p:cNvPr id="77" name="Image 7" descr="Settings">    </p:cNvPr>
          <p:cNvPicPr>
            <a:picLocks noChangeAspect="1"/>
          </p:cNvPicPr>
          <p:nvPr/>
        </p:nvPicPr>
        <p:blipFill>
          <a:blip r:embed="rId8"/>
          <a:srcRect l="0" r="0" t="0" b="0"/>
          <a:stretch/>
        </p:blipFill>
        <p:spPr>
          <a:xfrm>
            <a:off x="11007725" y="3473450"/>
            <a:ext cx="177800" cy="177800"/>
          </a:xfrm>
          <a:prstGeom prst="rect">
            <a:avLst/>
          </a:prstGeom>
        </p:spPr>
      </p:pic>
      <p:sp>
        <p:nvSpPr>
          <p:cNvPr id="78" name="Shape 68"/>
          <p:cNvSpPr/>
          <p:nvPr/>
        </p:nvSpPr>
        <p:spPr>
          <a:xfrm>
            <a:off x="8013700" y="23622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79" name="Text 69"/>
          <p:cNvSpPr/>
          <p:nvPr/>
        </p:nvSpPr>
        <p:spPr>
          <a:xfrm>
            <a:off x="7988300" y="23622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1</a:t>
            </a:r>
            <a:endParaRPr lang="en-US" sz="1200" dirty="0"/>
          </a:p>
        </p:txBody>
      </p:sp>
      <p:sp>
        <p:nvSpPr>
          <p:cNvPr id="80" name="Shape 70"/>
          <p:cNvSpPr/>
          <p:nvPr/>
        </p:nvSpPr>
        <p:spPr>
          <a:xfrm>
            <a:off x="7683500" y="50165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81" name="Text 71"/>
          <p:cNvSpPr/>
          <p:nvPr/>
        </p:nvSpPr>
        <p:spPr>
          <a:xfrm>
            <a:off x="7658100" y="50165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2</a:t>
            </a:r>
            <a:endParaRPr lang="en-US" sz="1200" dirty="0"/>
          </a:p>
        </p:txBody>
      </p:sp>
      <p:sp>
        <p:nvSpPr>
          <p:cNvPr id="82" name="Shape 72"/>
          <p:cNvSpPr/>
          <p:nvPr/>
        </p:nvSpPr>
        <p:spPr>
          <a:xfrm>
            <a:off x="3708400" y="40640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83" name="Text 73"/>
          <p:cNvSpPr/>
          <p:nvPr/>
        </p:nvSpPr>
        <p:spPr>
          <a:xfrm>
            <a:off x="3683000" y="40640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3</a:t>
            </a:r>
            <a:endParaRPr lang="en-US" sz="1200" dirty="0"/>
          </a:p>
        </p:txBody>
      </p:sp>
      <p:sp>
        <p:nvSpPr>
          <p:cNvPr id="84" name="Shape 74"/>
          <p:cNvSpPr/>
          <p:nvPr/>
        </p:nvSpPr>
        <p:spPr>
          <a:xfrm>
            <a:off x="2984500" y="18669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85" name="Text 75"/>
          <p:cNvSpPr/>
          <p:nvPr/>
        </p:nvSpPr>
        <p:spPr>
          <a:xfrm>
            <a:off x="2959100" y="18669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4</a:t>
            </a:r>
            <a:endParaRPr lang="en-US" sz="1200" dirty="0"/>
          </a:p>
        </p:txBody>
      </p:sp>
      <p:sp>
        <p:nvSpPr>
          <p:cNvPr id="86" name="Shape 76"/>
          <p:cNvSpPr/>
          <p:nvPr/>
        </p:nvSpPr>
        <p:spPr>
          <a:xfrm>
            <a:off x="815975" y="5591175"/>
            <a:ext cx="2301677"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87" name="Text 77"/>
          <p:cNvSpPr/>
          <p:nvPr/>
        </p:nvSpPr>
        <p:spPr>
          <a:xfrm>
            <a:off x="933450" y="5619750"/>
            <a:ext cx="212872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1</a:t>
            </a:r>
            <a:r>
              <a:rPr lang="en-US" sz="1200" dirty="0">
                <a:solidFill>
                  <a:srgbClr val="C9DAD6"/>
                </a:solidFill>
                <a:latin typeface="IBM Plex Sans" pitchFamily="34" charset="0"/>
                <a:ea typeface="IBM Plex Sans" pitchFamily="34" charset="-122"/>
                <a:cs typeface="IBM Plex Sans" pitchFamily="34" charset="-120"/>
              </a:rPr>
              <a:t> Live queue, most urgent first</a:t>
            </a:r>
            <a:endParaRPr lang="en-US" sz="1200" dirty="0"/>
          </a:p>
        </p:txBody>
      </p:sp>
      <p:sp>
        <p:nvSpPr>
          <p:cNvPr id="88" name="Shape 78"/>
          <p:cNvSpPr/>
          <p:nvPr/>
        </p:nvSpPr>
        <p:spPr>
          <a:xfrm>
            <a:off x="3225602" y="5591175"/>
            <a:ext cx="2769691"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89" name="Text 79"/>
          <p:cNvSpPr/>
          <p:nvPr/>
        </p:nvSpPr>
        <p:spPr>
          <a:xfrm>
            <a:off x="3343077" y="5619750"/>
            <a:ext cx="261078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2</a:t>
            </a:r>
            <a:r>
              <a:rPr lang="en-US" sz="1200" dirty="0">
                <a:solidFill>
                  <a:srgbClr val="C9DAD6"/>
                </a:solidFill>
                <a:latin typeface="IBM Plex Sans" pitchFamily="34" charset="0"/>
                <a:ea typeface="IBM Plex Sans" pitchFamily="34" charset="-122"/>
                <a:cs typeface="IBM Plex Sans" pitchFamily="34" charset="-120"/>
              </a:rPr>
              <a:t> Live map of hospitals and the caller</a:t>
            </a:r>
            <a:endParaRPr lang="en-US" sz="1200" dirty="0"/>
          </a:p>
        </p:txBody>
      </p:sp>
      <p:sp>
        <p:nvSpPr>
          <p:cNvPr id="90" name="Shape 80"/>
          <p:cNvSpPr/>
          <p:nvPr/>
        </p:nvSpPr>
        <p:spPr>
          <a:xfrm>
            <a:off x="6103243" y="5591175"/>
            <a:ext cx="3067248"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91" name="Text 81"/>
          <p:cNvSpPr/>
          <p:nvPr/>
        </p:nvSpPr>
        <p:spPr>
          <a:xfrm>
            <a:off x="6220718" y="5619750"/>
            <a:ext cx="291726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3</a:t>
            </a:r>
            <a:r>
              <a:rPr lang="en-US" sz="1200" dirty="0">
                <a:solidFill>
                  <a:srgbClr val="C9DAD6"/>
                </a:solidFill>
                <a:latin typeface="IBM Plex Sans" pitchFamily="34" charset="0"/>
                <a:ea typeface="IBM Plex Sans" pitchFamily="34" charset="-122"/>
                <a:cs typeface="IBM Plex Sans" pitchFamily="34" charset="-120"/>
              </a:rPr>
              <a:t> Nearest hospitals with free ambulances</a:t>
            </a:r>
            <a:endParaRPr lang="en-US" sz="1200" dirty="0"/>
          </a:p>
        </p:txBody>
      </p:sp>
      <p:sp>
        <p:nvSpPr>
          <p:cNvPr id="92" name="Shape 82"/>
          <p:cNvSpPr/>
          <p:nvPr/>
        </p:nvSpPr>
        <p:spPr>
          <a:xfrm>
            <a:off x="9278441" y="5591175"/>
            <a:ext cx="1597620"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93" name="Text 83"/>
          <p:cNvSpPr/>
          <p:nvPr/>
        </p:nvSpPr>
        <p:spPr>
          <a:xfrm>
            <a:off x="9395916" y="5619750"/>
            <a:ext cx="141347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4</a:t>
            </a:r>
            <a:r>
              <a:rPr lang="en-US" sz="1200" dirty="0">
                <a:solidFill>
                  <a:srgbClr val="C9DAD6"/>
                </a:solidFill>
                <a:latin typeface="IBM Plex Sans" pitchFamily="34" charset="0"/>
                <a:ea typeface="IBM Plex Sans" pitchFamily="34" charset="-122"/>
                <a:cs typeface="IBM Plex Sans" pitchFamily="34" charset="-120"/>
              </a:rPr>
              <a:t> Connection status</a:t>
            </a:r>
            <a:endParaRPr lang="en-US" sz="1200" dirty="0"/>
          </a:p>
        </p:txBody>
      </p:sp>
      <p:sp>
        <p:nvSpPr>
          <p:cNvPr id="94" name="Text 84"/>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A95"/>
                </a:solidFill>
                <a:latin typeface="IBM Plex Sans" pitchFamily="34" charset="0"/>
                <a:ea typeface="IBM Plex Sans" pitchFamily="34" charset="-122"/>
                <a:cs typeface="IBM Plex Sans" pitchFamily="34" charset="-120"/>
              </a:rPr>
              <a:t>EMR-MR Sudan · System proposal and UI/UX direction · 12 · Illustrative screen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IBM Plex Sans" pitchFamily="34" charset="0"/>
                <a:ea typeface="IBM Plex Sans" pitchFamily="34" charset="-122"/>
                <a:cs typeface="IBM Plex Sans" pitchFamily="34" charset="-120"/>
              </a:rPr>
              <a:t>SCREEN 2 · FIELD APP</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4F8F7"/>
                </a:solidFill>
                <a:latin typeface="IBM Plex Sans" pitchFamily="34" charset="0"/>
                <a:ea typeface="IBM Plex Sans" pitchFamily="34" charset="-122"/>
                <a:cs typeface="IBM Plex Sans" pitchFamily="34" charset="-120"/>
              </a:rPr>
              <a:t>One phone, two modes</a:t>
            </a:r>
            <a:endParaRPr lang="en-US" sz="3200" dirty="0"/>
          </a:p>
        </p:txBody>
      </p:sp>
      <p:sp>
        <p:nvSpPr>
          <p:cNvPr id="4" name="Text 2"/>
          <p:cNvSpPr/>
          <p:nvPr/>
        </p:nvSpPr>
        <p:spPr>
          <a:xfrm>
            <a:off x="778510" y="1663700"/>
            <a:ext cx="235458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FA9A4"/>
                </a:solidFill>
                <a:latin typeface="IBM Plex Sans" pitchFamily="34" charset="0"/>
                <a:ea typeface="IBM Plex Sans" pitchFamily="34" charset="-122"/>
                <a:cs typeface="IBM Plex Sans" pitchFamily="34" charset="-120"/>
              </a:rPr>
              <a:t>Driver mode</a:t>
            </a:r>
            <a:endParaRPr lang="en-US" sz="1200" dirty="0"/>
          </a:p>
        </p:txBody>
      </p:sp>
      <p:sp>
        <p:nvSpPr>
          <p:cNvPr id="5" name="Text 3"/>
          <p:cNvSpPr/>
          <p:nvPr/>
        </p:nvSpPr>
        <p:spPr>
          <a:xfrm>
            <a:off x="3318510" y="1663700"/>
            <a:ext cx="235458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FA9A4"/>
                </a:solidFill>
                <a:latin typeface="IBM Plex Sans" pitchFamily="34" charset="0"/>
                <a:ea typeface="IBM Plex Sans" pitchFamily="34" charset="-122"/>
                <a:cs typeface="IBM Plex Sans" pitchFamily="34" charset="-120"/>
              </a:rPr>
              <a:t>Paramedic mode</a:t>
            </a:r>
            <a:endParaRPr lang="en-US" sz="1200" dirty="0"/>
          </a:p>
        </p:txBody>
      </p:sp>
      <p:sp>
        <p:nvSpPr>
          <p:cNvPr id="6" name="Shape 4"/>
          <p:cNvSpPr/>
          <p:nvPr/>
        </p:nvSpPr>
        <p:spPr>
          <a:xfrm>
            <a:off x="819150" y="1936750"/>
            <a:ext cx="2273300" cy="3898900"/>
          </a:xfrm>
          <a:prstGeom prst="roundRect">
            <a:avLst>
              <a:gd name="adj" fmla="val 15363"/>
            </a:avLst>
          </a:prstGeom>
          <a:solidFill>
            <a:srgbClr val="05090B"/>
          </a:solidFill>
          <a:ln w="12700">
            <a:solidFill>
              <a:srgbClr val="27373D"/>
            </a:solidFill>
            <a:prstDash val="solid"/>
          </a:ln>
          <a:effectLst>
            <a:outerShdw sx="100000" sy="100000" kx="0" ky="0" algn="bl" rotWithShape="0" blurRad="508000" dist="254000" dir="5400000">
              <a:srgbClr val="000000">
                <a:alpha val="50000"/>
              </a:srgbClr>
            </a:outerShdw>
          </a:effectLst>
        </p:spPr>
      </p:sp>
      <p:sp>
        <p:nvSpPr>
          <p:cNvPr id="7" name="Shape 5"/>
          <p:cNvSpPr/>
          <p:nvPr/>
        </p:nvSpPr>
        <p:spPr>
          <a:xfrm>
            <a:off x="901700" y="2019300"/>
            <a:ext cx="2108200" cy="3733800"/>
          </a:xfrm>
          <a:prstGeom prst="roundRect">
            <a:avLst>
              <a:gd name="adj" fmla="val 13253"/>
            </a:avLst>
          </a:prstGeom>
          <a:gradFill rotWithShape="1">
            <a:gsLst>
              <a:gs pos="0">
                <a:srgbClr val="FB7185"/>
              </a:gs>
              <a:gs pos="45000">
                <a:srgbClr val="E11D48"/>
              </a:gs>
              <a:gs pos="100000">
                <a:srgbClr val="4C0519"/>
              </a:gs>
            </a:gsLst>
            <a:path path="circle">
              <a:fillToRect l="50000" t="28000" r="50000" b="72000"/>
            </a:path>
          </a:gradFill>
          <a:ln/>
        </p:spPr>
      </p:sp>
      <p:sp>
        <p:nvSpPr>
          <p:cNvPr id="8" name="Shape 6"/>
          <p:cNvSpPr/>
          <p:nvPr/>
        </p:nvSpPr>
        <p:spPr>
          <a:xfrm>
            <a:off x="1127423" y="2200275"/>
            <a:ext cx="1656655" cy="252214"/>
          </a:xfrm>
          <a:prstGeom prst="roundRect">
            <a:avLst>
              <a:gd name="adj" fmla="val 50000"/>
            </a:avLst>
          </a:prstGeom>
          <a:solidFill>
            <a:srgbClr val="FFFFFF">
              <a:alpha val="18000"/>
            </a:srgbClr>
          </a:solidFill>
          <a:ln w="6350">
            <a:solidFill>
              <a:srgbClr val="FFFFFF">
                <a:alpha val="25000"/>
              </a:srgbClr>
            </a:solidFill>
            <a:prstDash val="solid"/>
          </a:ln>
        </p:spPr>
      </p:sp>
      <p:sp>
        <p:nvSpPr>
          <p:cNvPr id="9" name="Text 7"/>
          <p:cNvSpPr/>
          <p:nvPr/>
        </p:nvSpPr>
        <p:spPr>
          <a:xfrm>
            <a:off x="1232198" y="2228850"/>
            <a:ext cx="1497905" cy="220464"/>
          </a:xfrm>
          <a:prstGeom prst="rect">
            <a:avLst/>
          </a:prstGeom>
          <a:noFill/>
          <a:ln/>
        </p:spPr>
        <p:txBody>
          <a:bodyPr wrap="square" lIns="0" tIns="0" rIns="0" bIns="0" rtlCol="0" anchor="t">
            <a:normAutofit/>
          </a:bodyPr>
          <a:lstStyle/>
          <a:p>
            <a:pPr algn="l" indent="0" marL="0">
              <a:lnSpc>
                <a:spcPts val="1596"/>
              </a:lnSpc>
              <a:buNone/>
            </a:pPr>
            <a:r>
              <a:rPr lang="en-US" sz="1140" b="1" dirty="0">
                <a:solidFill>
                  <a:srgbClr val="FFF7F8"/>
                </a:solidFill>
                <a:latin typeface="IBM Plex Sans Arabic" pitchFamily="34" charset="0"/>
                <a:ea typeface="IBM Plex Sans Arabic" pitchFamily="34" charset="-122"/>
                <a:cs typeface="IBM Plex Sans Arabic" pitchFamily="34" charset="-120"/>
              </a:rPr>
              <a:t>أولوية 1 · خطر على الحياة</a:t>
            </a:r>
            <a:endParaRPr lang="en-US" sz="1140" dirty="0"/>
          </a:p>
        </p:txBody>
      </p:sp>
      <p:sp>
        <p:nvSpPr>
          <p:cNvPr id="10" name="Shape 8"/>
          <p:cNvSpPr/>
          <p:nvPr/>
        </p:nvSpPr>
        <p:spPr>
          <a:xfrm>
            <a:off x="1581150" y="2550914"/>
            <a:ext cx="749300" cy="749300"/>
          </a:xfrm>
          <a:prstGeom prst="roundRect">
            <a:avLst>
              <a:gd name="adj" fmla="val 50000"/>
            </a:avLst>
          </a:prstGeom>
          <a:solidFill>
            <a:srgbClr val="FFFFFF">
              <a:alpha val="14000"/>
            </a:srgbClr>
          </a:solidFill>
          <a:ln w="12700">
            <a:solidFill>
              <a:srgbClr val="FFFFFF">
                <a:alpha val="28000"/>
              </a:srgbClr>
            </a:solidFill>
            <a:prstDash val="solid"/>
          </a:ln>
          <a:effectLst>
            <a:outerShdw sx="100000" sy="100000" kx="0" ky="0" algn="bl" rotWithShape="0" blurRad="88900" dist="0" dir="60000">
              <a:srgbClr val="FFFFFF">
                <a:alpha val="8000"/>
              </a:srgbClr>
            </a:outerShdw>
          </a:effectLst>
        </p:spPr>
      </p:sp>
      <p:pic>
        <p:nvPicPr>
          <p:cNvPr id="11" name="Image 0" descr="Lightning">    </p:cNvPr>
          <p:cNvPicPr>
            <a:picLocks noChangeAspect="1"/>
          </p:cNvPicPr>
          <p:nvPr/>
        </p:nvPicPr>
        <p:blipFill>
          <a:blip r:embed="rId1"/>
          <a:srcRect l="0" r="0" t="0" b="0"/>
          <a:stretch/>
        </p:blipFill>
        <p:spPr>
          <a:xfrm>
            <a:off x="1778000" y="2747764"/>
            <a:ext cx="355600" cy="355600"/>
          </a:xfrm>
          <a:prstGeom prst="rect">
            <a:avLst/>
          </a:prstGeom>
        </p:spPr>
      </p:pic>
      <p:sp>
        <p:nvSpPr>
          <p:cNvPr id="12" name="Text 9"/>
          <p:cNvSpPr/>
          <p:nvPr/>
        </p:nvSpPr>
        <p:spPr>
          <a:xfrm>
            <a:off x="1436340" y="3395464"/>
            <a:ext cx="1038820" cy="320973"/>
          </a:xfrm>
          <a:prstGeom prst="rect">
            <a:avLst/>
          </a:prstGeom>
          <a:noFill/>
          <a:ln/>
        </p:spPr>
        <p:txBody>
          <a:bodyPr wrap="square" lIns="0" tIns="0" rIns="0" bIns="0" rtlCol="0" anchor="t">
            <a:normAutofit/>
          </a:bodyPr>
          <a:lstStyle/>
          <a:p>
            <a:pPr algn="ctr" indent="0" marL="0">
              <a:lnSpc>
                <a:spcPts val="2394"/>
              </a:lnSpc>
              <a:buNone/>
            </a:pPr>
            <a:r>
              <a:rPr lang="en-US" sz="1710" b="1" dirty="0">
                <a:solidFill>
                  <a:srgbClr val="FFF7F8"/>
                </a:solidFill>
                <a:latin typeface="IBM Plex Sans Arabic" pitchFamily="34" charset="0"/>
                <a:ea typeface="IBM Plex Sans Arabic" pitchFamily="34" charset="-122"/>
                <a:cs typeface="IBM Plex Sans Arabic" pitchFamily="34" charset="-120"/>
              </a:rPr>
              <a:t>بلاغ جديد</a:t>
            </a:r>
            <a:endParaRPr lang="en-US" sz="1710" dirty="0"/>
          </a:p>
        </p:txBody>
      </p:sp>
      <p:sp>
        <p:nvSpPr>
          <p:cNvPr id="13" name="Text 10"/>
          <p:cNvSpPr/>
          <p:nvPr/>
        </p:nvSpPr>
        <p:spPr>
          <a:xfrm>
            <a:off x="1055688" y="3779937"/>
            <a:ext cx="1954213" cy="415627"/>
          </a:xfrm>
          <a:prstGeom prst="rect">
            <a:avLst/>
          </a:prstGeom>
          <a:noFill/>
          <a:ln/>
        </p:spPr>
        <p:txBody>
          <a:bodyPr wrap="square" lIns="0" tIns="0" rIns="0" bIns="0" rtlCol="0" anchor="t">
            <a:normAutofit/>
          </a:bodyPr>
          <a:lstStyle/>
          <a:p>
            <a:pPr algn="l" indent="0" marL="0">
              <a:lnSpc>
                <a:spcPts val="1643"/>
              </a:lnSpc>
              <a:buNone/>
            </a:pPr>
            <a:r>
              <a:rPr lang="en-US" sz="1174" dirty="0">
                <a:solidFill>
                  <a:srgbClr val="FFE4E8"/>
                </a:solidFill>
                <a:latin typeface="IBM Plex Sans Arabic" pitchFamily="34" charset="0"/>
                <a:ea typeface="IBM Plex Sans Arabic" pitchFamily="34" charset="-122"/>
                <a:cs typeface="IBM Plex Sans Arabic" pitchFamily="34" charset="-120"/>
              </a:rPr>
              <a:t>ضيق تنفس · قرب المسجد الكبير</a:t>
            </a:r>
            <a:endParaRPr lang="en-US" sz="1174" dirty="0"/>
          </a:p>
        </p:txBody>
      </p:sp>
      <p:sp>
        <p:nvSpPr>
          <p:cNvPr id="14" name="Shape 11"/>
          <p:cNvSpPr/>
          <p:nvPr/>
        </p:nvSpPr>
        <p:spPr>
          <a:xfrm>
            <a:off x="1006475" y="4262239"/>
            <a:ext cx="1898650" cy="649486"/>
          </a:xfrm>
          <a:prstGeom prst="roundRect">
            <a:avLst>
              <a:gd name="adj" fmla="val 19065"/>
            </a:avLst>
          </a:prstGeom>
          <a:solidFill>
            <a:srgbClr val="FFFFFF">
              <a:alpha val="14000"/>
            </a:srgbClr>
          </a:solidFill>
          <a:ln w="6350">
            <a:solidFill>
              <a:srgbClr val="FFFFFF">
                <a:alpha val="22000"/>
              </a:srgbClr>
            </a:solidFill>
            <a:prstDash val="solid"/>
          </a:ln>
        </p:spPr>
      </p:sp>
      <p:sp>
        <p:nvSpPr>
          <p:cNvPr id="15" name="Text 12"/>
          <p:cNvSpPr/>
          <p:nvPr/>
        </p:nvSpPr>
        <p:spPr>
          <a:xfrm>
            <a:off x="1268115" y="4341614"/>
            <a:ext cx="393621" cy="321072"/>
          </a:xfrm>
          <a:prstGeom prst="rect">
            <a:avLst/>
          </a:prstGeom>
          <a:noFill/>
          <a:ln/>
        </p:spPr>
        <p:txBody>
          <a:bodyPr wrap="square" lIns="0" tIns="0" rIns="0" bIns="0" rtlCol="0" anchor="t">
            <a:normAutofit/>
          </a:bodyPr>
          <a:lstStyle/>
          <a:p>
            <a:pPr algn="l" indent="0" marL="0">
              <a:lnSpc>
                <a:spcPts val="2394"/>
              </a:lnSpc>
              <a:buNone/>
            </a:pPr>
            <a:r>
              <a:rPr lang="en-US" sz="1710" b="1" dirty="0">
                <a:solidFill>
                  <a:srgbClr val="FFF7F8"/>
                </a:solidFill>
                <a:latin typeface="IBM Plex Sans Arabic" pitchFamily="34" charset="0"/>
                <a:ea typeface="IBM Plex Sans Arabic" pitchFamily="34" charset="-122"/>
                <a:cs typeface="IBM Plex Sans Arabic" pitchFamily="34" charset="-120"/>
              </a:rPr>
              <a:t>3.2</a:t>
            </a:r>
            <a:endParaRPr lang="en-US" sz="1710" dirty="0"/>
          </a:p>
        </p:txBody>
      </p:sp>
      <p:sp>
        <p:nvSpPr>
          <p:cNvPr id="16" name="Text 13"/>
          <p:cNvSpPr/>
          <p:nvPr/>
        </p:nvSpPr>
        <p:spPr>
          <a:xfrm>
            <a:off x="1335881" y="4637286"/>
            <a:ext cx="192484" cy="220464"/>
          </a:xfrm>
          <a:prstGeom prst="rect">
            <a:avLst/>
          </a:prstGeom>
          <a:noFill/>
          <a:ln/>
        </p:spPr>
        <p:txBody>
          <a:bodyPr wrap="square" lIns="0" tIns="0" rIns="0" bIns="0" rtlCol="0" anchor="t">
            <a:normAutofit/>
          </a:bodyPr>
          <a:lstStyle/>
          <a:p>
            <a:pPr algn="ctr" indent="0" marL="0">
              <a:lnSpc>
                <a:spcPts val="1596"/>
              </a:lnSpc>
              <a:buNone/>
            </a:pPr>
            <a:r>
              <a:rPr lang="en-US" sz="1140" dirty="0">
                <a:solidFill>
                  <a:srgbClr val="FFE4E8"/>
                </a:solidFill>
                <a:latin typeface="IBM Plex Sans Arabic" pitchFamily="34" charset="0"/>
                <a:ea typeface="IBM Plex Sans Arabic" pitchFamily="34" charset="-122"/>
                <a:cs typeface="IBM Plex Sans Arabic" pitchFamily="34" charset="-120"/>
              </a:rPr>
              <a:t>كم</a:t>
            </a:r>
            <a:endParaRPr lang="en-US" sz="1140" dirty="0"/>
          </a:p>
        </p:txBody>
      </p:sp>
      <p:sp>
        <p:nvSpPr>
          <p:cNvPr id="17" name="Shape 14"/>
          <p:cNvSpPr/>
          <p:nvPr/>
        </p:nvSpPr>
        <p:spPr>
          <a:xfrm>
            <a:off x="1960662" y="4341614"/>
            <a:ext cx="6350" cy="490736"/>
          </a:xfrm>
          <a:prstGeom prst="rect">
            <a:avLst/>
          </a:prstGeom>
          <a:solidFill>
            <a:srgbClr val="FFFFFF">
              <a:alpha val="30000"/>
            </a:srgbClr>
          </a:solidFill>
          <a:ln/>
        </p:spPr>
      </p:sp>
      <p:sp>
        <p:nvSpPr>
          <p:cNvPr id="18" name="Text 15"/>
          <p:cNvSpPr/>
          <p:nvPr/>
        </p:nvSpPr>
        <p:spPr>
          <a:xfrm>
            <a:off x="2396927" y="4341614"/>
            <a:ext cx="181173" cy="321072"/>
          </a:xfrm>
          <a:prstGeom prst="rect">
            <a:avLst/>
          </a:prstGeom>
          <a:noFill/>
          <a:ln/>
        </p:spPr>
        <p:txBody>
          <a:bodyPr wrap="square" lIns="0" tIns="0" rIns="0" bIns="0" rtlCol="0" anchor="t">
            <a:normAutofit/>
          </a:bodyPr>
          <a:lstStyle/>
          <a:p>
            <a:pPr algn="ctr" indent="0" marL="0">
              <a:lnSpc>
                <a:spcPts val="2394"/>
              </a:lnSpc>
              <a:buNone/>
            </a:pPr>
            <a:r>
              <a:rPr lang="en-US" sz="1710" b="1" dirty="0">
                <a:solidFill>
                  <a:srgbClr val="FFF7F8"/>
                </a:solidFill>
                <a:latin typeface="IBM Plex Sans Arabic" pitchFamily="34" charset="0"/>
                <a:ea typeface="IBM Plex Sans Arabic" pitchFamily="34" charset="-122"/>
                <a:cs typeface="IBM Plex Sans Arabic" pitchFamily="34" charset="-120"/>
              </a:rPr>
              <a:t>6</a:t>
            </a:r>
            <a:endParaRPr lang="en-US" sz="1710" dirty="0"/>
          </a:p>
        </p:txBody>
      </p:sp>
      <p:sp>
        <p:nvSpPr>
          <p:cNvPr id="19" name="Text 16"/>
          <p:cNvSpPr/>
          <p:nvPr/>
        </p:nvSpPr>
        <p:spPr>
          <a:xfrm>
            <a:off x="2331541" y="4637286"/>
            <a:ext cx="374333" cy="220464"/>
          </a:xfrm>
          <a:prstGeom prst="rect">
            <a:avLst/>
          </a:prstGeom>
          <a:noFill/>
          <a:ln/>
        </p:spPr>
        <p:txBody>
          <a:bodyPr wrap="square" lIns="0" tIns="0" rIns="0" bIns="0" rtlCol="0" anchor="t">
            <a:normAutofit/>
          </a:bodyPr>
          <a:lstStyle/>
          <a:p>
            <a:pPr algn="l" indent="0" marL="0">
              <a:lnSpc>
                <a:spcPts val="1596"/>
              </a:lnSpc>
              <a:buNone/>
            </a:pPr>
            <a:r>
              <a:rPr lang="en-US" sz="1140" dirty="0">
                <a:solidFill>
                  <a:srgbClr val="FFE4E8"/>
                </a:solidFill>
                <a:latin typeface="IBM Plex Sans Arabic" pitchFamily="34" charset="0"/>
                <a:ea typeface="IBM Plex Sans Arabic" pitchFamily="34" charset="-122"/>
                <a:cs typeface="IBM Plex Sans Arabic" pitchFamily="34" charset="-120"/>
              </a:rPr>
              <a:t>دقائق</a:t>
            </a:r>
            <a:endParaRPr lang="en-US" sz="1140" dirty="0"/>
          </a:p>
        </p:txBody>
      </p:sp>
      <p:sp>
        <p:nvSpPr>
          <p:cNvPr id="20" name="Shape 17"/>
          <p:cNvSpPr/>
          <p:nvPr/>
        </p:nvSpPr>
        <p:spPr>
          <a:xfrm>
            <a:off x="1006475" y="5095875"/>
            <a:ext cx="1898650" cy="476250"/>
          </a:xfrm>
          <a:prstGeom prst="roundRect">
            <a:avLst>
              <a:gd name="adj" fmla="val 50000"/>
            </a:avLst>
          </a:prstGeom>
          <a:solidFill>
            <a:srgbClr val="FFFFFF">
              <a:alpha val="18000"/>
            </a:srgbClr>
          </a:solidFill>
          <a:ln w="6350">
            <a:solidFill>
              <a:srgbClr val="FFFFFF">
                <a:alpha val="28000"/>
              </a:srgbClr>
            </a:solidFill>
            <a:prstDash val="solid"/>
          </a:ln>
        </p:spPr>
      </p:sp>
      <p:sp>
        <p:nvSpPr>
          <p:cNvPr id="21" name="Text 18"/>
          <p:cNvSpPr/>
          <p:nvPr/>
        </p:nvSpPr>
        <p:spPr>
          <a:xfrm>
            <a:off x="1022350" y="5229225"/>
            <a:ext cx="14605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7F8"/>
                </a:solidFill>
                <a:latin typeface="IBM Plex Sans Arabic" pitchFamily="34" charset="0"/>
                <a:ea typeface="IBM Plex Sans Arabic" pitchFamily="34" charset="-122"/>
                <a:cs typeface="IBM Plex Sans Arabic" pitchFamily="34" charset="-120"/>
              </a:rPr>
              <a:t>اسحب للقبول</a:t>
            </a:r>
            <a:endParaRPr lang="en-US" sz="1200" dirty="0"/>
          </a:p>
        </p:txBody>
      </p:sp>
      <p:sp>
        <p:nvSpPr>
          <p:cNvPr id="22" name="Shape 19"/>
          <p:cNvSpPr/>
          <p:nvPr/>
        </p:nvSpPr>
        <p:spPr>
          <a:xfrm>
            <a:off x="2457450" y="5130800"/>
            <a:ext cx="406400" cy="406400"/>
          </a:xfrm>
          <a:prstGeom prst="roundRect">
            <a:avLst>
              <a:gd name="adj" fmla="val 50000"/>
            </a:avLst>
          </a:prstGeom>
          <a:solidFill>
            <a:srgbClr val="FFFFFF"/>
          </a:solidFill>
          <a:ln/>
        </p:spPr>
      </p:sp>
      <p:pic>
        <p:nvPicPr>
          <p:cNvPr id="23" name="Image 1" descr="Check">    </p:cNvPr>
          <p:cNvPicPr>
            <a:picLocks noChangeAspect="1"/>
          </p:cNvPicPr>
          <p:nvPr/>
        </p:nvPicPr>
        <p:blipFill>
          <a:blip r:embed="rId2"/>
          <a:srcRect l="0" r="0" t="0" b="0"/>
          <a:stretch/>
        </p:blipFill>
        <p:spPr>
          <a:xfrm>
            <a:off x="2559050" y="5232400"/>
            <a:ext cx="203200" cy="203200"/>
          </a:xfrm>
          <a:prstGeom prst="rect">
            <a:avLst/>
          </a:prstGeom>
        </p:spPr>
      </p:pic>
      <p:sp>
        <p:nvSpPr>
          <p:cNvPr id="24" name="Shape 20"/>
          <p:cNvSpPr/>
          <p:nvPr/>
        </p:nvSpPr>
        <p:spPr>
          <a:xfrm>
            <a:off x="3359150" y="1936750"/>
            <a:ext cx="2273300" cy="3898900"/>
          </a:xfrm>
          <a:prstGeom prst="roundRect">
            <a:avLst>
              <a:gd name="adj" fmla="val 15363"/>
            </a:avLst>
          </a:prstGeom>
          <a:solidFill>
            <a:srgbClr val="05090B"/>
          </a:solidFill>
          <a:ln w="12700">
            <a:solidFill>
              <a:srgbClr val="27373D"/>
            </a:solidFill>
            <a:prstDash val="solid"/>
          </a:ln>
          <a:effectLst>
            <a:outerShdw sx="100000" sy="100000" kx="0" ky="0" algn="bl" rotWithShape="0" blurRad="508000" dist="254000" dir="5400000">
              <a:srgbClr val="000000">
                <a:alpha val="50000"/>
              </a:srgbClr>
            </a:outerShdw>
          </a:effectLst>
        </p:spPr>
      </p:sp>
      <p:sp>
        <p:nvSpPr>
          <p:cNvPr id="25" name="Shape 21"/>
          <p:cNvSpPr/>
          <p:nvPr/>
        </p:nvSpPr>
        <p:spPr>
          <a:xfrm>
            <a:off x="3441700" y="2019300"/>
            <a:ext cx="2108200" cy="3733800"/>
          </a:xfrm>
          <a:prstGeom prst="roundRect">
            <a:avLst>
              <a:gd name="adj" fmla="val 13253"/>
            </a:avLst>
          </a:prstGeom>
          <a:solidFill>
            <a:srgbClr val="F4F7F6"/>
          </a:solidFill>
          <a:ln/>
        </p:spPr>
      </p:sp>
      <p:sp>
        <p:nvSpPr>
          <p:cNvPr id="26" name="Shape 22"/>
          <p:cNvSpPr/>
          <p:nvPr/>
        </p:nvSpPr>
        <p:spPr>
          <a:xfrm>
            <a:off x="3556000" y="2190750"/>
            <a:ext cx="955278" cy="209550"/>
          </a:xfrm>
          <a:prstGeom prst="roundRect">
            <a:avLst>
              <a:gd name="adj" fmla="val 50000"/>
            </a:avLst>
          </a:prstGeom>
          <a:solidFill>
            <a:srgbClr val="FEF3C7"/>
          </a:solidFill>
          <a:ln/>
        </p:spPr>
      </p:sp>
      <p:sp>
        <p:nvSpPr>
          <p:cNvPr id="27" name="Text 23"/>
          <p:cNvSpPr/>
          <p:nvPr/>
        </p:nvSpPr>
        <p:spPr>
          <a:xfrm>
            <a:off x="3632200" y="2190750"/>
            <a:ext cx="853678"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2400E"/>
                </a:solidFill>
                <a:latin typeface="IBM Plex Sans Arabic" pitchFamily="34" charset="0"/>
                <a:ea typeface="IBM Plex Sans Arabic" pitchFamily="34" charset="-122"/>
                <a:cs typeface="IBM Plex Sans Arabic" pitchFamily="34" charset="-120"/>
              </a:rPr>
              <a:t>غير متصل · 3</a:t>
            </a:r>
            <a:endParaRPr lang="en-US" sz="1200" dirty="0"/>
          </a:p>
        </p:txBody>
      </p:sp>
      <p:sp>
        <p:nvSpPr>
          <p:cNvPr id="28" name="Text 24"/>
          <p:cNvSpPr/>
          <p:nvPr/>
        </p:nvSpPr>
        <p:spPr>
          <a:xfrm>
            <a:off x="4817666" y="2171700"/>
            <a:ext cx="617934"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E2A33"/>
                </a:solidFill>
                <a:latin typeface="IBM Plex Sans Arabic" pitchFamily="34" charset="0"/>
                <a:ea typeface="IBM Plex Sans Arabic" pitchFamily="34" charset="-122"/>
                <a:cs typeface="IBM Plex Sans Arabic" pitchFamily="34" charset="-120"/>
              </a:rPr>
              <a:t>[الاسم]</a:t>
            </a:r>
            <a:endParaRPr lang="en-US" sz="1400" dirty="0"/>
          </a:p>
        </p:txBody>
      </p:sp>
      <p:sp>
        <p:nvSpPr>
          <p:cNvPr id="29" name="Shape 25"/>
          <p:cNvSpPr/>
          <p:nvPr/>
        </p:nvSpPr>
        <p:spPr>
          <a:xfrm>
            <a:off x="3559175" y="2498725"/>
            <a:ext cx="1873250" cy="660400"/>
          </a:xfrm>
          <a:prstGeom prst="roundRect">
            <a:avLst>
              <a:gd name="adj" fmla="val 18750"/>
            </a:avLst>
          </a:prstGeom>
          <a:gradFill rotWithShape="1">
            <a:gsLst>
              <a:gs pos="0">
                <a:srgbClr val="FFE4E6"/>
              </a:gs>
              <a:gs pos="100000">
                <a:srgbClr val="FFF1F2"/>
              </a:gs>
            </a:gsLst>
            <a:lin ang="2700000" scaled="0"/>
          </a:gradFill>
          <a:ln w="6350">
            <a:solidFill>
              <a:srgbClr val="FECDD3"/>
            </a:solidFill>
            <a:prstDash val="solid"/>
          </a:ln>
        </p:spPr>
      </p:sp>
      <p:sp>
        <p:nvSpPr>
          <p:cNvPr id="30" name="Shape 26"/>
          <p:cNvSpPr/>
          <p:nvPr/>
        </p:nvSpPr>
        <p:spPr>
          <a:xfrm>
            <a:off x="3663950" y="2724150"/>
            <a:ext cx="549771" cy="209550"/>
          </a:xfrm>
          <a:prstGeom prst="roundRect">
            <a:avLst>
              <a:gd name="adj" fmla="val 50000"/>
            </a:avLst>
          </a:prstGeom>
          <a:solidFill>
            <a:srgbClr val="E11D48"/>
          </a:solidFill>
          <a:ln/>
        </p:spPr>
      </p:sp>
      <p:sp>
        <p:nvSpPr>
          <p:cNvPr id="31" name="Text 27"/>
          <p:cNvSpPr/>
          <p:nvPr/>
        </p:nvSpPr>
        <p:spPr>
          <a:xfrm>
            <a:off x="3740150" y="2724150"/>
            <a:ext cx="44817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BM Plex Sans Arabic" pitchFamily="34" charset="0"/>
                <a:ea typeface="IBM Plex Sans Arabic" pitchFamily="34" charset="-122"/>
                <a:cs typeface="IBM Plex Sans Arabic" pitchFamily="34" charset="-120"/>
              </a:rPr>
              <a:t>مرتفعة</a:t>
            </a:r>
            <a:endParaRPr lang="en-US" sz="1200" dirty="0"/>
          </a:p>
        </p:txBody>
      </p:sp>
      <p:sp>
        <p:nvSpPr>
          <p:cNvPr id="32" name="Text 28"/>
          <p:cNvSpPr/>
          <p:nvPr/>
        </p:nvSpPr>
        <p:spPr>
          <a:xfrm>
            <a:off x="4687094" y="2565400"/>
            <a:ext cx="74215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1239"/>
                </a:solidFill>
                <a:latin typeface="IBM Plex Sans Arabic" pitchFamily="34" charset="0"/>
                <a:ea typeface="IBM Plex Sans Arabic" pitchFamily="34" charset="-122"/>
                <a:cs typeface="IBM Plex Sans Arabic" pitchFamily="34" charset="-120"/>
              </a:rPr>
              <a:t>درجة الخطر</a:t>
            </a:r>
            <a:endParaRPr lang="en-US" sz="1200" dirty="0"/>
          </a:p>
        </p:txBody>
      </p:sp>
      <p:sp>
        <p:nvSpPr>
          <p:cNvPr id="33" name="Text 29"/>
          <p:cNvSpPr/>
          <p:nvPr/>
        </p:nvSpPr>
        <p:spPr>
          <a:xfrm>
            <a:off x="5139630" y="2774950"/>
            <a:ext cx="188020" cy="34290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E11D48"/>
                </a:solidFill>
                <a:latin typeface="IBM Plex Sans Arabic" pitchFamily="34" charset="0"/>
                <a:ea typeface="IBM Plex Sans Arabic" pitchFamily="34" charset="-122"/>
                <a:cs typeface="IBM Plex Sans Arabic" pitchFamily="34" charset="-120"/>
              </a:rPr>
              <a:t>7</a:t>
            </a:r>
            <a:endParaRPr lang="en-US" sz="1800" dirty="0"/>
          </a:p>
        </p:txBody>
      </p:sp>
      <p:sp>
        <p:nvSpPr>
          <p:cNvPr id="34" name="Shape 30"/>
          <p:cNvSpPr/>
          <p:nvPr/>
        </p:nvSpPr>
        <p:spPr>
          <a:xfrm>
            <a:off x="3556000" y="3238500"/>
            <a:ext cx="908050" cy="654050"/>
          </a:xfrm>
          <a:prstGeom prst="roundRect">
            <a:avLst>
              <a:gd name="adj" fmla="val 17476"/>
            </a:avLst>
          </a:prstGeom>
          <a:solidFill>
            <a:srgbClr val="FFFFFF"/>
          </a:solidFill>
          <a:ln/>
          <a:effectLst>
            <a:outerShdw sx="100000" sy="100000" kx="0" ky="0" algn="bl" rotWithShape="0" blurRad="88900" dist="25400" dir="5400000">
              <a:srgbClr val="0E2A33">
                <a:alpha val="6000"/>
              </a:srgbClr>
            </a:outerShdw>
          </a:effectLst>
        </p:spPr>
      </p:sp>
      <p:sp>
        <p:nvSpPr>
          <p:cNvPr id="35" name="Text 31"/>
          <p:cNvSpPr/>
          <p:nvPr/>
        </p:nvSpPr>
        <p:spPr>
          <a:xfrm>
            <a:off x="3895923" y="3302000"/>
            <a:ext cx="479227"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الضغط</a:t>
            </a:r>
            <a:endParaRPr lang="en-US" sz="1200" dirty="0"/>
          </a:p>
        </p:txBody>
      </p:sp>
      <p:sp>
        <p:nvSpPr>
          <p:cNvPr id="36" name="Text 32"/>
          <p:cNvSpPr/>
          <p:nvPr/>
        </p:nvSpPr>
        <p:spPr>
          <a:xfrm>
            <a:off x="3590528" y="3511550"/>
            <a:ext cx="784622" cy="34290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0E2A33"/>
                </a:solidFill>
                <a:latin typeface="IBM Plex Sans Arabic" pitchFamily="34" charset="0"/>
                <a:ea typeface="IBM Plex Sans Arabic" pitchFamily="34" charset="-122"/>
                <a:cs typeface="IBM Plex Sans Arabic" pitchFamily="34" charset="-120"/>
              </a:rPr>
              <a:t>90/60</a:t>
            </a:r>
            <a:endParaRPr lang="en-US" sz="1800" dirty="0"/>
          </a:p>
        </p:txBody>
      </p:sp>
      <p:sp>
        <p:nvSpPr>
          <p:cNvPr id="37" name="Shape 33"/>
          <p:cNvSpPr/>
          <p:nvPr/>
        </p:nvSpPr>
        <p:spPr>
          <a:xfrm>
            <a:off x="4527550" y="3238500"/>
            <a:ext cx="908050" cy="654050"/>
          </a:xfrm>
          <a:prstGeom prst="roundRect">
            <a:avLst>
              <a:gd name="adj" fmla="val 17476"/>
            </a:avLst>
          </a:prstGeom>
          <a:solidFill>
            <a:srgbClr val="FFFFFF"/>
          </a:solidFill>
          <a:ln/>
          <a:effectLst>
            <a:outerShdw sx="100000" sy="100000" kx="0" ky="0" algn="bl" rotWithShape="0" blurRad="88900" dist="25400" dir="5400000">
              <a:srgbClr val="0E2A33">
                <a:alpha val="6000"/>
              </a:srgbClr>
            </a:outerShdw>
          </a:effectLst>
        </p:spPr>
      </p:sp>
      <p:sp>
        <p:nvSpPr>
          <p:cNvPr id="38" name="Text 34"/>
          <p:cNvSpPr/>
          <p:nvPr/>
        </p:nvSpPr>
        <p:spPr>
          <a:xfrm>
            <a:off x="4913551" y="3302000"/>
            <a:ext cx="433149"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النبض</a:t>
            </a:r>
            <a:endParaRPr lang="en-US" sz="1200" dirty="0"/>
          </a:p>
        </p:txBody>
      </p:sp>
      <p:sp>
        <p:nvSpPr>
          <p:cNvPr id="39" name="Text 35"/>
          <p:cNvSpPr/>
          <p:nvPr/>
        </p:nvSpPr>
        <p:spPr>
          <a:xfrm>
            <a:off x="4852829" y="3511550"/>
            <a:ext cx="493871" cy="34290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E11D48"/>
                </a:solidFill>
                <a:latin typeface="IBM Plex Sans Arabic" pitchFamily="34" charset="0"/>
                <a:ea typeface="IBM Plex Sans Arabic" pitchFamily="34" charset="-122"/>
                <a:cs typeface="IBM Plex Sans Arabic" pitchFamily="34" charset="-120"/>
              </a:rPr>
              <a:t>112</a:t>
            </a:r>
            <a:endParaRPr lang="en-US" sz="1800" dirty="0"/>
          </a:p>
        </p:txBody>
      </p:sp>
      <p:sp>
        <p:nvSpPr>
          <p:cNvPr id="40" name="Shape 36"/>
          <p:cNvSpPr/>
          <p:nvPr/>
        </p:nvSpPr>
        <p:spPr>
          <a:xfrm>
            <a:off x="3556000" y="3956050"/>
            <a:ext cx="908050" cy="654050"/>
          </a:xfrm>
          <a:prstGeom prst="roundRect">
            <a:avLst>
              <a:gd name="adj" fmla="val 17476"/>
            </a:avLst>
          </a:prstGeom>
          <a:solidFill>
            <a:srgbClr val="FFFFFF"/>
          </a:solidFill>
          <a:ln/>
          <a:effectLst>
            <a:outerShdw sx="100000" sy="100000" kx="0" ky="0" algn="bl" rotWithShape="0" blurRad="88900" dist="25400" dir="5400000">
              <a:srgbClr val="0E2A33">
                <a:alpha val="6000"/>
              </a:srgbClr>
            </a:outerShdw>
          </a:effectLst>
        </p:spPr>
      </p:sp>
      <p:sp>
        <p:nvSpPr>
          <p:cNvPr id="41" name="Text 37"/>
          <p:cNvSpPr/>
          <p:nvPr/>
        </p:nvSpPr>
        <p:spPr>
          <a:xfrm>
            <a:off x="3934023" y="4019550"/>
            <a:ext cx="441127"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الحرارة</a:t>
            </a:r>
            <a:endParaRPr lang="en-US" sz="1200" dirty="0"/>
          </a:p>
        </p:txBody>
      </p:sp>
      <p:sp>
        <p:nvSpPr>
          <p:cNvPr id="42" name="Text 38"/>
          <p:cNvSpPr/>
          <p:nvPr/>
        </p:nvSpPr>
        <p:spPr>
          <a:xfrm>
            <a:off x="3796268" y="4229100"/>
            <a:ext cx="578882" cy="34290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0E2A33"/>
                </a:solidFill>
                <a:latin typeface="IBM Plex Sans Arabic" pitchFamily="34" charset="0"/>
                <a:ea typeface="IBM Plex Sans Arabic" pitchFamily="34" charset="-122"/>
                <a:cs typeface="IBM Plex Sans Arabic" pitchFamily="34" charset="-120"/>
              </a:rPr>
              <a:t>38.2</a:t>
            </a:r>
            <a:endParaRPr lang="en-US" sz="1800" dirty="0"/>
          </a:p>
        </p:txBody>
      </p:sp>
      <p:sp>
        <p:nvSpPr>
          <p:cNvPr id="43" name="Shape 39"/>
          <p:cNvSpPr/>
          <p:nvPr/>
        </p:nvSpPr>
        <p:spPr>
          <a:xfrm>
            <a:off x="4527550" y="3956050"/>
            <a:ext cx="908050" cy="654050"/>
          </a:xfrm>
          <a:prstGeom prst="roundRect">
            <a:avLst>
              <a:gd name="adj" fmla="val 17476"/>
            </a:avLst>
          </a:prstGeom>
          <a:solidFill>
            <a:srgbClr val="FFFFFF"/>
          </a:solidFill>
          <a:ln/>
          <a:effectLst>
            <a:outerShdw sx="100000" sy="100000" kx="0" ky="0" algn="bl" rotWithShape="0" blurRad="88900" dist="25400" dir="5400000">
              <a:srgbClr val="0E2A33">
                <a:alpha val="6000"/>
              </a:srgbClr>
            </a:outerShdw>
          </a:effectLst>
        </p:spPr>
      </p:sp>
      <p:sp>
        <p:nvSpPr>
          <p:cNvPr id="44" name="Text 40"/>
          <p:cNvSpPr/>
          <p:nvPr/>
        </p:nvSpPr>
        <p:spPr>
          <a:xfrm>
            <a:off x="4683879" y="4019550"/>
            <a:ext cx="662821"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الأكسجين</a:t>
            </a:r>
            <a:endParaRPr lang="en-US" sz="1200" dirty="0"/>
          </a:p>
        </p:txBody>
      </p:sp>
      <p:sp>
        <p:nvSpPr>
          <p:cNvPr id="45" name="Text 41"/>
          <p:cNvSpPr/>
          <p:nvPr/>
        </p:nvSpPr>
        <p:spPr>
          <a:xfrm>
            <a:off x="4750316" y="4229100"/>
            <a:ext cx="596384" cy="34290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E11D48"/>
                </a:solidFill>
                <a:latin typeface="IBM Plex Sans Arabic" pitchFamily="34" charset="0"/>
                <a:ea typeface="IBM Plex Sans Arabic" pitchFamily="34" charset="-122"/>
                <a:cs typeface="IBM Plex Sans Arabic" pitchFamily="34" charset="-120"/>
              </a:rPr>
              <a:t>91%</a:t>
            </a:r>
            <a:endParaRPr lang="en-US" sz="1800" dirty="0"/>
          </a:p>
        </p:txBody>
      </p:sp>
      <p:sp>
        <p:nvSpPr>
          <p:cNvPr id="46" name="Shape 42"/>
          <p:cNvSpPr/>
          <p:nvPr/>
        </p:nvSpPr>
        <p:spPr>
          <a:xfrm>
            <a:off x="3556000" y="5187950"/>
            <a:ext cx="1879600" cy="412750"/>
          </a:xfrm>
          <a:prstGeom prst="roundRect">
            <a:avLst>
              <a:gd name="adj" fmla="val 50000"/>
            </a:avLst>
          </a:prstGeom>
          <a:gradFill rotWithShape="1">
            <a:gsLst>
              <a:gs pos="0">
                <a:srgbClr val="0B6E64"/>
              </a:gs>
              <a:gs pos="100000">
                <a:srgbClr val="14B8A6"/>
              </a:gs>
            </a:gsLst>
            <a:lin ang="0" scaled="0"/>
          </a:gradFill>
          <a:ln/>
          <a:effectLst>
            <a:outerShdw sx="100000" sy="100000" kx="0" ky="0" algn="bl" rotWithShape="0" blurRad="152400" dist="63500" dir="5400000">
              <a:srgbClr val="14B8A6">
                <a:alpha val="35000"/>
              </a:srgbClr>
            </a:outerShdw>
          </a:effectLst>
        </p:spPr>
      </p:sp>
      <p:sp>
        <p:nvSpPr>
          <p:cNvPr id="47" name="Text 43"/>
          <p:cNvSpPr/>
          <p:nvPr/>
        </p:nvSpPr>
        <p:spPr>
          <a:xfrm>
            <a:off x="3632200" y="5289550"/>
            <a:ext cx="1727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FFF"/>
                </a:solidFill>
                <a:latin typeface="IBM Plex Sans Arabic" pitchFamily="34" charset="0"/>
                <a:ea typeface="IBM Plex Sans Arabic" pitchFamily="34" charset="-122"/>
                <a:cs typeface="IBM Plex Sans Arabic" pitchFamily="34" charset="-120"/>
              </a:rPr>
              <a:t>إرسال الملخص للمستشفى</a:t>
            </a:r>
            <a:endParaRPr lang="en-US" sz="1200" dirty="0"/>
          </a:p>
        </p:txBody>
      </p:sp>
      <p:sp>
        <p:nvSpPr>
          <p:cNvPr id="48" name="Shape 44"/>
          <p:cNvSpPr/>
          <p:nvPr/>
        </p:nvSpPr>
        <p:spPr>
          <a:xfrm>
            <a:off x="6149975" y="2098675"/>
            <a:ext cx="450850" cy="450850"/>
          </a:xfrm>
          <a:prstGeom prst="roundRect">
            <a:avLst>
              <a:gd name="adj" fmla="val 27465"/>
            </a:avLst>
          </a:prstGeom>
          <a:solidFill>
            <a:srgbClr val="F43F5E">
              <a:alpha val="14000"/>
            </a:srgbClr>
          </a:solidFill>
          <a:ln w="6350">
            <a:solidFill>
              <a:srgbClr val="F43F5E">
                <a:alpha val="30000"/>
              </a:srgbClr>
            </a:solidFill>
            <a:prstDash val="solid"/>
          </a:ln>
        </p:spPr>
      </p:sp>
      <p:pic>
        <p:nvPicPr>
          <p:cNvPr id="49" name="Image 2" descr="Lightning">    </p:cNvPr>
          <p:cNvPicPr>
            <a:picLocks noChangeAspect="1"/>
          </p:cNvPicPr>
          <p:nvPr/>
        </p:nvPicPr>
        <p:blipFill>
          <a:blip r:embed="rId3"/>
          <a:srcRect l="0" r="0" t="0" b="0"/>
          <a:stretch/>
        </p:blipFill>
        <p:spPr>
          <a:xfrm>
            <a:off x="6261100" y="2209800"/>
            <a:ext cx="228600" cy="228600"/>
          </a:xfrm>
          <a:prstGeom prst="rect">
            <a:avLst/>
          </a:prstGeom>
        </p:spPr>
      </p:pic>
      <p:sp>
        <p:nvSpPr>
          <p:cNvPr id="50" name="Text 45"/>
          <p:cNvSpPr/>
          <p:nvPr/>
        </p:nvSpPr>
        <p:spPr>
          <a:xfrm>
            <a:off x="6781800" y="2095500"/>
            <a:ext cx="4735322"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8F7"/>
                </a:solidFill>
                <a:latin typeface="IBM Plex Sans" pitchFamily="34" charset="0"/>
                <a:ea typeface="IBM Plex Sans" pitchFamily="34" charset="-122"/>
                <a:cs typeface="IBM Plex Sans" pitchFamily="34" charset="-120"/>
              </a:rPr>
              <a:t>A job alert that cannot be missed</a:t>
            </a:r>
            <a:endParaRPr lang="en-US" sz="1800" dirty="0"/>
          </a:p>
        </p:txBody>
      </p:sp>
      <p:sp>
        <p:nvSpPr>
          <p:cNvPr id="51" name="Text 46"/>
          <p:cNvSpPr/>
          <p:nvPr/>
        </p:nvSpPr>
        <p:spPr>
          <a:xfrm>
            <a:off x="6781800" y="2419350"/>
            <a:ext cx="4735322"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0BB"/>
                </a:solidFill>
                <a:latin typeface="IBM Plex Sans" pitchFamily="34" charset="0"/>
                <a:ea typeface="IBM Plex Sans" pitchFamily="34" charset="-122"/>
                <a:cs typeface="IBM Plex Sans" pitchFamily="34" charset="-120"/>
              </a:rPr>
              <a:t>Full-screen alarm, even when locked or silent; if not confirmed, the hospital phones the crew.</a:t>
            </a:r>
            <a:endParaRPr lang="en-US" sz="1400" dirty="0"/>
          </a:p>
        </p:txBody>
      </p:sp>
      <p:sp>
        <p:nvSpPr>
          <p:cNvPr id="52" name="Shape 47"/>
          <p:cNvSpPr/>
          <p:nvPr/>
        </p:nvSpPr>
        <p:spPr>
          <a:xfrm>
            <a:off x="6149975" y="3432175"/>
            <a:ext cx="450850" cy="450850"/>
          </a:xfrm>
          <a:prstGeom prst="roundRect">
            <a:avLst>
              <a:gd name="adj" fmla="val 27465"/>
            </a:avLst>
          </a:prstGeom>
          <a:solidFill>
            <a:srgbClr val="FBBF24">
              <a:alpha val="14000"/>
            </a:srgbClr>
          </a:solidFill>
          <a:ln w="6350">
            <a:solidFill>
              <a:srgbClr val="FBBF24">
                <a:alpha val="30000"/>
              </a:srgbClr>
            </a:solidFill>
            <a:prstDash val="solid"/>
          </a:ln>
        </p:spPr>
      </p:sp>
      <p:pic>
        <p:nvPicPr>
          <p:cNvPr id="53" name="Image 3" descr="Cloud">    </p:cNvPr>
          <p:cNvPicPr>
            <a:picLocks noChangeAspect="1"/>
          </p:cNvPicPr>
          <p:nvPr/>
        </p:nvPicPr>
        <p:blipFill>
          <a:blip r:embed="rId4"/>
          <a:srcRect l="0" r="0" t="0" b="0"/>
          <a:stretch/>
        </p:blipFill>
        <p:spPr>
          <a:xfrm>
            <a:off x="6261100" y="3543300"/>
            <a:ext cx="228600" cy="228600"/>
          </a:xfrm>
          <a:prstGeom prst="rect">
            <a:avLst/>
          </a:prstGeom>
        </p:spPr>
      </p:pic>
      <p:sp>
        <p:nvSpPr>
          <p:cNvPr id="54" name="Text 48"/>
          <p:cNvSpPr/>
          <p:nvPr/>
        </p:nvSpPr>
        <p:spPr>
          <a:xfrm>
            <a:off x="6781800" y="3429000"/>
            <a:ext cx="4735322"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8F7"/>
                </a:solidFill>
                <a:latin typeface="IBM Plex Sans" pitchFamily="34" charset="0"/>
                <a:ea typeface="IBM Plex Sans" pitchFamily="34" charset="-122"/>
                <a:cs typeface="IBM Plex Sans" pitchFamily="34" charset="-120"/>
              </a:rPr>
              <a:t>Keeps working offline</a:t>
            </a:r>
            <a:endParaRPr lang="en-US" sz="1800" dirty="0"/>
          </a:p>
        </p:txBody>
      </p:sp>
      <p:sp>
        <p:nvSpPr>
          <p:cNvPr id="55" name="Text 49"/>
          <p:cNvSpPr/>
          <p:nvPr/>
        </p:nvSpPr>
        <p:spPr>
          <a:xfrm>
            <a:off x="6781800" y="3752850"/>
            <a:ext cx="4735322"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0BB"/>
                </a:solidFill>
                <a:latin typeface="IBM Plex Sans" pitchFamily="34" charset="0"/>
                <a:ea typeface="IBM Plex Sans" pitchFamily="34" charset="-122"/>
                <a:cs typeface="IBM Plex Sans" pitchFamily="34" charset="-120"/>
              </a:rPr>
              <a:t>Saved on the phone first and sent in order when the signal returns.</a:t>
            </a:r>
            <a:endParaRPr lang="en-US" sz="1400" dirty="0"/>
          </a:p>
        </p:txBody>
      </p:sp>
      <p:sp>
        <p:nvSpPr>
          <p:cNvPr id="56" name="Shape 50"/>
          <p:cNvSpPr/>
          <p:nvPr/>
        </p:nvSpPr>
        <p:spPr>
          <a:xfrm>
            <a:off x="6149975" y="4765675"/>
            <a:ext cx="450850" cy="450850"/>
          </a:xfrm>
          <a:prstGeom prst="roundRect">
            <a:avLst>
              <a:gd name="adj" fmla="val 27465"/>
            </a:avLst>
          </a:prstGeom>
          <a:solidFill>
            <a:srgbClr val="2DD4BF">
              <a:alpha val="14000"/>
            </a:srgbClr>
          </a:solidFill>
          <a:ln w="6350">
            <a:solidFill>
              <a:srgbClr val="2DD4BF">
                <a:alpha val="30000"/>
              </a:srgbClr>
            </a:solidFill>
            <a:prstDash val="solid"/>
          </a:ln>
        </p:spPr>
      </p:sp>
      <p:pic>
        <p:nvPicPr>
          <p:cNvPr id="57" name="Image 4" descr="Activity">    </p:cNvPr>
          <p:cNvPicPr>
            <a:picLocks noChangeAspect="1"/>
          </p:cNvPicPr>
          <p:nvPr/>
        </p:nvPicPr>
        <p:blipFill>
          <a:blip r:embed="rId5"/>
          <a:srcRect l="0" r="0" t="0" b="0"/>
          <a:stretch/>
        </p:blipFill>
        <p:spPr>
          <a:xfrm>
            <a:off x="6261100" y="4876800"/>
            <a:ext cx="228600" cy="228600"/>
          </a:xfrm>
          <a:prstGeom prst="rect">
            <a:avLst/>
          </a:prstGeom>
        </p:spPr>
      </p:pic>
      <p:sp>
        <p:nvSpPr>
          <p:cNvPr id="58" name="Text 51"/>
          <p:cNvSpPr/>
          <p:nvPr/>
        </p:nvSpPr>
        <p:spPr>
          <a:xfrm>
            <a:off x="6781800" y="4762500"/>
            <a:ext cx="4735322"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8F7"/>
                </a:solidFill>
                <a:latin typeface="IBM Plex Sans" pitchFamily="34" charset="0"/>
                <a:ea typeface="IBM Plex Sans" pitchFamily="34" charset="-122"/>
                <a:cs typeface="IBM Plex Sans" pitchFamily="34" charset="-120"/>
              </a:rPr>
              <a:t>Care report in a few taps</a:t>
            </a:r>
            <a:endParaRPr lang="en-US" sz="1800" dirty="0"/>
          </a:p>
        </p:txBody>
      </p:sp>
      <p:sp>
        <p:nvSpPr>
          <p:cNvPr id="59" name="Text 52"/>
          <p:cNvSpPr/>
          <p:nvPr/>
        </p:nvSpPr>
        <p:spPr>
          <a:xfrm>
            <a:off x="6781800" y="5086350"/>
            <a:ext cx="4735322"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0BB"/>
                </a:solidFill>
                <a:latin typeface="IBM Plex Sans" pitchFamily="34" charset="0"/>
                <a:ea typeface="IBM Plex Sans" pitchFamily="34" charset="-122"/>
                <a:cs typeface="IBM Plex Sans" pitchFamily="34" charset="-120"/>
              </a:rPr>
              <a:t>Timed vital signs, an automatic danger score, one tap to the hospital.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IBM Plex Sans" pitchFamily="34" charset="0"/>
                <a:ea typeface="IBM Plex Sans" pitchFamily="34" charset="-122"/>
                <a:cs typeface="IBM Plex Sans" pitchFamily="34" charset="-120"/>
              </a:rPr>
              <a:t>SCREEN 3 · HOSPITAL EMERGENCY PORTAL</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4F8F7"/>
                </a:solidFill>
                <a:latin typeface="IBM Plex Sans" pitchFamily="34" charset="0"/>
                <a:ea typeface="IBM Plex Sans" pitchFamily="34" charset="-122"/>
                <a:cs typeface="IBM Plex Sans" pitchFamily="34" charset="-120"/>
              </a:rPr>
              <a:t>Know who is coming before they arrive</a:t>
            </a:r>
            <a:endParaRPr lang="en-US" sz="3200" dirty="0"/>
          </a:p>
        </p:txBody>
      </p:sp>
      <p:sp>
        <p:nvSpPr>
          <p:cNvPr id="4" name="Shape 2"/>
          <p:cNvSpPr/>
          <p:nvPr/>
        </p:nvSpPr>
        <p:spPr>
          <a:xfrm>
            <a:off x="812800" y="1778000"/>
            <a:ext cx="10566400" cy="3683000"/>
          </a:xfrm>
          <a:prstGeom prst="roundRect">
            <a:avLst>
              <a:gd name="adj" fmla="val 4828"/>
            </a:avLst>
          </a:prstGeom>
          <a:solidFill>
            <a:srgbClr val="F4F7F6"/>
          </a:solidFill>
          <a:ln/>
          <a:effectLst>
            <a:outerShdw sx="100000" sy="100000" kx="0" ky="0" algn="bl" rotWithShape="0" blurRad="508000" dist="254000" dir="5400000">
              <a:srgbClr val="000000">
                <a:alpha val="45000"/>
              </a:srgbClr>
            </a:outerShdw>
          </a:effectLst>
        </p:spPr>
      </p:sp>
      <p:sp>
        <p:nvSpPr>
          <p:cNvPr id="5" name="Shape 3"/>
          <p:cNvSpPr/>
          <p:nvPr/>
        </p:nvSpPr>
        <p:spPr>
          <a:xfrm>
            <a:off x="812800" y="1778000"/>
            <a:ext cx="10566400" cy="457200"/>
          </a:xfrm>
          <a:custGeom>
            <a:avLst/>
            <a:gdLst/>
            <a:ahLst/>
            <a:cxnLst/>
            <a:rect l="l" t="t" r="r" b="b"/>
            <a:pathLst>
              <a:path w="10566400" h="457200">
                <a:moveTo>
                  <a:pt x="0" y="177800"/>
                </a:moveTo>
                <a:arcTo hR="177800" wR="177800" stAng="10800000" swAng="5400000"/>
                <a:lnTo>
                  <a:pt x="10388600" y="0"/>
                </a:lnTo>
                <a:arcTo hR="177800" wR="177800" stAng="16200000" swAng="5400000"/>
                <a:lnTo>
                  <a:pt x="10566400" y="457200"/>
                </a:lnTo>
                <a:lnTo>
                  <a:pt x="0" y="457200"/>
                </a:lnTo>
                <a:close/>
              </a:path>
            </a:pathLst>
          </a:custGeom>
          <a:solidFill>
            <a:srgbClr val="FFFFFF"/>
          </a:solidFill>
          <a:ln/>
        </p:spPr>
      </p:sp>
      <p:sp>
        <p:nvSpPr>
          <p:cNvPr id="6" name="Shape 4"/>
          <p:cNvSpPr/>
          <p:nvPr/>
        </p:nvSpPr>
        <p:spPr>
          <a:xfrm>
            <a:off x="812800" y="1778000"/>
            <a:ext cx="10566400" cy="457200"/>
          </a:xfrm>
          <a:custGeom>
            <a:avLst/>
            <a:gdLst/>
            <a:ahLst/>
            <a:cxnLst/>
            <a:rect l="l" t="t" r="r" b="b"/>
            <a:pathLst>
              <a:path w="10566400" h="457200">
                <a:moveTo>
                  <a:pt x="0" y="450850"/>
                </a:moveTo>
                <a:lnTo>
                  <a:pt x="10566400" y="450850"/>
                </a:lnTo>
                <a:lnTo>
                  <a:pt x="10566400" y="457200"/>
                </a:lnTo>
                <a:lnTo>
                  <a:pt x="0" y="457200"/>
                </a:lnTo>
                <a:lnTo>
                  <a:pt x="0" y="450850"/>
                </a:lnTo>
                <a:close/>
              </a:path>
            </a:pathLst>
          </a:custGeom>
          <a:solidFill>
            <a:srgbClr val="E5ECEA"/>
          </a:solidFill>
          <a:ln/>
        </p:spPr>
      </p:sp>
      <p:sp>
        <p:nvSpPr>
          <p:cNvPr id="7" name="Text 5"/>
          <p:cNvSpPr/>
          <p:nvPr/>
        </p:nvSpPr>
        <p:spPr>
          <a:xfrm>
            <a:off x="965200" y="185102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2DD4BF"/>
              </a:gs>
              <a:gs pos="100000">
                <a:srgbClr val="0EA5E9"/>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062A26"/>
                </a:solidFill>
                <a:latin typeface="IBM Plex Sans Arabic" pitchFamily="34" charset="0"/>
                <a:ea typeface="IBM Plex Sans Arabic" pitchFamily="34" charset="-122"/>
                <a:cs typeface="IBM Plex Sans Arabic" pitchFamily="34" charset="-120"/>
              </a:rPr>
              <a:t>ط</a:t>
            </a:r>
            <a:endParaRPr lang="en-US" sz="1200" dirty="0"/>
          </a:p>
        </p:txBody>
      </p:sp>
      <p:sp>
        <p:nvSpPr>
          <p:cNvPr id="8" name="Shape 6"/>
          <p:cNvSpPr/>
          <p:nvPr/>
        </p:nvSpPr>
        <p:spPr>
          <a:xfrm>
            <a:off x="1358900" y="1885950"/>
            <a:ext cx="705445" cy="234950"/>
          </a:xfrm>
          <a:prstGeom prst="roundRect">
            <a:avLst>
              <a:gd name="adj" fmla="val 50000"/>
            </a:avLst>
          </a:prstGeom>
          <a:solidFill>
            <a:srgbClr val="DCFCE7"/>
          </a:solidFill>
          <a:ln/>
        </p:spPr>
      </p:sp>
      <p:sp>
        <p:nvSpPr>
          <p:cNvPr id="9" name="Text 7"/>
          <p:cNvSpPr/>
          <p:nvPr/>
        </p:nvSpPr>
        <p:spPr>
          <a:xfrm>
            <a:off x="1460500" y="1898650"/>
            <a:ext cx="5530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6534"/>
                </a:solidFill>
                <a:latin typeface="IBM Plex Sans Arabic" pitchFamily="34" charset="0"/>
                <a:ea typeface="IBM Plex Sans Arabic" pitchFamily="34" charset="-122"/>
                <a:cs typeface="IBM Plex Sans Arabic" pitchFamily="34" charset="-120"/>
              </a:rPr>
              <a:t>● متصل</a:t>
            </a:r>
            <a:endParaRPr lang="en-US" sz="1200" dirty="0"/>
          </a:p>
        </p:txBody>
      </p:sp>
      <p:sp>
        <p:nvSpPr>
          <p:cNvPr id="10" name="Text 8"/>
          <p:cNvSpPr/>
          <p:nvPr/>
        </p:nvSpPr>
        <p:spPr>
          <a:xfrm>
            <a:off x="9426218" y="1879600"/>
            <a:ext cx="1800582"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E2A33"/>
                </a:solidFill>
                <a:latin typeface="IBM Plex Sans Arabic" pitchFamily="34" charset="0"/>
                <a:ea typeface="IBM Plex Sans Arabic" pitchFamily="34" charset="-122"/>
                <a:cs typeface="IBM Plex Sans Arabic" pitchFamily="34" charset="-120"/>
              </a:rPr>
              <a:t>طوارئ مستشفى [__]</a:t>
            </a:r>
            <a:endParaRPr lang="en-US" sz="1400" dirty="0"/>
          </a:p>
        </p:txBody>
      </p:sp>
      <p:sp>
        <p:nvSpPr>
          <p:cNvPr id="11" name="Shape 9"/>
          <p:cNvSpPr/>
          <p:nvPr/>
        </p:nvSpPr>
        <p:spPr>
          <a:xfrm>
            <a:off x="939800" y="2362200"/>
            <a:ext cx="2794000" cy="800100"/>
          </a:xfrm>
          <a:prstGeom prst="roundRect">
            <a:avLst>
              <a:gd name="adj" fmla="val 15873"/>
            </a:avLst>
          </a:prstGeom>
          <a:solidFill>
            <a:srgbClr val="FFFFFF"/>
          </a:solidFill>
          <a:ln/>
          <a:effectLst>
            <a:outerShdw sx="100000" sy="100000" kx="0" ky="0" algn="bl" rotWithShape="0" blurRad="114300" dist="38100" dir="5400000">
              <a:srgbClr val="0E2A33">
                <a:alpha val="6000"/>
              </a:srgbClr>
            </a:outerShdw>
          </a:effectLst>
        </p:spPr>
      </p:sp>
      <p:sp>
        <p:nvSpPr>
          <p:cNvPr id="12" name="Text 10"/>
          <p:cNvSpPr/>
          <p:nvPr/>
        </p:nvSpPr>
        <p:spPr>
          <a:xfrm>
            <a:off x="977138" y="2463800"/>
            <a:ext cx="26423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حالة الطوارئ</a:t>
            </a:r>
            <a:endParaRPr lang="en-US" sz="1200" dirty="0"/>
          </a:p>
        </p:txBody>
      </p:sp>
      <p:sp>
        <p:nvSpPr>
          <p:cNvPr id="13" name="Shape 11"/>
          <p:cNvSpPr/>
          <p:nvPr/>
        </p:nvSpPr>
        <p:spPr>
          <a:xfrm>
            <a:off x="1054100" y="2736850"/>
            <a:ext cx="2565400" cy="323850"/>
          </a:xfrm>
          <a:prstGeom prst="roundRect">
            <a:avLst>
              <a:gd name="adj" fmla="val 50000"/>
            </a:avLst>
          </a:prstGeom>
          <a:solidFill>
            <a:srgbClr val="EEF3F1"/>
          </a:solidFill>
          <a:ln/>
        </p:spPr>
      </p:sp>
      <p:sp>
        <p:nvSpPr>
          <p:cNvPr id="14" name="Text 12"/>
          <p:cNvSpPr/>
          <p:nvPr/>
        </p:nvSpPr>
        <p:spPr>
          <a:xfrm>
            <a:off x="1085850" y="2794000"/>
            <a:ext cx="833934"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لا يعمل</a:t>
            </a:r>
            <a:endParaRPr lang="en-US" sz="1200" dirty="0"/>
          </a:p>
        </p:txBody>
      </p:sp>
      <p:sp>
        <p:nvSpPr>
          <p:cNvPr id="15" name="Text 13"/>
          <p:cNvSpPr/>
          <p:nvPr/>
        </p:nvSpPr>
        <p:spPr>
          <a:xfrm>
            <a:off x="1919784" y="2794000"/>
            <a:ext cx="833934"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جزئياً</a:t>
            </a:r>
            <a:endParaRPr lang="en-US" sz="1200" dirty="0"/>
          </a:p>
        </p:txBody>
      </p:sp>
      <p:sp>
        <p:nvSpPr>
          <p:cNvPr id="16" name="Shape 14"/>
          <p:cNvSpPr/>
          <p:nvPr/>
        </p:nvSpPr>
        <p:spPr>
          <a:xfrm>
            <a:off x="2753717" y="2768600"/>
            <a:ext cx="833934" cy="260350"/>
          </a:xfrm>
          <a:prstGeom prst="roundRect">
            <a:avLst>
              <a:gd name="adj" fmla="val 50000"/>
            </a:avLst>
          </a:prstGeom>
          <a:solidFill>
            <a:srgbClr val="FFFFFF"/>
          </a:solidFill>
          <a:ln/>
          <a:effectLst>
            <a:outerShdw sx="100000" sy="100000" kx="0" ky="0" algn="bl" rotWithShape="0" blurRad="50800" dist="12700" dir="5400000">
              <a:srgbClr val="0E2A33">
                <a:alpha val="12000"/>
              </a:srgbClr>
            </a:outerShdw>
          </a:effectLst>
        </p:spPr>
      </p:sp>
      <p:sp>
        <p:nvSpPr>
          <p:cNvPr id="17" name="Text 15"/>
          <p:cNvSpPr/>
          <p:nvPr/>
        </p:nvSpPr>
        <p:spPr>
          <a:xfrm>
            <a:off x="2753717" y="2794000"/>
            <a:ext cx="833934"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6E64"/>
                </a:solidFill>
                <a:latin typeface="IBM Plex Sans Arabic" pitchFamily="34" charset="0"/>
                <a:ea typeface="IBM Plex Sans Arabic" pitchFamily="34" charset="-122"/>
                <a:cs typeface="IBM Plex Sans Arabic" pitchFamily="34" charset="-120"/>
              </a:rPr>
              <a:t>يعمل</a:t>
            </a:r>
            <a:endParaRPr lang="en-US" sz="1200" dirty="0"/>
          </a:p>
        </p:txBody>
      </p:sp>
      <p:sp>
        <p:nvSpPr>
          <p:cNvPr id="18" name="Shape 16"/>
          <p:cNvSpPr/>
          <p:nvPr/>
        </p:nvSpPr>
        <p:spPr>
          <a:xfrm>
            <a:off x="939800" y="3251200"/>
            <a:ext cx="2794000" cy="1047750"/>
          </a:xfrm>
          <a:prstGeom prst="roundRect">
            <a:avLst>
              <a:gd name="adj" fmla="val 12121"/>
            </a:avLst>
          </a:prstGeom>
          <a:solidFill>
            <a:srgbClr val="FFFFFF"/>
          </a:solidFill>
          <a:ln/>
          <a:effectLst>
            <a:outerShdw sx="100000" sy="100000" kx="0" ky="0" algn="bl" rotWithShape="0" blurRad="114300" dist="38100" dir="5400000">
              <a:srgbClr val="0E2A33">
                <a:alpha val="6000"/>
              </a:srgbClr>
            </a:outerShdw>
          </a:effectLst>
        </p:spPr>
      </p:sp>
      <p:sp>
        <p:nvSpPr>
          <p:cNvPr id="19" name="Text 17"/>
          <p:cNvSpPr/>
          <p:nvPr/>
        </p:nvSpPr>
        <p:spPr>
          <a:xfrm>
            <a:off x="977138" y="3352800"/>
            <a:ext cx="264236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أسرّة الطوارئ المتاحة</a:t>
            </a:r>
            <a:endParaRPr lang="en-US" sz="1200" dirty="0"/>
          </a:p>
        </p:txBody>
      </p:sp>
      <p:sp>
        <p:nvSpPr>
          <p:cNvPr id="20" name="Text 18"/>
          <p:cNvSpPr/>
          <p:nvPr/>
        </p:nvSpPr>
        <p:spPr>
          <a:xfrm>
            <a:off x="977138" y="3613150"/>
            <a:ext cx="2642362" cy="469900"/>
          </a:xfrm>
          <a:prstGeom prst="rect">
            <a:avLst/>
          </a:prstGeom>
          <a:noFill/>
          <a:ln/>
        </p:spPr>
        <p:txBody>
          <a:bodyPr wrap="square" lIns="0" tIns="0" rIns="0" bIns="0" rtlCol="0" anchor="t">
            <a:normAutofit/>
          </a:bodyPr>
          <a:lstStyle/>
          <a:p>
            <a:pPr algn="r" indent="0" marL="0">
              <a:lnSpc>
                <a:spcPts val="3520"/>
              </a:lnSpc>
              <a:buNone/>
            </a:pPr>
            <a:r>
              <a:rPr lang="en-US" sz="3200" b="1" dirty="0">
                <a:solidFill>
                  <a:srgbClr val="0E2A33"/>
                </a:solidFill>
                <a:latin typeface="IBM Plex Sans Arabic" pitchFamily="34" charset="0"/>
                <a:ea typeface="IBM Plex Sans Arabic" pitchFamily="34" charset="-122"/>
                <a:cs typeface="IBM Plex Sans Arabic" pitchFamily="34" charset="-120"/>
              </a:rPr>
              <a:t>4 </a:t>
            </a:r>
            <a:r>
              <a:rPr lang="en-US" sz="3200" b="1" dirty="0">
                <a:solidFill>
                  <a:srgbClr val="9AABA7"/>
                </a:solidFill>
                <a:latin typeface="IBM Plex Sans Arabic" pitchFamily="34" charset="0"/>
                <a:ea typeface="IBM Plex Sans Arabic" pitchFamily="34" charset="-122"/>
                <a:cs typeface="IBM Plex Sans Arabic" pitchFamily="34" charset="-120"/>
              </a:rPr>
              <a:t>/ 12</a:t>
            </a:r>
            <a:endParaRPr lang="en-US" sz="3200" dirty="0"/>
          </a:p>
        </p:txBody>
      </p:sp>
      <p:sp>
        <p:nvSpPr>
          <p:cNvPr id="21" name="Shape 19"/>
          <p:cNvSpPr/>
          <p:nvPr/>
        </p:nvSpPr>
        <p:spPr>
          <a:xfrm>
            <a:off x="1054100" y="4108450"/>
            <a:ext cx="2565400" cy="88900"/>
          </a:xfrm>
          <a:prstGeom prst="roundRect">
            <a:avLst>
              <a:gd name="adj" fmla="val 50000"/>
            </a:avLst>
          </a:prstGeom>
          <a:solidFill>
            <a:srgbClr val="E5ECEA"/>
          </a:solidFill>
          <a:ln/>
        </p:spPr>
      </p:sp>
      <p:sp>
        <p:nvSpPr>
          <p:cNvPr id="22" name="Shape 20"/>
          <p:cNvSpPr/>
          <p:nvPr/>
        </p:nvSpPr>
        <p:spPr>
          <a:xfrm>
            <a:off x="1054100" y="4108450"/>
            <a:ext cx="1710234" cy="88900"/>
          </a:xfrm>
          <a:custGeom>
            <a:avLst/>
            <a:gdLst/>
            <a:ahLst/>
            <a:cxnLst/>
            <a:rect l="l" t="t" r="r" b="b"/>
            <a:pathLst>
              <a:path w="1710234" h="88900">
                <a:moveTo>
                  <a:pt x="0" y="44450"/>
                </a:moveTo>
                <a:arcTo hR="44450" wR="44450" stAng="10800000" swAng="5400000"/>
                <a:lnTo>
                  <a:pt x="1710234" y="0"/>
                </a:lnTo>
                <a:lnTo>
                  <a:pt x="1710234" y="88900"/>
                </a:lnTo>
                <a:lnTo>
                  <a:pt x="44450" y="88900"/>
                </a:lnTo>
                <a:arcTo hR="44450" wR="44450" stAng="5400000" swAng="5400000"/>
                <a:close/>
              </a:path>
            </a:pathLst>
          </a:custGeom>
          <a:solidFill>
            <a:srgbClr val="E5ECEA"/>
          </a:solidFill>
          <a:ln/>
        </p:spPr>
      </p:sp>
      <p:sp>
        <p:nvSpPr>
          <p:cNvPr id="23" name="Shape 21"/>
          <p:cNvSpPr/>
          <p:nvPr/>
        </p:nvSpPr>
        <p:spPr>
          <a:xfrm>
            <a:off x="2764334" y="4108450"/>
            <a:ext cx="855166" cy="88900"/>
          </a:xfrm>
          <a:prstGeom prst="roundRect">
            <a:avLst>
              <a:gd name="adj" fmla="val 50000"/>
            </a:avLst>
          </a:prstGeom>
          <a:gradFill rotWithShape="1">
            <a:gsLst>
              <a:gs pos="0">
                <a:srgbClr val="14B8A6"/>
              </a:gs>
              <a:gs pos="100000">
                <a:srgbClr val="0B6E64"/>
              </a:gs>
            </a:gsLst>
            <a:lin ang="0" scaled="0"/>
          </a:gradFill>
          <a:ln/>
        </p:spPr>
      </p:sp>
      <p:sp>
        <p:nvSpPr>
          <p:cNvPr id="24" name="Shape 22"/>
          <p:cNvSpPr/>
          <p:nvPr/>
        </p:nvSpPr>
        <p:spPr>
          <a:xfrm>
            <a:off x="942975" y="4391025"/>
            <a:ext cx="2787650" cy="368300"/>
          </a:xfrm>
          <a:prstGeom prst="roundRect">
            <a:avLst>
              <a:gd name="adj" fmla="val 33621"/>
            </a:avLst>
          </a:prstGeom>
          <a:solidFill>
            <a:srgbClr val="FFF7ED"/>
          </a:solidFill>
          <a:ln w="6350">
            <a:solidFill>
              <a:srgbClr val="FED7AA"/>
            </a:solidFill>
            <a:prstDash val="solid"/>
          </a:ln>
        </p:spPr>
      </p:sp>
      <p:sp>
        <p:nvSpPr>
          <p:cNvPr id="25" name="Text 23"/>
          <p:cNvSpPr/>
          <p:nvPr/>
        </p:nvSpPr>
        <p:spPr>
          <a:xfrm>
            <a:off x="1060450" y="4470400"/>
            <a:ext cx="505539"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Arabic" pitchFamily="34" charset="0"/>
                <a:ea typeface="IBM Plex Sans Arabic" pitchFamily="34" charset="-122"/>
                <a:cs typeface="IBM Plex Sans Arabic" pitchFamily="34" charset="-120"/>
              </a:rPr>
              <a:t>تحديث</a:t>
            </a:r>
            <a:endParaRPr lang="en-US" sz="1200" dirty="0"/>
          </a:p>
        </p:txBody>
      </p:sp>
      <p:sp>
        <p:nvSpPr>
          <p:cNvPr id="26" name="Text 24"/>
          <p:cNvSpPr/>
          <p:nvPr/>
        </p:nvSpPr>
        <p:spPr>
          <a:xfrm>
            <a:off x="2172295" y="4470400"/>
            <a:ext cx="126305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3412"/>
                </a:solidFill>
                <a:latin typeface="IBM Plex Sans Arabic" pitchFamily="34" charset="0"/>
                <a:ea typeface="IBM Plex Sans Arabic" pitchFamily="34" charset="-122"/>
                <a:cs typeface="IBM Plex Sans Arabic" pitchFamily="34" charset="-120"/>
              </a:rPr>
              <a:t>آخر تحديث قبل 20 د</a:t>
            </a:r>
            <a:endParaRPr lang="en-US" sz="1200" dirty="0"/>
          </a:p>
        </p:txBody>
      </p:sp>
      <p:pic>
        <p:nvPicPr>
          <p:cNvPr id="27" name="Image 0" descr="Clock">    </p:cNvPr>
          <p:cNvPicPr>
            <a:picLocks noChangeAspect="1"/>
          </p:cNvPicPr>
          <p:nvPr/>
        </p:nvPicPr>
        <p:blipFill>
          <a:blip r:embed="rId1"/>
          <a:srcRect l="0" r="0" t="0" b="0"/>
          <a:stretch/>
        </p:blipFill>
        <p:spPr>
          <a:xfrm>
            <a:off x="3435350" y="4486275"/>
            <a:ext cx="177800" cy="177800"/>
          </a:xfrm>
          <a:prstGeom prst="rect">
            <a:avLst/>
          </a:prstGeom>
        </p:spPr>
      </p:pic>
      <p:sp>
        <p:nvSpPr>
          <p:cNvPr id="28" name="Shape 25"/>
          <p:cNvSpPr/>
          <p:nvPr/>
        </p:nvSpPr>
        <p:spPr>
          <a:xfrm>
            <a:off x="3860800" y="2362200"/>
            <a:ext cx="269280" cy="209550"/>
          </a:xfrm>
          <a:prstGeom prst="roundRect">
            <a:avLst>
              <a:gd name="adj" fmla="val 50000"/>
            </a:avLst>
          </a:prstGeom>
          <a:solidFill>
            <a:srgbClr val="0E2A33"/>
          </a:solidFill>
          <a:ln/>
        </p:spPr>
      </p:sp>
      <p:sp>
        <p:nvSpPr>
          <p:cNvPr id="29" name="Text 26"/>
          <p:cNvSpPr/>
          <p:nvPr/>
        </p:nvSpPr>
        <p:spPr>
          <a:xfrm>
            <a:off x="3949700" y="2362200"/>
            <a:ext cx="14228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BM Plex Sans Arabic" pitchFamily="34" charset="0"/>
                <a:ea typeface="IBM Plex Sans Arabic" pitchFamily="34" charset="-122"/>
                <a:cs typeface="IBM Plex Sans Arabic" pitchFamily="34" charset="-120"/>
              </a:rPr>
              <a:t>2</a:t>
            </a:r>
            <a:endParaRPr lang="en-US" sz="1200" dirty="0"/>
          </a:p>
        </p:txBody>
      </p:sp>
      <p:sp>
        <p:nvSpPr>
          <p:cNvPr id="30" name="Text 27"/>
          <p:cNvSpPr/>
          <p:nvPr/>
        </p:nvSpPr>
        <p:spPr>
          <a:xfrm>
            <a:off x="10105628" y="2362200"/>
            <a:ext cx="1146572"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مرضى في الطريق</a:t>
            </a:r>
            <a:endParaRPr lang="en-US" sz="1200" dirty="0"/>
          </a:p>
        </p:txBody>
      </p:sp>
      <p:sp>
        <p:nvSpPr>
          <p:cNvPr id="31" name="Shape 28"/>
          <p:cNvSpPr/>
          <p:nvPr/>
        </p:nvSpPr>
        <p:spPr>
          <a:xfrm>
            <a:off x="3863975" y="2663825"/>
            <a:ext cx="7385050" cy="996950"/>
          </a:xfrm>
          <a:prstGeom prst="roundRect">
            <a:avLst>
              <a:gd name="adj" fmla="val 13694"/>
            </a:avLst>
          </a:prstGeom>
          <a:solidFill>
            <a:srgbClr val="FFFFFF"/>
          </a:solidFill>
          <a:ln w="6350">
            <a:solidFill>
              <a:srgbClr val="FECDD3"/>
            </a:solidFill>
            <a:prstDash val="solid"/>
          </a:ln>
          <a:effectLst>
            <a:outerShdw sx="100000" sy="100000" kx="0" ky="0" algn="bl" rotWithShape="0" blurRad="177800" dist="63500" dir="5400000">
              <a:srgbClr val="0E2A33">
                <a:alpha val="8000"/>
              </a:srgbClr>
            </a:outerShdw>
          </a:effectLst>
        </p:spPr>
      </p:sp>
      <p:sp>
        <p:nvSpPr>
          <p:cNvPr id="32" name="Shape 29"/>
          <p:cNvSpPr/>
          <p:nvPr/>
        </p:nvSpPr>
        <p:spPr>
          <a:xfrm>
            <a:off x="3994150" y="2819400"/>
            <a:ext cx="952500" cy="311150"/>
          </a:xfrm>
          <a:prstGeom prst="roundRect">
            <a:avLst>
              <a:gd name="adj" fmla="val 50000"/>
            </a:avLst>
          </a:prstGeom>
          <a:gradFill rotWithShape="1">
            <a:gsLst>
              <a:gs pos="0">
                <a:srgbClr val="0B6E64"/>
              </a:gs>
              <a:gs pos="100000">
                <a:srgbClr val="14B8A6"/>
              </a:gs>
            </a:gsLst>
            <a:lin ang="0" scaled="0"/>
          </a:gradFill>
          <a:ln/>
        </p:spPr>
      </p:sp>
      <p:sp>
        <p:nvSpPr>
          <p:cNvPr id="33" name="Text 30"/>
          <p:cNvSpPr/>
          <p:nvPr/>
        </p:nvSpPr>
        <p:spPr>
          <a:xfrm>
            <a:off x="4019550" y="2870200"/>
            <a:ext cx="9017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FFF"/>
                </a:solidFill>
                <a:latin typeface="IBM Plex Sans Arabic" pitchFamily="34" charset="0"/>
                <a:ea typeface="IBM Plex Sans Arabic" pitchFamily="34" charset="-122"/>
                <a:cs typeface="IBM Plex Sans Arabic" pitchFamily="34" charset="-120"/>
              </a:rPr>
              <a:t>قبول وإرسال</a:t>
            </a:r>
            <a:endParaRPr lang="en-US" sz="1200" dirty="0"/>
          </a:p>
        </p:txBody>
      </p:sp>
      <p:sp>
        <p:nvSpPr>
          <p:cNvPr id="34" name="Shape 31"/>
          <p:cNvSpPr/>
          <p:nvPr/>
        </p:nvSpPr>
        <p:spPr>
          <a:xfrm>
            <a:off x="3997325" y="3197225"/>
            <a:ext cx="946150" cy="304800"/>
          </a:xfrm>
          <a:prstGeom prst="roundRect">
            <a:avLst>
              <a:gd name="adj" fmla="val 50000"/>
            </a:avLst>
          </a:prstGeom>
          <a:noFill/>
          <a:ln w="6350">
            <a:solidFill>
              <a:srgbClr val="D5DFDC"/>
            </a:solidFill>
            <a:prstDash val="solid"/>
          </a:ln>
        </p:spPr>
      </p:sp>
      <p:sp>
        <p:nvSpPr>
          <p:cNvPr id="35" name="Text 32"/>
          <p:cNvSpPr/>
          <p:nvPr/>
        </p:nvSpPr>
        <p:spPr>
          <a:xfrm>
            <a:off x="4019550" y="3244850"/>
            <a:ext cx="9017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6167"/>
                </a:solidFill>
                <a:latin typeface="IBM Plex Sans Arabic" pitchFamily="34" charset="0"/>
                <a:ea typeface="IBM Plex Sans Arabic" pitchFamily="34" charset="-122"/>
                <a:cs typeface="IBM Plex Sans Arabic" pitchFamily="34" charset="-120"/>
              </a:rPr>
              <a:t>رفض</a:t>
            </a:r>
            <a:endParaRPr lang="en-US" sz="1200" dirty="0"/>
          </a:p>
        </p:txBody>
      </p:sp>
      <p:pic>
        <p:nvPicPr>
          <p:cNvPr id="36" name="Image 1" descr="Heart rate rising">    </p:cNvPr>
          <p:cNvPicPr>
            <a:picLocks noChangeAspect="1"/>
          </p:cNvPicPr>
          <p:nvPr/>
        </p:nvPicPr>
        <p:blipFill>
          <a:blip r:embed="rId2"/>
          <a:srcRect l="0" r="0" t="0" b="0"/>
          <a:stretch/>
        </p:blipFill>
        <p:spPr>
          <a:xfrm>
            <a:off x="5086350" y="2940050"/>
            <a:ext cx="1270000" cy="444500"/>
          </a:xfrm>
          <a:prstGeom prst="rect">
            <a:avLst/>
          </a:prstGeom>
        </p:spPr>
      </p:pic>
      <p:sp>
        <p:nvSpPr>
          <p:cNvPr id="37" name="Shape 33"/>
          <p:cNvSpPr/>
          <p:nvPr/>
        </p:nvSpPr>
        <p:spPr>
          <a:xfrm>
            <a:off x="8721824" y="2809875"/>
            <a:ext cx="812205" cy="209550"/>
          </a:xfrm>
          <a:prstGeom prst="roundRect">
            <a:avLst>
              <a:gd name="adj" fmla="val 50000"/>
            </a:avLst>
          </a:prstGeom>
          <a:solidFill>
            <a:srgbClr val="F1F5F4"/>
          </a:solidFill>
          <a:ln/>
        </p:spPr>
      </p:sp>
      <p:sp>
        <p:nvSpPr>
          <p:cNvPr id="38" name="Text 34"/>
          <p:cNvSpPr/>
          <p:nvPr/>
        </p:nvSpPr>
        <p:spPr>
          <a:xfrm>
            <a:off x="8798024" y="2809875"/>
            <a:ext cx="71060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Arabic" pitchFamily="34" charset="0"/>
                <a:ea typeface="IBM Plex Sans Arabic" pitchFamily="34" charset="-122"/>
                <a:cs typeface="IBM Plex Sans Arabic" pitchFamily="34" charset="-120"/>
              </a:rPr>
              <a:t>ضيق تنفس</a:t>
            </a:r>
            <a:endParaRPr lang="en-US" sz="1200" dirty="0"/>
          </a:p>
        </p:txBody>
      </p:sp>
      <p:sp>
        <p:nvSpPr>
          <p:cNvPr id="39" name="Shape 35"/>
          <p:cNvSpPr/>
          <p:nvPr/>
        </p:nvSpPr>
        <p:spPr>
          <a:xfrm>
            <a:off x="9584829" y="2809875"/>
            <a:ext cx="632321" cy="209550"/>
          </a:xfrm>
          <a:prstGeom prst="roundRect">
            <a:avLst>
              <a:gd name="adj" fmla="val 50000"/>
            </a:avLst>
          </a:prstGeom>
          <a:solidFill>
            <a:srgbClr val="FFE4E6"/>
          </a:solidFill>
          <a:ln/>
        </p:spPr>
      </p:sp>
      <p:sp>
        <p:nvSpPr>
          <p:cNvPr id="40" name="Text 36"/>
          <p:cNvSpPr/>
          <p:nvPr/>
        </p:nvSpPr>
        <p:spPr>
          <a:xfrm>
            <a:off x="9661029" y="2809875"/>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E123C"/>
                </a:solidFill>
                <a:latin typeface="IBM Plex Sans Arabic" pitchFamily="34" charset="0"/>
                <a:ea typeface="IBM Plex Sans Arabic" pitchFamily="34" charset="-122"/>
                <a:cs typeface="IBM Plex Sans Arabic" pitchFamily="34" charset="-120"/>
              </a:rPr>
              <a:t>أولوية 1</a:t>
            </a:r>
            <a:endParaRPr lang="en-US" sz="1200" dirty="0"/>
          </a:p>
        </p:txBody>
      </p:sp>
      <p:sp>
        <p:nvSpPr>
          <p:cNvPr id="41" name="Text 37"/>
          <p:cNvSpPr/>
          <p:nvPr/>
        </p:nvSpPr>
        <p:spPr>
          <a:xfrm>
            <a:off x="9216906" y="3057525"/>
            <a:ext cx="1000244"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رجل · 45 سنة</a:t>
            </a:r>
            <a:endParaRPr lang="en-US" sz="1200" dirty="0"/>
          </a:p>
        </p:txBody>
      </p:sp>
      <p:sp>
        <p:nvSpPr>
          <p:cNvPr id="42" name="Text 38"/>
          <p:cNvSpPr/>
          <p:nvPr/>
        </p:nvSpPr>
        <p:spPr>
          <a:xfrm>
            <a:off x="8170823" y="3305175"/>
            <a:ext cx="2046327"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النبض 112 · الأكسجين 91%</a:t>
            </a:r>
            <a:endParaRPr lang="en-US" sz="1200" dirty="0"/>
          </a:p>
        </p:txBody>
      </p:sp>
      <p:pic>
        <p:nvPicPr>
          <p:cNvPr id="43" name="Image 2" descr="Arrival countdown">    </p:cNvPr>
          <p:cNvPicPr>
            <a:picLocks noChangeAspect="1"/>
          </p:cNvPicPr>
          <p:nvPr/>
        </p:nvPicPr>
        <p:blipFill>
          <a:blip r:embed="rId3"/>
          <a:srcRect l="0" r="0" t="0" b="0"/>
          <a:stretch/>
        </p:blipFill>
        <p:spPr>
          <a:xfrm>
            <a:off x="10356850" y="2781300"/>
            <a:ext cx="762000" cy="762000"/>
          </a:xfrm>
          <a:prstGeom prst="rect">
            <a:avLst/>
          </a:prstGeom>
        </p:spPr>
      </p:pic>
      <p:sp>
        <p:nvSpPr>
          <p:cNvPr id="44" name="Text 39"/>
          <p:cNvSpPr/>
          <p:nvPr/>
        </p:nvSpPr>
        <p:spPr>
          <a:xfrm>
            <a:off x="10331450" y="2959100"/>
            <a:ext cx="812800" cy="34290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E11D48"/>
                </a:solidFill>
                <a:latin typeface="IBM Plex Sans Arabic" pitchFamily="34" charset="0"/>
                <a:ea typeface="IBM Plex Sans Arabic" pitchFamily="34" charset="-122"/>
                <a:cs typeface="IBM Plex Sans Arabic" pitchFamily="34" charset="-120"/>
              </a:rPr>
              <a:t>6</a:t>
            </a:r>
            <a:endParaRPr lang="en-US" sz="1800" dirty="0"/>
          </a:p>
        </p:txBody>
      </p:sp>
      <p:sp>
        <p:nvSpPr>
          <p:cNvPr id="45" name="Text 40"/>
          <p:cNvSpPr/>
          <p:nvPr/>
        </p:nvSpPr>
        <p:spPr>
          <a:xfrm>
            <a:off x="10331450" y="3238500"/>
            <a:ext cx="812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دقيقة</a:t>
            </a:r>
            <a:endParaRPr lang="en-US" sz="1200" dirty="0"/>
          </a:p>
        </p:txBody>
      </p:sp>
      <p:sp>
        <p:nvSpPr>
          <p:cNvPr id="46" name="Shape 41"/>
          <p:cNvSpPr/>
          <p:nvPr/>
        </p:nvSpPr>
        <p:spPr>
          <a:xfrm>
            <a:off x="3860800" y="3752850"/>
            <a:ext cx="7391400" cy="990600"/>
          </a:xfrm>
          <a:prstGeom prst="roundRect">
            <a:avLst>
              <a:gd name="adj" fmla="val 14103"/>
            </a:avLst>
          </a:prstGeom>
          <a:solidFill>
            <a:srgbClr val="FFFFFF"/>
          </a:solidFill>
          <a:ln/>
          <a:effectLst>
            <a:outerShdw sx="100000" sy="100000" kx="0" ky="0" algn="bl" rotWithShape="0" blurRad="177800" dist="63500" dir="5400000">
              <a:srgbClr val="0E2A33">
                <a:alpha val="6000"/>
              </a:srgbClr>
            </a:outerShdw>
          </a:effectLst>
        </p:spPr>
      </p:sp>
      <p:sp>
        <p:nvSpPr>
          <p:cNvPr id="47" name="Shape 42"/>
          <p:cNvSpPr/>
          <p:nvPr/>
        </p:nvSpPr>
        <p:spPr>
          <a:xfrm>
            <a:off x="3987800" y="3905250"/>
            <a:ext cx="952500" cy="311150"/>
          </a:xfrm>
          <a:prstGeom prst="roundRect">
            <a:avLst>
              <a:gd name="adj" fmla="val 50000"/>
            </a:avLst>
          </a:prstGeom>
          <a:gradFill rotWithShape="1">
            <a:gsLst>
              <a:gs pos="0">
                <a:srgbClr val="0B6E64"/>
              </a:gs>
              <a:gs pos="100000">
                <a:srgbClr val="14B8A6"/>
              </a:gs>
            </a:gsLst>
            <a:lin ang="0" scaled="0"/>
          </a:gradFill>
          <a:ln/>
        </p:spPr>
      </p:sp>
      <p:sp>
        <p:nvSpPr>
          <p:cNvPr id="48" name="Text 43"/>
          <p:cNvSpPr/>
          <p:nvPr/>
        </p:nvSpPr>
        <p:spPr>
          <a:xfrm>
            <a:off x="4013200" y="3956050"/>
            <a:ext cx="9017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FFFF"/>
                </a:solidFill>
                <a:latin typeface="IBM Plex Sans Arabic" pitchFamily="34" charset="0"/>
                <a:ea typeface="IBM Plex Sans Arabic" pitchFamily="34" charset="-122"/>
                <a:cs typeface="IBM Plex Sans Arabic" pitchFamily="34" charset="-120"/>
              </a:rPr>
              <a:t>قبول وإرسال</a:t>
            </a:r>
            <a:endParaRPr lang="en-US" sz="1200" dirty="0"/>
          </a:p>
        </p:txBody>
      </p:sp>
      <p:sp>
        <p:nvSpPr>
          <p:cNvPr id="49" name="Shape 44"/>
          <p:cNvSpPr/>
          <p:nvPr/>
        </p:nvSpPr>
        <p:spPr>
          <a:xfrm>
            <a:off x="3990975" y="4283075"/>
            <a:ext cx="946150" cy="304800"/>
          </a:xfrm>
          <a:prstGeom prst="roundRect">
            <a:avLst>
              <a:gd name="adj" fmla="val 50000"/>
            </a:avLst>
          </a:prstGeom>
          <a:noFill/>
          <a:ln w="6350">
            <a:solidFill>
              <a:srgbClr val="D5DFDC"/>
            </a:solidFill>
            <a:prstDash val="solid"/>
          </a:ln>
        </p:spPr>
      </p:sp>
      <p:sp>
        <p:nvSpPr>
          <p:cNvPr id="50" name="Text 45"/>
          <p:cNvSpPr/>
          <p:nvPr/>
        </p:nvSpPr>
        <p:spPr>
          <a:xfrm>
            <a:off x="4013200" y="4330700"/>
            <a:ext cx="9017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6167"/>
                </a:solidFill>
                <a:latin typeface="IBM Plex Sans Arabic" pitchFamily="34" charset="0"/>
                <a:ea typeface="IBM Plex Sans Arabic" pitchFamily="34" charset="-122"/>
                <a:cs typeface="IBM Plex Sans Arabic" pitchFamily="34" charset="-120"/>
              </a:rPr>
              <a:t>رفض</a:t>
            </a:r>
            <a:endParaRPr lang="en-US" sz="1200" dirty="0"/>
          </a:p>
        </p:txBody>
      </p:sp>
      <p:pic>
        <p:nvPicPr>
          <p:cNvPr id="51" name="Image 3" descr="Heart rate steady">    </p:cNvPr>
          <p:cNvPicPr>
            <a:picLocks noChangeAspect="1"/>
          </p:cNvPicPr>
          <p:nvPr/>
        </p:nvPicPr>
        <p:blipFill>
          <a:blip r:embed="rId4"/>
          <a:srcRect l="0" r="0" t="0" b="0"/>
          <a:stretch/>
        </p:blipFill>
        <p:spPr>
          <a:xfrm>
            <a:off x="5080000" y="4025900"/>
            <a:ext cx="1270000" cy="444500"/>
          </a:xfrm>
          <a:prstGeom prst="rect">
            <a:avLst/>
          </a:prstGeom>
        </p:spPr>
      </p:pic>
      <p:sp>
        <p:nvSpPr>
          <p:cNvPr id="52" name="Shape 46"/>
          <p:cNvSpPr/>
          <p:nvPr/>
        </p:nvSpPr>
        <p:spPr>
          <a:xfrm>
            <a:off x="8646815" y="3895725"/>
            <a:ext cx="893564" cy="209550"/>
          </a:xfrm>
          <a:prstGeom prst="roundRect">
            <a:avLst>
              <a:gd name="adj" fmla="val 50000"/>
            </a:avLst>
          </a:prstGeom>
          <a:solidFill>
            <a:srgbClr val="F1F5F4"/>
          </a:solidFill>
          <a:ln/>
        </p:spPr>
      </p:sp>
      <p:sp>
        <p:nvSpPr>
          <p:cNvPr id="53" name="Text 47"/>
          <p:cNvSpPr/>
          <p:nvPr/>
        </p:nvSpPr>
        <p:spPr>
          <a:xfrm>
            <a:off x="8723015" y="3895725"/>
            <a:ext cx="791964"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Arabic" pitchFamily="34" charset="0"/>
                <a:ea typeface="IBM Plex Sans Arabic" pitchFamily="34" charset="-122"/>
                <a:cs typeface="IBM Plex Sans Arabic" pitchFamily="34" charset="-120"/>
              </a:rPr>
              <a:t>كسر في الساق</a:t>
            </a:r>
            <a:endParaRPr lang="en-US" sz="1200" dirty="0"/>
          </a:p>
        </p:txBody>
      </p:sp>
      <p:sp>
        <p:nvSpPr>
          <p:cNvPr id="54" name="Shape 48"/>
          <p:cNvSpPr/>
          <p:nvPr/>
        </p:nvSpPr>
        <p:spPr>
          <a:xfrm>
            <a:off x="9591179" y="3895725"/>
            <a:ext cx="632321" cy="209550"/>
          </a:xfrm>
          <a:prstGeom prst="roundRect">
            <a:avLst>
              <a:gd name="adj" fmla="val 50000"/>
            </a:avLst>
          </a:prstGeom>
          <a:solidFill>
            <a:srgbClr val="FEF9C3"/>
          </a:solidFill>
          <a:ln/>
        </p:spPr>
      </p:sp>
      <p:sp>
        <p:nvSpPr>
          <p:cNvPr id="55" name="Text 49"/>
          <p:cNvSpPr/>
          <p:nvPr/>
        </p:nvSpPr>
        <p:spPr>
          <a:xfrm>
            <a:off x="9667379" y="3895725"/>
            <a:ext cx="53072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54D0E"/>
                </a:solidFill>
                <a:latin typeface="IBM Plex Sans Arabic" pitchFamily="34" charset="0"/>
                <a:ea typeface="IBM Plex Sans Arabic" pitchFamily="34" charset="-122"/>
                <a:cs typeface="IBM Plex Sans Arabic" pitchFamily="34" charset="-120"/>
              </a:rPr>
              <a:t>أولوية 3</a:t>
            </a:r>
            <a:endParaRPr lang="en-US" sz="1200" dirty="0"/>
          </a:p>
        </p:txBody>
      </p:sp>
      <p:sp>
        <p:nvSpPr>
          <p:cNvPr id="56" name="Text 50"/>
          <p:cNvSpPr/>
          <p:nvPr/>
        </p:nvSpPr>
        <p:spPr>
          <a:xfrm>
            <a:off x="9193133" y="4143375"/>
            <a:ext cx="1030367"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امرأة · 30 سنة</a:t>
            </a:r>
            <a:endParaRPr lang="en-US" sz="1200" dirty="0"/>
          </a:p>
        </p:txBody>
      </p:sp>
      <p:sp>
        <p:nvSpPr>
          <p:cNvPr id="57" name="Text 51"/>
          <p:cNvSpPr/>
          <p:nvPr/>
        </p:nvSpPr>
        <p:spPr>
          <a:xfrm>
            <a:off x="8286948" y="4391025"/>
            <a:ext cx="1936552"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النبض 88 · الأكسجين 97%</a:t>
            </a:r>
            <a:endParaRPr lang="en-US" sz="1200" dirty="0"/>
          </a:p>
        </p:txBody>
      </p:sp>
      <p:pic>
        <p:nvPicPr>
          <p:cNvPr id="58" name="Image 4" descr="Arrival countdown">    </p:cNvPr>
          <p:cNvPicPr>
            <a:picLocks noChangeAspect="1"/>
          </p:cNvPicPr>
          <p:nvPr/>
        </p:nvPicPr>
        <p:blipFill>
          <a:blip r:embed="rId5"/>
          <a:srcRect l="0" r="0" t="0" b="0"/>
          <a:stretch/>
        </p:blipFill>
        <p:spPr>
          <a:xfrm>
            <a:off x="10363200" y="3867150"/>
            <a:ext cx="762000" cy="762000"/>
          </a:xfrm>
          <a:prstGeom prst="rect">
            <a:avLst/>
          </a:prstGeom>
        </p:spPr>
      </p:pic>
      <p:sp>
        <p:nvSpPr>
          <p:cNvPr id="59" name="Text 52"/>
          <p:cNvSpPr/>
          <p:nvPr/>
        </p:nvSpPr>
        <p:spPr>
          <a:xfrm>
            <a:off x="10337800" y="4044950"/>
            <a:ext cx="812800" cy="34290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B6E64"/>
                </a:solidFill>
                <a:latin typeface="IBM Plex Sans Arabic" pitchFamily="34" charset="0"/>
                <a:ea typeface="IBM Plex Sans Arabic" pitchFamily="34" charset="-122"/>
                <a:cs typeface="IBM Plex Sans Arabic" pitchFamily="34" charset="-120"/>
              </a:rPr>
              <a:t>14</a:t>
            </a:r>
            <a:endParaRPr lang="en-US" sz="1800" dirty="0"/>
          </a:p>
        </p:txBody>
      </p:sp>
      <p:sp>
        <p:nvSpPr>
          <p:cNvPr id="60" name="Text 53"/>
          <p:cNvSpPr/>
          <p:nvPr/>
        </p:nvSpPr>
        <p:spPr>
          <a:xfrm>
            <a:off x="10337800" y="4324350"/>
            <a:ext cx="812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دقيقة</a:t>
            </a:r>
            <a:endParaRPr lang="en-US" sz="1200" dirty="0"/>
          </a:p>
        </p:txBody>
      </p:sp>
      <p:sp>
        <p:nvSpPr>
          <p:cNvPr id="61" name="Shape 54"/>
          <p:cNvSpPr/>
          <p:nvPr/>
        </p:nvSpPr>
        <p:spPr>
          <a:xfrm>
            <a:off x="11023600" y="27305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62" name="Text 55"/>
          <p:cNvSpPr/>
          <p:nvPr/>
        </p:nvSpPr>
        <p:spPr>
          <a:xfrm>
            <a:off x="10998200" y="27305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1</a:t>
            </a:r>
            <a:endParaRPr lang="en-US" sz="1200" dirty="0"/>
          </a:p>
        </p:txBody>
      </p:sp>
      <p:sp>
        <p:nvSpPr>
          <p:cNvPr id="63" name="Shape 56"/>
          <p:cNvSpPr/>
          <p:nvPr/>
        </p:nvSpPr>
        <p:spPr>
          <a:xfrm>
            <a:off x="6261100" y="26670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64" name="Text 57"/>
          <p:cNvSpPr/>
          <p:nvPr/>
        </p:nvSpPr>
        <p:spPr>
          <a:xfrm>
            <a:off x="6235700" y="26670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2</a:t>
            </a:r>
            <a:endParaRPr lang="en-US" sz="1200" dirty="0"/>
          </a:p>
        </p:txBody>
      </p:sp>
      <p:sp>
        <p:nvSpPr>
          <p:cNvPr id="65" name="Shape 58"/>
          <p:cNvSpPr/>
          <p:nvPr/>
        </p:nvSpPr>
        <p:spPr>
          <a:xfrm>
            <a:off x="3810000" y="26670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66" name="Text 59"/>
          <p:cNvSpPr/>
          <p:nvPr/>
        </p:nvSpPr>
        <p:spPr>
          <a:xfrm>
            <a:off x="3784600" y="26670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3</a:t>
            </a:r>
            <a:endParaRPr lang="en-US" sz="1200" dirty="0"/>
          </a:p>
        </p:txBody>
      </p:sp>
      <p:sp>
        <p:nvSpPr>
          <p:cNvPr id="67" name="Shape 60"/>
          <p:cNvSpPr/>
          <p:nvPr/>
        </p:nvSpPr>
        <p:spPr>
          <a:xfrm>
            <a:off x="800100" y="31750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68" name="Text 61"/>
          <p:cNvSpPr/>
          <p:nvPr/>
        </p:nvSpPr>
        <p:spPr>
          <a:xfrm>
            <a:off x="774700" y="31750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4</a:t>
            </a:r>
            <a:endParaRPr lang="en-US" sz="1200" dirty="0"/>
          </a:p>
        </p:txBody>
      </p:sp>
      <p:sp>
        <p:nvSpPr>
          <p:cNvPr id="69" name="Shape 62"/>
          <p:cNvSpPr/>
          <p:nvPr/>
        </p:nvSpPr>
        <p:spPr>
          <a:xfrm>
            <a:off x="815975" y="5591175"/>
            <a:ext cx="1606153"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70" name="Text 63"/>
          <p:cNvSpPr/>
          <p:nvPr/>
        </p:nvSpPr>
        <p:spPr>
          <a:xfrm>
            <a:off x="933450" y="5619750"/>
            <a:ext cx="142200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1</a:t>
            </a:r>
            <a:r>
              <a:rPr lang="en-US" sz="1200" dirty="0">
                <a:solidFill>
                  <a:srgbClr val="C9DAD6"/>
                </a:solidFill>
                <a:latin typeface="IBM Plex Sans" pitchFamily="34" charset="0"/>
                <a:ea typeface="IBM Plex Sans" pitchFamily="34" charset="-122"/>
                <a:cs typeface="IBM Plex Sans" pitchFamily="34" charset="-120"/>
              </a:rPr>
              <a:t> Arrival countdown</a:t>
            </a:r>
            <a:endParaRPr lang="en-US" sz="1200" dirty="0"/>
          </a:p>
        </p:txBody>
      </p:sp>
      <p:sp>
        <p:nvSpPr>
          <p:cNvPr id="71" name="Shape 64"/>
          <p:cNvSpPr/>
          <p:nvPr/>
        </p:nvSpPr>
        <p:spPr>
          <a:xfrm>
            <a:off x="2530078" y="5591175"/>
            <a:ext cx="2472035"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72" name="Text 65"/>
          <p:cNvSpPr/>
          <p:nvPr/>
        </p:nvSpPr>
        <p:spPr>
          <a:xfrm>
            <a:off x="2647553" y="5619750"/>
            <a:ext cx="230419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2</a:t>
            </a:r>
            <a:r>
              <a:rPr lang="en-US" sz="1200" dirty="0">
                <a:solidFill>
                  <a:srgbClr val="C9DAD6"/>
                </a:solidFill>
                <a:latin typeface="IBM Plex Sans" pitchFamily="34" charset="0"/>
                <a:ea typeface="IBM Plex Sans" pitchFamily="34" charset="-122"/>
                <a:cs typeface="IBM Plex Sans" pitchFamily="34" charset="-120"/>
              </a:rPr>
              <a:t> Vital-signs trend from the crew</a:t>
            </a:r>
            <a:endParaRPr lang="en-US" sz="1200" dirty="0"/>
          </a:p>
        </p:txBody>
      </p:sp>
      <p:sp>
        <p:nvSpPr>
          <p:cNvPr id="73" name="Shape 66"/>
          <p:cNvSpPr/>
          <p:nvPr/>
        </p:nvSpPr>
        <p:spPr>
          <a:xfrm>
            <a:off x="5110063" y="5591175"/>
            <a:ext cx="2879427"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74" name="Text 67"/>
          <p:cNvSpPr/>
          <p:nvPr/>
        </p:nvSpPr>
        <p:spPr>
          <a:xfrm>
            <a:off x="5227538" y="5619750"/>
            <a:ext cx="272381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3</a:t>
            </a:r>
            <a:r>
              <a:rPr lang="en-US" sz="1200" dirty="0">
                <a:solidFill>
                  <a:srgbClr val="C9DAD6"/>
                </a:solidFill>
                <a:latin typeface="IBM Plex Sans" pitchFamily="34" charset="0"/>
                <a:ea typeface="IBM Plex Sans" pitchFamily="34" charset="-122"/>
                <a:cs typeface="IBM Plex Sans" pitchFamily="34" charset="-120"/>
              </a:rPr>
              <a:t> Accept and send our own ambulance</a:t>
            </a:r>
            <a:endParaRPr lang="en-US" sz="1200" dirty="0"/>
          </a:p>
        </p:txBody>
      </p:sp>
      <p:sp>
        <p:nvSpPr>
          <p:cNvPr id="75" name="Shape 68"/>
          <p:cNvSpPr/>
          <p:nvPr/>
        </p:nvSpPr>
        <p:spPr>
          <a:xfrm>
            <a:off x="8097441" y="5591175"/>
            <a:ext cx="2206427"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76" name="Text 69"/>
          <p:cNvSpPr/>
          <p:nvPr/>
        </p:nvSpPr>
        <p:spPr>
          <a:xfrm>
            <a:off x="8214916" y="5619750"/>
            <a:ext cx="203062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4</a:t>
            </a:r>
            <a:r>
              <a:rPr lang="en-US" sz="1200" dirty="0">
                <a:solidFill>
                  <a:srgbClr val="C9DAD6"/>
                </a:solidFill>
                <a:latin typeface="IBM Plex Sans" pitchFamily="34" charset="0"/>
                <a:ea typeface="IBM Plex Sans" pitchFamily="34" charset="-122"/>
                <a:cs typeface="IBM Plex Sans" pitchFamily="34" charset="-120"/>
              </a:rPr>
              <a:t> Status, beds and freshness</a:t>
            </a:r>
            <a:endParaRPr lang="en-US" sz="1200" dirty="0"/>
          </a:p>
        </p:txBody>
      </p:sp>
      <p:sp>
        <p:nvSpPr>
          <p:cNvPr id="77" name="Text 70"/>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A95"/>
                </a:solidFill>
                <a:latin typeface="IBM Plex Sans" pitchFamily="34" charset="0"/>
                <a:ea typeface="IBM Plex Sans" pitchFamily="34" charset="-122"/>
                <a:cs typeface="IBM Plex Sans" pitchFamily="34" charset="-120"/>
              </a:rPr>
              <a:t>EMR-MR Sudan · System proposal and UI/UX direction · 14 · Illustrative screen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EEAD4"/>
                </a:solidFill>
                <a:latin typeface="IBM Plex Sans" pitchFamily="34" charset="0"/>
                <a:ea typeface="IBM Plex Sans" pitchFamily="34" charset="-122"/>
                <a:cs typeface="IBM Plex Sans" pitchFamily="34" charset="-120"/>
              </a:rPr>
              <a:t>SCREEN 4 · ADMIN DASHBOARD</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F4F8F7"/>
                </a:solidFill>
                <a:latin typeface="IBM Plex Sans" pitchFamily="34" charset="0"/>
                <a:ea typeface="IBM Plex Sans" pitchFamily="34" charset="-122"/>
                <a:cs typeface="IBM Plex Sans" pitchFamily="34" charset="-120"/>
              </a:rPr>
              <a:t>Performance and readiness at a glance</a:t>
            </a:r>
            <a:endParaRPr lang="en-US" sz="3200" dirty="0"/>
          </a:p>
        </p:txBody>
      </p:sp>
      <p:sp>
        <p:nvSpPr>
          <p:cNvPr id="4" name="Shape 2"/>
          <p:cNvSpPr/>
          <p:nvPr/>
        </p:nvSpPr>
        <p:spPr>
          <a:xfrm>
            <a:off x="812800" y="1778000"/>
            <a:ext cx="10566400" cy="3683000"/>
          </a:xfrm>
          <a:prstGeom prst="roundRect">
            <a:avLst>
              <a:gd name="adj" fmla="val 4828"/>
            </a:avLst>
          </a:prstGeom>
          <a:solidFill>
            <a:srgbClr val="F4F7F6"/>
          </a:solidFill>
          <a:ln/>
          <a:effectLst>
            <a:outerShdw sx="100000" sy="100000" kx="0" ky="0" algn="bl" rotWithShape="0" blurRad="508000" dist="254000" dir="5400000">
              <a:srgbClr val="000000">
                <a:alpha val="45000"/>
              </a:srgbClr>
            </a:outerShdw>
          </a:effectLst>
        </p:spPr>
      </p:sp>
      <p:sp>
        <p:nvSpPr>
          <p:cNvPr id="5" name="Shape 3"/>
          <p:cNvSpPr/>
          <p:nvPr/>
        </p:nvSpPr>
        <p:spPr>
          <a:xfrm>
            <a:off x="812800" y="1778000"/>
            <a:ext cx="10566400" cy="457200"/>
          </a:xfrm>
          <a:custGeom>
            <a:avLst/>
            <a:gdLst/>
            <a:ahLst/>
            <a:cxnLst/>
            <a:rect l="l" t="t" r="r" b="b"/>
            <a:pathLst>
              <a:path w="10566400" h="457200">
                <a:moveTo>
                  <a:pt x="0" y="177800"/>
                </a:moveTo>
                <a:arcTo hR="177800" wR="177800" stAng="10800000" swAng="5400000"/>
                <a:lnTo>
                  <a:pt x="10388600" y="0"/>
                </a:lnTo>
                <a:arcTo hR="177800" wR="177800" stAng="16200000" swAng="5400000"/>
                <a:lnTo>
                  <a:pt x="10566400" y="457200"/>
                </a:lnTo>
                <a:lnTo>
                  <a:pt x="0" y="457200"/>
                </a:lnTo>
                <a:close/>
              </a:path>
            </a:pathLst>
          </a:custGeom>
          <a:solidFill>
            <a:srgbClr val="FFFFFF"/>
          </a:solidFill>
          <a:ln/>
        </p:spPr>
      </p:sp>
      <p:sp>
        <p:nvSpPr>
          <p:cNvPr id="6" name="Shape 4"/>
          <p:cNvSpPr/>
          <p:nvPr/>
        </p:nvSpPr>
        <p:spPr>
          <a:xfrm>
            <a:off x="812800" y="1778000"/>
            <a:ext cx="10566400" cy="457200"/>
          </a:xfrm>
          <a:custGeom>
            <a:avLst/>
            <a:gdLst/>
            <a:ahLst/>
            <a:cxnLst/>
            <a:rect l="l" t="t" r="r" b="b"/>
            <a:pathLst>
              <a:path w="10566400" h="457200">
                <a:moveTo>
                  <a:pt x="0" y="450850"/>
                </a:moveTo>
                <a:lnTo>
                  <a:pt x="10566400" y="450850"/>
                </a:lnTo>
                <a:lnTo>
                  <a:pt x="10566400" y="457200"/>
                </a:lnTo>
                <a:lnTo>
                  <a:pt x="0" y="457200"/>
                </a:lnTo>
                <a:lnTo>
                  <a:pt x="0" y="450850"/>
                </a:lnTo>
                <a:close/>
              </a:path>
            </a:pathLst>
          </a:custGeom>
          <a:solidFill>
            <a:srgbClr val="E5ECEA"/>
          </a:solidFill>
          <a:ln/>
        </p:spPr>
      </p:sp>
      <p:sp>
        <p:nvSpPr>
          <p:cNvPr id="7" name="Shape 5"/>
          <p:cNvSpPr/>
          <p:nvPr/>
        </p:nvSpPr>
        <p:spPr>
          <a:xfrm>
            <a:off x="965200" y="1885950"/>
            <a:ext cx="1121470" cy="234950"/>
          </a:xfrm>
          <a:prstGeom prst="roundRect">
            <a:avLst>
              <a:gd name="adj" fmla="val 50000"/>
            </a:avLst>
          </a:prstGeom>
          <a:solidFill>
            <a:srgbClr val="FEF3C7"/>
          </a:solidFill>
          <a:ln/>
        </p:spPr>
      </p:sp>
      <p:sp>
        <p:nvSpPr>
          <p:cNvPr id="8" name="Text 6"/>
          <p:cNvSpPr/>
          <p:nvPr/>
        </p:nvSpPr>
        <p:spPr>
          <a:xfrm>
            <a:off x="1066800" y="1898650"/>
            <a:ext cx="96907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2400E"/>
                </a:solidFill>
                <a:latin typeface="IBM Plex Sans Arabic" pitchFamily="34" charset="0"/>
                <a:ea typeface="IBM Plex Sans Arabic" pitchFamily="34" charset="-122"/>
                <a:cs typeface="IBM Plex Sans Arabic" pitchFamily="34" charset="-120"/>
              </a:rPr>
              <a:t>بيانات توضيحية</a:t>
            </a:r>
            <a:endParaRPr lang="en-US" sz="1200" dirty="0"/>
          </a:p>
        </p:txBody>
      </p:sp>
      <p:sp>
        <p:nvSpPr>
          <p:cNvPr id="9" name="Shape 7"/>
          <p:cNvSpPr/>
          <p:nvPr/>
        </p:nvSpPr>
        <p:spPr>
          <a:xfrm>
            <a:off x="2175570" y="1885950"/>
            <a:ext cx="883543" cy="234950"/>
          </a:xfrm>
          <a:prstGeom prst="roundRect">
            <a:avLst>
              <a:gd name="adj" fmla="val 50000"/>
            </a:avLst>
          </a:prstGeom>
          <a:solidFill>
            <a:srgbClr val="EEF3F1"/>
          </a:solidFill>
          <a:ln/>
        </p:spPr>
      </p:sp>
      <p:sp>
        <p:nvSpPr>
          <p:cNvPr id="10" name="Text 8"/>
          <p:cNvSpPr/>
          <p:nvPr/>
        </p:nvSpPr>
        <p:spPr>
          <a:xfrm>
            <a:off x="2277170" y="1898650"/>
            <a:ext cx="73114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6167"/>
                </a:solidFill>
                <a:latin typeface="IBM Plex Sans Arabic" pitchFamily="34" charset="0"/>
                <a:ea typeface="IBM Plex Sans Arabic" pitchFamily="34" charset="-122"/>
                <a:cs typeface="IBM Plex Sans Arabic" pitchFamily="34" charset="-120"/>
              </a:rPr>
              <a:t>هذا الأسبوع</a:t>
            </a:r>
            <a:endParaRPr lang="en-US" sz="1200" dirty="0"/>
          </a:p>
        </p:txBody>
      </p:sp>
      <p:sp>
        <p:nvSpPr>
          <p:cNvPr id="11" name="Text 9"/>
          <p:cNvSpPr/>
          <p:nvPr/>
        </p:nvSpPr>
        <p:spPr>
          <a:xfrm>
            <a:off x="9385022" y="1879600"/>
            <a:ext cx="1841778" cy="27305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E2A33"/>
                </a:solidFill>
                <a:latin typeface="IBM Plex Sans Arabic" pitchFamily="34" charset="0"/>
                <a:ea typeface="IBM Plex Sans Arabic" pitchFamily="34" charset="-122"/>
                <a:cs typeface="IBM Plex Sans Arabic" pitchFamily="34" charset="-120"/>
              </a:rPr>
              <a:t>لوحة الإدارة — [الولاية]</a:t>
            </a:r>
            <a:endParaRPr lang="en-US" sz="1400" dirty="0"/>
          </a:p>
        </p:txBody>
      </p:sp>
      <p:sp>
        <p:nvSpPr>
          <p:cNvPr id="12" name="Shape 10"/>
          <p:cNvSpPr/>
          <p:nvPr/>
        </p:nvSpPr>
        <p:spPr>
          <a:xfrm>
            <a:off x="939800" y="2362200"/>
            <a:ext cx="2501900" cy="857250"/>
          </a:xfrm>
          <a:prstGeom prst="roundRect">
            <a:avLst>
              <a:gd name="adj" fmla="val 14815"/>
            </a:avLst>
          </a:prstGeom>
          <a:solidFill>
            <a:srgbClr val="FFFFFF"/>
          </a:solidFill>
          <a:ln/>
          <a:effectLst>
            <a:outerShdw sx="100000" sy="100000" kx="0" ky="0" algn="bl" rotWithShape="0" blurRad="114300" dist="38100" dir="5400000">
              <a:srgbClr val="0E2A33">
                <a:alpha val="6000"/>
              </a:srgbClr>
            </a:outerShdw>
          </a:effectLst>
        </p:spPr>
      </p:sp>
      <p:pic>
        <p:nvPicPr>
          <p:cNvPr id="13" name="Image 0" descr="Trend">    </p:cNvPr>
          <p:cNvPicPr>
            <a:picLocks noChangeAspect="1"/>
          </p:cNvPicPr>
          <p:nvPr/>
        </p:nvPicPr>
        <p:blipFill>
          <a:blip r:embed="rId1"/>
          <a:srcRect l="0" r="0" t="0" b="0"/>
          <a:stretch/>
        </p:blipFill>
        <p:spPr>
          <a:xfrm>
            <a:off x="1054100" y="2638425"/>
            <a:ext cx="762000" cy="304800"/>
          </a:xfrm>
          <a:prstGeom prst="rect">
            <a:avLst/>
          </a:prstGeom>
        </p:spPr>
      </p:pic>
      <p:sp>
        <p:nvSpPr>
          <p:cNvPr id="14" name="Text 11"/>
          <p:cNvSpPr/>
          <p:nvPr/>
        </p:nvSpPr>
        <p:spPr>
          <a:xfrm>
            <a:off x="2336602" y="2463800"/>
            <a:ext cx="110509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مستشفيات تعمل</a:t>
            </a:r>
            <a:endParaRPr lang="en-US" sz="1200" dirty="0"/>
          </a:p>
        </p:txBody>
      </p:sp>
      <p:sp>
        <p:nvSpPr>
          <p:cNvPr id="15" name="Text 12"/>
          <p:cNvSpPr/>
          <p:nvPr/>
        </p:nvSpPr>
        <p:spPr>
          <a:xfrm>
            <a:off x="2225238" y="2673350"/>
            <a:ext cx="1102162" cy="469900"/>
          </a:xfrm>
          <a:prstGeom prst="rect">
            <a:avLst/>
          </a:prstGeom>
          <a:noFill/>
          <a:ln/>
        </p:spPr>
        <p:txBody>
          <a:bodyPr wrap="square" lIns="0" tIns="0" rIns="0" bIns="0" rtlCol="0" anchor="t">
            <a:normAutofit/>
          </a:bodyPr>
          <a:lstStyle/>
          <a:p>
            <a:pPr algn="r" indent="0" marL="0">
              <a:lnSpc>
                <a:spcPts val="3520"/>
              </a:lnSpc>
              <a:buNone/>
            </a:pPr>
            <a:r>
              <a:rPr lang="en-US" sz="3200" b="1" dirty="0">
                <a:solidFill>
                  <a:srgbClr val="0E2A33"/>
                </a:solidFill>
                <a:latin typeface="IBM Plex Sans Arabic" pitchFamily="34" charset="0"/>
                <a:ea typeface="IBM Plex Sans Arabic" pitchFamily="34" charset="-122"/>
                <a:cs typeface="IBM Plex Sans Arabic" pitchFamily="34" charset="-120"/>
              </a:rPr>
              <a:t>9/11</a:t>
            </a:r>
            <a:endParaRPr lang="en-US" sz="3200" dirty="0"/>
          </a:p>
        </p:txBody>
      </p:sp>
      <p:sp>
        <p:nvSpPr>
          <p:cNvPr id="16" name="Shape 13"/>
          <p:cNvSpPr/>
          <p:nvPr/>
        </p:nvSpPr>
        <p:spPr>
          <a:xfrm>
            <a:off x="3543300" y="2362200"/>
            <a:ext cx="2501900" cy="857250"/>
          </a:xfrm>
          <a:prstGeom prst="roundRect">
            <a:avLst>
              <a:gd name="adj" fmla="val 14815"/>
            </a:avLst>
          </a:prstGeom>
          <a:solidFill>
            <a:srgbClr val="FFFFFF"/>
          </a:solidFill>
          <a:ln/>
          <a:effectLst>
            <a:outerShdw sx="100000" sy="100000" kx="0" ky="0" algn="bl" rotWithShape="0" blurRad="114300" dist="38100" dir="5400000">
              <a:srgbClr val="0E2A33">
                <a:alpha val="6000"/>
              </a:srgbClr>
            </a:outerShdw>
          </a:effectLst>
        </p:spPr>
      </p:sp>
      <p:pic>
        <p:nvPicPr>
          <p:cNvPr id="17" name="Image 1" descr="Trend">    </p:cNvPr>
          <p:cNvPicPr>
            <a:picLocks noChangeAspect="1"/>
          </p:cNvPicPr>
          <p:nvPr/>
        </p:nvPicPr>
        <p:blipFill>
          <a:blip r:embed="rId2"/>
          <a:srcRect l="0" r="0" t="0" b="0"/>
          <a:stretch/>
        </p:blipFill>
        <p:spPr>
          <a:xfrm>
            <a:off x="3657600" y="2638425"/>
            <a:ext cx="762000" cy="304800"/>
          </a:xfrm>
          <a:prstGeom prst="rect">
            <a:avLst/>
          </a:prstGeom>
        </p:spPr>
      </p:pic>
      <p:sp>
        <p:nvSpPr>
          <p:cNvPr id="18" name="Text 14"/>
          <p:cNvSpPr/>
          <p:nvPr/>
        </p:nvSpPr>
        <p:spPr>
          <a:xfrm>
            <a:off x="5004356" y="2463800"/>
            <a:ext cx="926544"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سيارات متاحة</a:t>
            </a:r>
            <a:endParaRPr lang="en-US" sz="1200" dirty="0"/>
          </a:p>
        </p:txBody>
      </p:sp>
      <p:sp>
        <p:nvSpPr>
          <p:cNvPr id="19" name="Text 15"/>
          <p:cNvSpPr/>
          <p:nvPr/>
        </p:nvSpPr>
        <p:spPr>
          <a:xfrm>
            <a:off x="4768552" y="2673350"/>
            <a:ext cx="1276648" cy="46990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E2A33"/>
                </a:solidFill>
                <a:latin typeface="IBM Plex Sans Arabic" pitchFamily="34" charset="0"/>
                <a:ea typeface="IBM Plex Sans Arabic" pitchFamily="34" charset="-122"/>
                <a:cs typeface="IBM Plex Sans Arabic" pitchFamily="34" charset="-120"/>
              </a:rPr>
              <a:t>14/20</a:t>
            </a:r>
            <a:endParaRPr lang="en-US" sz="3200" dirty="0"/>
          </a:p>
        </p:txBody>
      </p:sp>
      <p:sp>
        <p:nvSpPr>
          <p:cNvPr id="20" name="Shape 16"/>
          <p:cNvSpPr/>
          <p:nvPr/>
        </p:nvSpPr>
        <p:spPr>
          <a:xfrm>
            <a:off x="6146800" y="2362200"/>
            <a:ext cx="2501900" cy="857250"/>
          </a:xfrm>
          <a:prstGeom prst="roundRect">
            <a:avLst>
              <a:gd name="adj" fmla="val 14815"/>
            </a:avLst>
          </a:prstGeom>
          <a:solidFill>
            <a:srgbClr val="FFFFFF"/>
          </a:solidFill>
          <a:ln/>
          <a:effectLst>
            <a:outerShdw sx="100000" sy="100000" kx="0" ky="0" algn="bl" rotWithShape="0" blurRad="114300" dist="38100" dir="5400000">
              <a:srgbClr val="0E2A33">
                <a:alpha val="6000"/>
              </a:srgbClr>
            </a:outerShdw>
          </a:effectLst>
        </p:spPr>
      </p:sp>
      <p:pic>
        <p:nvPicPr>
          <p:cNvPr id="21" name="Image 2" descr="Trend">    </p:cNvPr>
          <p:cNvPicPr>
            <a:picLocks noChangeAspect="1"/>
          </p:cNvPicPr>
          <p:nvPr/>
        </p:nvPicPr>
        <p:blipFill>
          <a:blip r:embed="rId3"/>
          <a:srcRect l="0" r="0" t="0" b="0"/>
          <a:stretch/>
        </p:blipFill>
        <p:spPr>
          <a:xfrm>
            <a:off x="6261100" y="2638425"/>
            <a:ext cx="762000" cy="304800"/>
          </a:xfrm>
          <a:prstGeom prst="rect">
            <a:avLst/>
          </a:prstGeom>
        </p:spPr>
      </p:pic>
      <p:sp>
        <p:nvSpPr>
          <p:cNvPr id="22" name="Text 17"/>
          <p:cNvSpPr/>
          <p:nvPr/>
        </p:nvSpPr>
        <p:spPr>
          <a:xfrm>
            <a:off x="7856339" y="2463800"/>
            <a:ext cx="79236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بلاغات اليوم</a:t>
            </a:r>
            <a:endParaRPr lang="en-US" sz="1200" dirty="0"/>
          </a:p>
        </p:txBody>
      </p:sp>
      <p:sp>
        <p:nvSpPr>
          <p:cNvPr id="23" name="Text 18"/>
          <p:cNvSpPr/>
          <p:nvPr/>
        </p:nvSpPr>
        <p:spPr>
          <a:xfrm>
            <a:off x="7949089" y="2673350"/>
            <a:ext cx="585311" cy="469900"/>
          </a:xfrm>
          <a:prstGeom prst="rect">
            <a:avLst/>
          </a:prstGeom>
          <a:noFill/>
          <a:ln/>
        </p:spPr>
        <p:txBody>
          <a:bodyPr wrap="square" lIns="0" tIns="0" rIns="0" bIns="0" rtlCol="0" anchor="t">
            <a:normAutofit/>
          </a:bodyPr>
          <a:lstStyle/>
          <a:p>
            <a:pPr algn="r" indent="0" marL="0">
              <a:lnSpc>
                <a:spcPts val="3520"/>
              </a:lnSpc>
              <a:buNone/>
            </a:pPr>
            <a:r>
              <a:rPr lang="en-US" sz="3200" b="1" dirty="0">
                <a:solidFill>
                  <a:srgbClr val="0E2A33"/>
                </a:solidFill>
                <a:latin typeface="IBM Plex Sans Arabic" pitchFamily="34" charset="0"/>
                <a:ea typeface="IBM Plex Sans Arabic" pitchFamily="34" charset="-122"/>
                <a:cs typeface="IBM Plex Sans Arabic" pitchFamily="34" charset="-120"/>
              </a:rPr>
              <a:t>86</a:t>
            </a:r>
            <a:endParaRPr lang="en-US" sz="3200" dirty="0"/>
          </a:p>
        </p:txBody>
      </p:sp>
      <p:sp>
        <p:nvSpPr>
          <p:cNvPr id="24" name="Shape 19"/>
          <p:cNvSpPr/>
          <p:nvPr/>
        </p:nvSpPr>
        <p:spPr>
          <a:xfrm>
            <a:off x="8750300" y="2362200"/>
            <a:ext cx="2501900" cy="857250"/>
          </a:xfrm>
          <a:prstGeom prst="roundRect">
            <a:avLst>
              <a:gd name="adj" fmla="val 14815"/>
            </a:avLst>
          </a:prstGeom>
          <a:gradFill rotWithShape="1">
            <a:gsLst>
              <a:gs pos="0">
                <a:srgbClr val="0B6E64"/>
              </a:gs>
              <a:gs pos="100000">
                <a:srgbClr val="14B8A6"/>
              </a:gs>
            </a:gsLst>
            <a:lin ang="2700000" scaled="0"/>
          </a:gradFill>
          <a:ln/>
          <a:effectLst>
            <a:outerShdw sx="100000" sy="100000" kx="0" ky="0" algn="bl" rotWithShape="0" blurRad="177800" dist="76200" dir="5400000">
              <a:srgbClr val="0B6E64">
                <a:alpha val="30000"/>
              </a:srgbClr>
            </a:outerShdw>
          </a:effectLst>
        </p:spPr>
      </p:sp>
      <p:pic>
        <p:nvPicPr>
          <p:cNvPr id="25" name="Image 3" descr="Trend">    </p:cNvPr>
          <p:cNvPicPr>
            <a:picLocks noChangeAspect="1"/>
          </p:cNvPicPr>
          <p:nvPr/>
        </p:nvPicPr>
        <p:blipFill>
          <a:blip r:embed="rId4"/>
          <a:srcRect l="0" r="0" t="0" b="0"/>
          <a:stretch/>
        </p:blipFill>
        <p:spPr>
          <a:xfrm>
            <a:off x="8864600" y="2638425"/>
            <a:ext cx="762000" cy="304800"/>
          </a:xfrm>
          <a:prstGeom prst="rect">
            <a:avLst/>
          </a:prstGeom>
        </p:spPr>
      </p:pic>
      <p:sp>
        <p:nvSpPr>
          <p:cNvPr id="26" name="Text 20"/>
          <p:cNvSpPr/>
          <p:nvPr/>
        </p:nvSpPr>
        <p:spPr>
          <a:xfrm>
            <a:off x="10131524" y="2463800"/>
            <a:ext cx="112067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CFBF1"/>
                </a:solidFill>
                <a:latin typeface="IBM Plex Sans Arabic" pitchFamily="34" charset="0"/>
                <a:ea typeface="IBM Plex Sans Arabic" pitchFamily="34" charset="-122"/>
                <a:cs typeface="IBM Plex Sans Arabic" pitchFamily="34" charset="-120"/>
              </a:rPr>
              <a:t>زمن الاستجابة P1</a:t>
            </a:r>
            <a:endParaRPr lang="en-US" sz="1200" dirty="0"/>
          </a:p>
        </p:txBody>
      </p:sp>
      <p:sp>
        <p:nvSpPr>
          <p:cNvPr id="27" name="Text 21"/>
          <p:cNvSpPr/>
          <p:nvPr/>
        </p:nvSpPr>
        <p:spPr>
          <a:xfrm>
            <a:off x="10188853" y="2673350"/>
            <a:ext cx="949047" cy="469900"/>
          </a:xfrm>
          <a:prstGeom prst="rect">
            <a:avLst/>
          </a:prstGeom>
          <a:noFill/>
          <a:ln/>
        </p:spPr>
        <p:txBody>
          <a:bodyPr wrap="square" lIns="0" tIns="0" rIns="0" bIns="0" rtlCol="0" anchor="t">
            <a:normAutofit/>
          </a:bodyPr>
          <a:lstStyle/>
          <a:p>
            <a:pPr algn="r" indent="0" marL="0">
              <a:lnSpc>
                <a:spcPts val="3520"/>
              </a:lnSpc>
              <a:buNone/>
            </a:pPr>
            <a:r>
              <a:rPr lang="en-US" sz="3200" b="1" dirty="0">
                <a:solidFill>
                  <a:srgbClr val="FFFFFF"/>
                </a:solidFill>
                <a:latin typeface="IBM Plex Sans Arabic" pitchFamily="34" charset="0"/>
                <a:ea typeface="IBM Plex Sans Arabic" pitchFamily="34" charset="-122"/>
                <a:cs typeface="IBM Plex Sans Arabic" pitchFamily="34" charset="-120"/>
              </a:rPr>
              <a:t>12 د</a:t>
            </a:r>
            <a:endParaRPr lang="en-US" sz="3200" dirty="0"/>
          </a:p>
        </p:txBody>
      </p:sp>
      <p:sp>
        <p:nvSpPr>
          <p:cNvPr id="28" name="Shape 22"/>
          <p:cNvSpPr/>
          <p:nvPr/>
        </p:nvSpPr>
        <p:spPr>
          <a:xfrm>
            <a:off x="939800" y="3333750"/>
            <a:ext cx="4191000" cy="2000250"/>
          </a:xfrm>
          <a:prstGeom prst="roundRect">
            <a:avLst>
              <a:gd name="adj" fmla="val 6349"/>
            </a:avLst>
          </a:prstGeom>
          <a:solidFill>
            <a:srgbClr val="FFFFFF"/>
          </a:solidFill>
          <a:ln/>
          <a:effectLst>
            <a:outerShdw sx="100000" sy="100000" kx="0" ky="0" algn="bl" rotWithShape="0" blurRad="114300" dist="38100" dir="5400000">
              <a:srgbClr val="0E2A33">
                <a:alpha val="6000"/>
              </a:srgbClr>
            </a:outerShdw>
          </a:effectLst>
        </p:spPr>
      </p:sp>
      <p:sp>
        <p:nvSpPr>
          <p:cNvPr id="29" name="Text 23"/>
          <p:cNvSpPr/>
          <p:nvPr/>
        </p:nvSpPr>
        <p:spPr>
          <a:xfrm>
            <a:off x="948690" y="3435350"/>
            <a:ext cx="4055110"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حالة المستشفيات</a:t>
            </a:r>
            <a:endParaRPr lang="en-US" sz="1200" dirty="0"/>
          </a:p>
        </p:txBody>
      </p:sp>
      <p:sp>
        <p:nvSpPr>
          <p:cNvPr id="30" name="Text 24"/>
          <p:cNvSpPr/>
          <p:nvPr/>
        </p:nvSpPr>
        <p:spPr>
          <a:xfrm>
            <a:off x="1066800" y="3746500"/>
            <a:ext cx="65901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قبل 10 د</a:t>
            </a:r>
            <a:endParaRPr lang="en-US" sz="1200" dirty="0"/>
          </a:p>
        </p:txBody>
      </p:sp>
      <p:sp>
        <p:nvSpPr>
          <p:cNvPr id="31" name="Text 25"/>
          <p:cNvSpPr/>
          <p:nvPr/>
        </p:nvSpPr>
        <p:spPr>
          <a:xfrm>
            <a:off x="4100711" y="3746500"/>
            <a:ext cx="814189"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مستشفى [أ]</a:t>
            </a:r>
            <a:endParaRPr lang="en-US" sz="1200" dirty="0"/>
          </a:p>
        </p:txBody>
      </p:sp>
      <p:pic>
        <p:nvPicPr>
          <p:cNvPr id="32" name="Image 4" descr="ellipse">    </p:cNvPr>
          <p:cNvPicPr>
            <a:picLocks noChangeAspect="1"/>
          </p:cNvPicPr>
          <p:nvPr/>
        </p:nvPicPr>
        <p:blipFill>
          <a:blip r:embed="rId5"/>
          <a:srcRect l="0" r="0" t="0" b="0"/>
          <a:stretch/>
        </p:blipFill>
        <p:spPr>
          <a:xfrm>
            <a:off x="4914900" y="3806825"/>
            <a:ext cx="88900" cy="88900"/>
          </a:xfrm>
          <a:prstGeom prst="rect">
            <a:avLst/>
          </a:prstGeom>
        </p:spPr>
      </p:pic>
      <p:sp>
        <p:nvSpPr>
          <p:cNvPr id="33" name="Shape 26"/>
          <p:cNvSpPr/>
          <p:nvPr/>
        </p:nvSpPr>
        <p:spPr>
          <a:xfrm>
            <a:off x="1066800" y="4060825"/>
            <a:ext cx="3937000" cy="0"/>
          </a:xfrm>
          <a:prstGeom prst="line">
            <a:avLst/>
          </a:prstGeom>
          <a:noFill/>
          <a:ln w="6350">
            <a:solidFill>
              <a:srgbClr val="EEF3F1"/>
            </a:solidFill>
            <a:prstDash val="solid"/>
          </a:ln>
        </p:spPr>
      </p:sp>
      <p:sp>
        <p:nvSpPr>
          <p:cNvPr id="34" name="Text 27"/>
          <p:cNvSpPr/>
          <p:nvPr/>
        </p:nvSpPr>
        <p:spPr>
          <a:xfrm>
            <a:off x="1066800" y="4102100"/>
            <a:ext cx="67091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7B"/>
                </a:solidFill>
                <a:latin typeface="IBM Plex Sans Arabic" pitchFamily="34" charset="0"/>
                <a:ea typeface="IBM Plex Sans Arabic" pitchFamily="34" charset="-122"/>
                <a:cs typeface="IBM Plex Sans Arabic" pitchFamily="34" charset="-120"/>
              </a:rPr>
              <a:t>قبل 1 س</a:t>
            </a:r>
            <a:endParaRPr lang="en-US" sz="1200" dirty="0"/>
          </a:p>
        </p:txBody>
      </p:sp>
      <p:sp>
        <p:nvSpPr>
          <p:cNvPr id="35" name="Text 28"/>
          <p:cNvSpPr/>
          <p:nvPr/>
        </p:nvSpPr>
        <p:spPr>
          <a:xfrm>
            <a:off x="4006056" y="4102100"/>
            <a:ext cx="908844"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مستشفى [ب]</a:t>
            </a:r>
            <a:endParaRPr lang="en-US" sz="1200" dirty="0"/>
          </a:p>
        </p:txBody>
      </p:sp>
      <p:pic>
        <p:nvPicPr>
          <p:cNvPr id="36" name="Image 5" descr="ellipse">    </p:cNvPr>
          <p:cNvPicPr>
            <a:picLocks noChangeAspect="1"/>
          </p:cNvPicPr>
          <p:nvPr/>
        </p:nvPicPr>
        <p:blipFill>
          <a:blip r:embed="rId6"/>
          <a:srcRect l="0" r="0" t="0" b="0"/>
          <a:stretch/>
        </p:blipFill>
        <p:spPr>
          <a:xfrm>
            <a:off x="4914900" y="4162425"/>
            <a:ext cx="88900" cy="88900"/>
          </a:xfrm>
          <a:prstGeom prst="rect">
            <a:avLst/>
          </a:prstGeom>
        </p:spPr>
      </p:pic>
      <p:sp>
        <p:nvSpPr>
          <p:cNvPr id="37" name="Shape 29"/>
          <p:cNvSpPr/>
          <p:nvPr/>
        </p:nvSpPr>
        <p:spPr>
          <a:xfrm>
            <a:off x="1069975" y="4416425"/>
            <a:ext cx="3930650" cy="292100"/>
          </a:xfrm>
          <a:prstGeom prst="roundRect">
            <a:avLst>
              <a:gd name="adj" fmla="val 29348"/>
            </a:avLst>
          </a:prstGeom>
          <a:solidFill>
            <a:srgbClr val="FFF7ED"/>
          </a:solidFill>
          <a:ln w="6350">
            <a:solidFill>
              <a:srgbClr val="FED7AA"/>
            </a:solidFill>
            <a:prstDash val="solid"/>
          </a:ln>
        </p:spPr>
      </p:sp>
      <p:sp>
        <p:nvSpPr>
          <p:cNvPr id="38" name="Text 30"/>
          <p:cNvSpPr/>
          <p:nvPr/>
        </p:nvSpPr>
        <p:spPr>
          <a:xfrm>
            <a:off x="1162050" y="4457700"/>
            <a:ext cx="1493639"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BM Plex Sans Arabic" pitchFamily="34" charset="0"/>
                <a:ea typeface="IBM Plex Sans Arabic" pitchFamily="34" charset="-122"/>
                <a:cs typeface="IBM Plex Sans Arabic" pitchFamily="34" charset="-120"/>
              </a:rPr>
              <a:t>قبل 5 س · لم يُحدَّث</a:t>
            </a:r>
            <a:endParaRPr lang="en-US" sz="1200" dirty="0"/>
          </a:p>
        </p:txBody>
      </p:sp>
      <p:sp>
        <p:nvSpPr>
          <p:cNvPr id="39" name="Text 31"/>
          <p:cNvSpPr/>
          <p:nvPr/>
        </p:nvSpPr>
        <p:spPr>
          <a:xfrm>
            <a:off x="3948509" y="4457700"/>
            <a:ext cx="871141"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مستشفى [ج]</a:t>
            </a:r>
            <a:endParaRPr lang="en-US" sz="1200" dirty="0"/>
          </a:p>
        </p:txBody>
      </p:sp>
      <p:pic>
        <p:nvPicPr>
          <p:cNvPr id="40" name="Image 6" descr="ellipse">    </p:cNvPr>
          <p:cNvPicPr>
            <a:picLocks noChangeAspect="1"/>
          </p:cNvPicPr>
          <p:nvPr/>
        </p:nvPicPr>
        <p:blipFill>
          <a:blip r:embed="rId7"/>
          <a:srcRect l="0" r="0" t="0" b="0"/>
          <a:stretch/>
        </p:blipFill>
        <p:spPr>
          <a:xfrm>
            <a:off x="4819650" y="4518025"/>
            <a:ext cx="88900" cy="88900"/>
          </a:xfrm>
          <a:prstGeom prst="rect">
            <a:avLst/>
          </a:prstGeom>
        </p:spPr>
      </p:pic>
      <p:sp>
        <p:nvSpPr>
          <p:cNvPr id="41" name="Shape 32"/>
          <p:cNvSpPr/>
          <p:nvPr/>
        </p:nvSpPr>
        <p:spPr>
          <a:xfrm>
            <a:off x="5232400" y="3333750"/>
            <a:ext cx="6019800" cy="2000250"/>
          </a:xfrm>
          <a:prstGeom prst="roundRect">
            <a:avLst>
              <a:gd name="adj" fmla="val 6349"/>
            </a:avLst>
          </a:prstGeom>
          <a:solidFill>
            <a:srgbClr val="FFFFFF"/>
          </a:solidFill>
          <a:ln/>
          <a:effectLst>
            <a:outerShdw sx="100000" sy="100000" kx="0" ky="0" algn="bl" rotWithShape="0" blurRad="114300" dist="38100" dir="5400000">
              <a:srgbClr val="0E2A33">
                <a:alpha val="6000"/>
              </a:srgbClr>
            </a:outerShdw>
          </a:effectLst>
        </p:spPr>
      </p:sp>
      <p:sp>
        <p:nvSpPr>
          <p:cNvPr id="42" name="Text 33"/>
          <p:cNvSpPr/>
          <p:nvPr/>
        </p:nvSpPr>
        <p:spPr>
          <a:xfrm>
            <a:off x="9582388" y="3435350"/>
            <a:ext cx="1542812" cy="23495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2A33"/>
                </a:solidFill>
                <a:latin typeface="IBM Plex Sans Arabic" pitchFamily="34" charset="0"/>
                <a:ea typeface="IBM Plex Sans Arabic" pitchFamily="34" charset="-122"/>
                <a:cs typeface="IBM Plex Sans Arabic" pitchFamily="34" charset="-120"/>
              </a:rPr>
              <a:t>متوسط زمن الاستجابة</a:t>
            </a:r>
            <a:endParaRPr lang="en-US" sz="1200" dirty="0"/>
          </a:p>
        </p:txBody>
      </p:sp>
      <p:pic>
        <p:nvPicPr>
          <p:cNvPr id="43" name="Image 7" descr="Average response time falling over eight weeks">    </p:cNvPr>
          <p:cNvPicPr>
            <a:picLocks noChangeAspect="1"/>
          </p:cNvPicPr>
          <p:nvPr/>
        </p:nvPicPr>
        <p:blipFill>
          <a:blip r:embed="rId8"/>
          <a:srcRect l="0" r="0" t="0" b="0"/>
          <a:stretch/>
        </p:blipFill>
        <p:spPr>
          <a:xfrm>
            <a:off x="5918200" y="3683000"/>
            <a:ext cx="5207000" cy="1270000"/>
          </a:xfrm>
          <a:prstGeom prst="rect">
            <a:avLst/>
          </a:prstGeom>
        </p:spPr>
      </p:pic>
      <p:sp>
        <p:nvSpPr>
          <p:cNvPr id="44" name="Shape 34"/>
          <p:cNvSpPr/>
          <p:nvPr/>
        </p:nvSpPr>
        <p:spPr>
          <a:xfrm>
            <a:off x="11023600" y="23114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45" name="Text 35"/>
          <p:cNvSpPr/>
          <p:nvPr/>
        </p:nvSpPr>
        <p:spPr>
          <a:xfrm>
            <a:off x="10998200" y="23114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1</a:t>
            </a:r>
            <a:endParaRPr lang="en-US" sz="1200" dirty="0"/>
          </a:p>
        </p:txBody>
      </p:sp>
      <p:sp>
        <p:nvSpPr>
          <p:cNvPr id="46" name="Shape 36"/>
          <p:cNvSpPr/>
          <p:nvPr/>
        </p:nvSpPr>
        <p:spPr>
          <a:xfrm>
            <a:off x="11023600" y="35560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47" name="Text 37"/>
          <p:cNvSpPr/>
          <p:nvPr/>
        </p:nvSpPr>
        <p:spPr>
          <a:xfrm>
            <a:off x="10998200" y="35560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2</a:t>
            </a:r>
            <a:endParaRPr lang="en-US" sz="1200" dirty="0"/>
          </a:p>
        </p:txBody>
      </p:sp>
      <p:sp>
        <p:nvSpPr>
          <p:cNvPr id="48" name="Shape 38"/>
          <p:cNvSpPr/>
          <p:nvPr/>
        </p:nvSpPr>
        <p:spPr>
          <a:xfrm>
            <a:off x="800100" y="4889500"/>
            <a:ext cx="279400" cy="273050"/>
          </a:xfrm>
          <a:prstGeom prst="roundRect">
            <a:avLst>
              <a:gd name="adj" fmla="val 50000"/>
            </a:avLst>
          </a:prstGeom>
          <a:solidFill>
            <a:srgbClr val="5EEAD4"/>
          </a:solidFill>
          <a:ln/>
          <a:effectLst>
            <a:outerShdw sx="100000" sy="100000" kx="0" ky="0" algn="bl" rotWithShape="0" blurRad="50800" dist="0" dir="60000">
              <a:srgbClr val="5EEAD4">
                <a:alpha val="22000"/>
              </a:srgbClr>
            </a:outerShdw>
          </a:effectLst>
        </p:spPr>
      </p:sp>
      <p:sp>
        <p:nvSpPr>
          <p:cNvPr id="49" name="Text 39"/>
          <p:cNvSpPr/>
          <p:nvPr/>
        </p:nvSpPr>
        <p:spPr>
          <a:xfrm>
            <a:off x="774700" y="4889500"/>
            <a:ext cx="330200" cy="298450"/>
          </a:xfrm>
          <a:prstGeom prst="rect">
            <a:avLst/>
          </a:prstGeom>
          <a:noFill/>
          <a:ln/>
        </p:spPr>
        <p:txBody>
          <a:bodyPr wrap="square" lIns="0" tIns="0" rIns="0" bIns="0" rtlCol="0" anchor="t">
            <a:normAutofit/>
          </a:bodyPr>
          <a:lstStyle/>
          <a:p>
            <a:pPr algn="ctr" indent="0" marL="0">
              <a:lnSpc>
                <a:spcPts val="2196"/>
              </a:lnSpc>
              <a:buNone/>
            </a:pPr>
            <a:r>
              <a:rPr lang="en-US" sz="1200" b="1" dirty="0">
                <a:solidFill>
                  <a:srgbClr val="062A26"/>
                </a:solidFill>
                <a:latin typeface="IBM Plex Sans" pitchFamily="34" charset="0"/>
                <a:ea typeface="IBM Plex Sans" pitchFamily="34" charset="-122"/>
                <a:cs typeface="IBM Plex Sans" pitchFamily="34" charset="-120"/>
              </a:rPr>
              <a:t>3</a:t>
            </a:r>
            <a:endParaRPr lang="en-US" sz="1200" dirty="0"/>
          </a:p>
        </p:txBody>
      </p:sp>
      <p:sp>
        <p:nvSpPr>
          <p:cNvPr id="50" name="Shape 40"/>
          <p:cNvSpPr/>
          <p:nvPr/>
        </p:nvSpPr>
        <p:spPr>
          <a:xfrm>
            <a:off x="815975" y="5591175"/>
            <a:ext cx="2721570"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51" name="Text 41"/>
          <p:cNvSpPr/>
          <p:nvPr/>
        </p:nvSpPr>
        <p:spPr>
          <a:xfrm>
            <a:off x="933450" y="5619750"/>
            <a:ext cx="2561219"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1</a:t>
            </a:r>
            <a:r>
              <a:rPr lang="en-US" sz="1200" dirty="0">
                <a:solidFill>
                  <a:srgbClr val="C9DAD6"/>
                </a:solidFill>
                <a:latin typeface="IBM Plex Sans" pitchFamily="34" charset="0"/>
                <a:ea typeface="IBM Plex Sans" pitchFamily="34" charset="-122"/>
                <a:cs typeface="IBM Plex Sans" pitchFamily="34" charset="-120"/>
              </a:rPr>
              <a:t> Key numbers with clear definitions</a:t>
            </a:r>
            <a:endParaRPr lang="en-US" sz="1200" dirty="0"/>
          </a:p>
        </p:txBody>
      </p:sp>
      <p:sp>
        <p:nvSpPr>
          <p:cNvPr id="52" name="Shape 42"/>
          <p:cNvSpPr/>
          <p:nvPr/>
        </p:nvSpPr>
        <p:spPr>
          <a:xfrm>
            <a:off x="3645495" y="5591175"/>
            <a:ext cx="1336973"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53" name="Text 43"/>
          <p:cNvSpPr/>
          <p:nvPr/>
        </p:nvSpPr>
        <p:spPr>
          <a:xfrm>
            <a:off x="3762970" y="5619750"/>
            <a:ext cx="115282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2</a:t>
            </a:r>
            <a:r>
              <a:rPr lang="en-US" sz="1200" dirty="0">
                <a:solidFill>
                  <a:srgbClr val="C9DAD6"/>
                </a:solidFill>
                <a:latin typeface="IBM Plex Sans" pitchFamily="34" charset="0"/>
                <a:ea typeface="IBM Plex Sans" pitchFamily="34" charset="-122"/>
                <a:cs typeface="IBM Plex Sans" pitchFamily="34" charset="-120"/>
              </a:rPr>
              <a:t> Weekly trends</a:t>
            </a:r>
            <a:endParaRPr lang="en-US" sz="1200" dirty="0"/>
          </a:p>
        </p:txBody>
      </p:sp>
      <p:sp>
        <p:nvSpPr>
          <p:cNvPr id="54" name="Shape 44"/>
          <p:cNvSpPr/>
          <p:nvPr/>
        </p:nvSpPr>
        <p:spPr>
          <a:xfrm>
            <a:off x="5090418" y="5591175"/>
            <a:ext cx="2368748" cy="266700"/>
          </a:xfrm>
          <a:prstGeom prst="roundRect">
            <a:avLst>
              <a:gd name="adj" fmla="val 50000"/>
            </a:avLst>
          </a:prstGeom>
          <a:solidFill>
            <a:srgbClr val="FFFFFF">
              <a:alpha val="6000"/>
            </a:srgbClr>
          </a:solidFill>
          <a:ln w="6350">
            <a:solidFill>
              <a:srgbClr val="FFFFFF">
                <a:alpha val="10000"/>
              </a:srgbClr>
            </a:solidFill>
            <a:prstDash val="solid"/>
          </a:ln>
        </p:spPr>
      </p:sp>
      <p:sp>
        <p:nvSpPr>
          <p:cNvPr id="55" name="Text 45"/>
          <p:cNvSpPr/>
          <p:nvPr/>
        </p:nvSpPr>
        <p:spPr>
          <a:xfrm>
            <a:off x="5207893" y="5619750"/>
            <a:ext cx="219781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EAD4"/>
                </a:solidFill>
                <a:latin typeface="IBM Plex Sans" pitchFamily="34" charset="0"/>
                <a:ea typeface="IBM Plex Sans" pitchFamily="34" charset="-122"/>
                <a:cs typeface="IBM Plex Sans" pitchFamily="34" charset="-120"/>
              </a:rPr>
              <a:t>3</a:t>
            </a:r>
            <a:r>
              <a:rPr lang="en-US" sz="1200" dirty="0">
                <a:solidFill>
                  <a:srgbClr val="C9DAD6"/>
                </a:solidFill>
                <a:latin typeface="IBM Plex Sans" pitchFamily="34" charset="0"/>
                <a:ea typeface="IBM Plex Sans" pitchFamily="34" charset="-122"/>
                <a:cs typeface="IBM Plex Sans" pitchFamily="34" charset="-120"/>
              </a:rPr>
              <a:t> Out-of-date hospitals flagged</a:t>
            </a:r>
            <a:endParaRPr lang="en-US" sz="1200" dirty="0"/>
          </a:p>
        </p:txBody>
      </p:sp>
      <p:sp>
        <p:nvSpPr>
          <p:cNvPr id="56" name="Text 4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A95"/>
                </a:solidFill>
                <a:latin typeface="IBM Plex Sans" pitchFamily="34" charset="0"/>
                <a:ea typeface="IBM Plex Sans" pitchFamily="34" charset="-122"/>
                <a:cs typeface="IBM Plex Sans" pitchFamily="34" charset="-120"/>
              </a:rPr>
              <a:t>EMR-MR Sudan · System proposal and UI/UX direction · 15 · Illustrative screen and data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DESIGNED FOR REAL CONDITIONS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Every screen shows what is happening to the data</a:t>
            </a:r>
            <a:endParaRPr lang="en-US" sz="3200" dirty="0"/>
          </a:p>
        </p:txBody>
      </p:sp>
      <p:sp>
        <p:nvSpPr>
          <p:cNvPr id="4" name="Shape 2"/>
          <p:cNvSpPr/>
          <p:nvPr/>
        </p:nvSpPr>
        <p:spPr>
          <a:xfrm>
            <a:off x="815975" y="2416175"/>
            <a:ext cx="2559050" cy="1720850"/>
          </a:xfrm>
          <a:prstGeom prst="roundRect">
            <a:avLst>
              <a:gd name="adj" fmla="val 7196"/>
            </a:avLst>
          </a:prstGeom>
          <a:solidFill>
            <a:srgbClr val="FCFDFC"/>
          </a:solidFill>
          <a:ln w="6350">
            <a:solidFill>
              <a:srgbClr val="DCE5E2"/>
            </a:solidFill>
            <a:prstDash val="solid"/>
          </a:ln>
        </p:spPr>
      </p:sp>
      <p:sp>
        <p:nvSpPr>
          <p:cNvPr id="5" name="Shape 3"/>
          <p:cNvSpPr/>
          <p:nvPr/>
        </p:nvSpPr>
        <p:spPr>
          <a:xfrm>
            <a:off x="1022350" y="2622550"/>
            <a:ext cx="2146300" cy="311150"/>
          </a:xfrm>
          <a:prstGeom prst="roundRect">
            <a:avLst>
              <a:gd name="adj" fmla="val 50000"/>
            </a:avLst>
          </a:prstGeom>
          <a:solidFill>
            <a:srgbClr val="DDF2EA"/>
          </a:solidFill>
          <a:ln/>
        </p:spPr>
      </p:sp>
      <p:sp>
        <p:nvSpPr>
          <p:cNvPr id="6" name="Text 4"/>
          <p:cNvSpPr/>
          <p:nvPr/>
        </p:nvSpPr>
        <p:spPr>
          <a:xfrm>
            <a:off x="1123950" y="267335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5C3E"/>
                </a:solidFill>
                <a:latin typeface="IBM Plex Sans" pitchFamily="34" charset="0"/>
                <a:ea typeface="IBM Plex Sans" pitchFamily="34" charset="-122"/>
                <a:cs typeface="IBM Plex Sans" pitchFamily="34" charset="-120"/>
              </a:rPr>
              <a:t>Online · all sent</a:t>
            </a:r>
            <a:endParaRPr lang="en-US" sz="1200" dirty="0"/>
          </a:p>
        </p:txBody>
      </p:sp>
      <p:sp>
        <p:nvSpPr>
          <p:cNvPr id="7" name="Text 5"/>
          <p:cNvSpPr/>
          <p:nvPr/>
        </p:nvSpPr>
        <p:spPr>
          <a:xfrm>
            <a:off x="1022350" y="3048000"/>
            <a:ext cx="2210689"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Online</a:t>
            </a:r>
            <a:endParaRPr lang="en-US" sz="1800" dirty="0"/>
          </a:p>
        </p:txBody>
      </p:sp>
      <p:sp>
        <p:nvSpPr>
          <p:cNvPr id="8" name="Text 6"/>
          <p:cNvSpPr/>
          <p:nvPr/>
        </p:nvSpPr>
        <p:spPr>
          <a:xfrm>
            <a:off x="1022350" y="3435350"/>
            <a:ext cx="2210689"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Data flows live; the header shows a calm status.</a:t>
            </a:r>
            <a:endParaRPr lang="en-US" sz="1400" dirty="0"/>
          </a:p>
        </p:txBody>
      </p:sp>
      <p:sp>
        <p:nvSpPr>
          <p:cNvPr id="9" name="Shape 7"/>
          <p:cNvSpPr/>
          <p:nvPr/>
        </p:nvSpPr>
        <p:spPr>
          <a:xfrm>
            <a:off x="3482975" y="2416175"/>
            <a:ext cx="2559050" cy="1968500"/>
          </a:xfrm>
          <a:prstGeom prst="roundRect">
            <a:avLst>
              <a:gd name="adj" fmla="val 6290"/>
            </a:avLst>
          </a:prstGeom>
          <a:solidFill>
            <a:srgbClr val="FCFDFC"/>
          </a:solidFill>
          <a:ln w="6350">
            <a:solidFill>
              <a:srgbClr val="DCE5E2"/>
            </a:solidFill>
            <a:prstDash val="solid"/>
          </a:ln>
        </p:spPr>
      </p:sp>
      <p:sp>
        <p:nvSpPr>
          <p:cNvPr id="10" name="Shape 8"/>
          <p:cNvSpPr/>
          <p:nvPr/>
        </p:nvSpPr>
        <p:spPr>
          <a:xfrm>
            <a:off x="3689350" y="2622550"/>
            <a:ext cx="2146300" cy="311150"/>
          </a:xfrm>
          <a:prstGeom prst="roundRect">
            <a:avLst>
              <a:gd name="adj" fmla="val 50000"/>
            </a:avLst>
          </a:prstGeom>
          <a:solidFill>
            <a:srgbClr val="FFF1C2"/>
          </a:solidFill>
          <a:ln/>
        </p:spPr>
      </p:sp>
      <p:sp>
        <p:nvSpPr>
          <p:cNvPr id="11" name="Text 9"/>
          <p:cNvSpPr/>
          <p:nvPr/>
        </p:nvSpPr>
        <p:spPr>
          <a:xfrm>
            <a:off x="3790950" y="267335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E00"/>
                </a:solidFill>
                <a:latin typeface="IBM Plex Sans" pitchFamily="34" charset="0"/>
                <a:ea typeface="IBM Plex Sans" pitchFamily="34" charset="-122"/>
                <a:cs typeface="IBM Plex Sans" pitchFamily="34" charset="-120"/>
              </a:rPr>
              <a:t>Offline · 3 waiting</a:t>
            </a:r>
            <a:endParaRPr lang="en-US" sz="1200" dirty="0"/>
          </a:p>
        </p:txBody>
      </p:sp>
      <p:sp>
        <p:nvSpPr>
          <p:cNvPr id="12" name="Text 10"/>
          <p:cNvSpPr/>
          <p:nvPr/>
        </p:nvSpPr>
        <p:spPr>
          <a:xfrm>
            <a:off x="3689350" y="3048000"/>
            <a:ext cx="2210689"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Offline</a:t>
            </a:r>
            <a:endParaRPr lang="en-US" sz="1800" dirty="0"/>
          </a:p>
        </p:txBody>
      </p:sp>
      <p:sp>
        <p:nvSpPr>
          <p:cNvPr id="13" name="Text 11"/>
          <p:cNvSpPr/>
          <p:nvPr/>
        </p:nvSpPr>
        <p:spPr>
          <a:xfrm>
            <a:off x="3689350" y="3435350"/>
            <a:ext cx="2210689"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Work continues; items are saved on the device and counted.</a:t>
            </a:r>
            <a:endParaRPr lang="en-US" sz="1400" dirty="0"/>
          </a:p>
        </p:txBody>
      </p:sp>
      <p:sp>
        <p:nvSpPr>
          <p:cNvPr id="14" name="Shape 12"/>
          <p:cNvSpPr/>
          <p:nvPr/>
        </p:nvSpPr>
        <p:spPr>
          <a:xfrm>
            <a:off x="6149975" y="2416175"/>
            <a:ext cx="2559050" cy="1968500"/>
          </a:xfrm>
          <a:prstGeom prst="roundRect">
            <a:avLst>
              <a:gd name="adj" fmla="val 6290"/>
            </a:avLst>
          </a:prstGeom>
          <a:solidFill>
            <a:srgbClr val="FCFDFC"/>
          </a:solidFill>
          <a:ln w="6350">
            <a:solidFill>
              <a:srgbClr val="DCE5E2"/>
            </a:solidFill>
            <a:prstDash val="solid"/>
          </a:ln>
        </p:spPr>
      </p:sp>
      <p:sp>
        <p:nvSpPr>
          <p:cNvPr id="15" name="Shape 13"/>
          <p:cNvSpPr/>
          <p:nvPr/>
        </p:nvSpPr>
        <p:spPr>
          <a:xfrm>
            <a:off x="6356350" y="2622550"/>
            <a:ext cx="2146300" cy="311150"/>
          </a:xfrm>
          <a:prstGeom prst="roundRect">
            <a:avLst>
              <a:gd name="adj" fmla="val 50000"/>
            </a:avLst>
          </a:prstGeom>
          <a:solidFill>
            <a:srgbClr val="E1ECFB"/>
          </a:solidFill>
          <a:ln/>
        </p:spPr>
      </p:sp>
      <p:sp>
        <p:nvSpPr>
          <p:cNvPr id="16" name="Text 14"/>
          <p:cNvSpPr/>
          <p:nvPr/>
        </p:nvSpPr>
        <p:spPr>
          <a:xfrm>
            <a:off x="6457950" y="267335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E8C"/>
                </a:solidFill>
                <a:latin typeface="IBM Plex Sans" pitchFamily="34" charset="0"/>
                <a:ea typeface="IBM Plex Sans" pitchFamily="34" charset="-122"/>
                <a:cs typeface="IBM Plex Sans" pitchFamily="34" charset="-120"/>
              </a:rPr>
              <a:t>Sending 2 of 3</a:t>
            </a:r>
            <a:endParaRPr lang="en-US" sz="1200" dirty="0"/>
          </a:p>
        </p:txBody>
      </p:sp>
      <p:sp>
        <p:nvSpPr>
          <p:cNvPr id="17" name="Text 15"/>
          <p:cNvSpPr/>
          <p:nvPr/>
        </p:nvSpPr>
        <p:spPr>
          <a:xfrm>
            <a:off x="6356350" y="3048000"/>
            <a:ext cx="2210689"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Sending</a:t>
            </a:r>
            <a:endParaRPr lang="en-US" sz="1800" dirty="0"/>
          </a:p>
        </p:txBody>
      </p:sp>
      <p:sp>
        <p:nvSpPr>
          <p:cNvPr id="18" name="Text 16"/>
          <p:cNvSpPr/>
          <p:nvPr/>
        </p:nvSpPr>
        <p:spPr>
          <a:xfrm>
            <a:off x="6356350" y="3435350"/>
            <a:ext cx="2210689"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When the signal returns, items go in order with progress shown.</a:t>
            </a:r>
            <a:endParaRPr lang="en-US" sz="1400" dirty="0"/>
          </a:p>
        </p:txBody>
      </p:sp>
      <p:sp>
        <p:nvSpPr>
          <p:cNvPr id="19" name="Shape 17"/>
          <p:cNvSpPr/>
          <p:nvPr/>
        </p:nvSpPr>
        <p:spPr>
          <a:xfrm>
            <a:off x="8816975" y="2416175"/>
            <a:ext cx="2559050" cy="1968500"/>
          </a:xfrm>
          <a:prstGeom prst="roundRect">
            <a:avLst>
              <a:gd name="adj" fmla="val 6290"/>
            </a:avLst>
          </a:prstGeom>
          <a:solidFill>
            <a:srgbClr val="FCFDFC"/>
          </a:solidFill>
          <a:ln w="6350">
            <a:solidFill>
              <a:srgbClr val="DCE5E2"/>
            </a:solidFill>
            <a:prstDash val="solid"/>
          </a:ln>
        </p:spPr>
      </p:sp>
      <p:sp>
        <p:nvSpPr>
          <p:cNvPr id="20" name="Shape 18"/>
          <p:cNvSpPr/>
          <p:nvPr/>
        </p:nvSpPr>
        <p:spPr>
          <a:xfrm>
            <a:off x="9023350" y="2622550"/>
            <a:ext cx="2146300" cy="311150"/>
          </a:xfrm>
          <a:prstGeom prst="roundRect">
            <a:avLst>
              <a:gd name="adj" fmla="val 50000"/>
            </a:avLst>
          </a:prstGeom>
          <a:solidFill>
            <a:srgbClr val="FDE4D3"/>
          </a:solidFill>
          <a:ln/>
        </p:spPr>
      </p:sp>
      <p:sp>
        <p:nvSpPr>
          <p:cNvPr id="21" name="Text 19"/>
          <p:cNvSpPr/>
          <p:nvPr/>
        </p:nvSpPr>
        <p:spPr>
          <a:xfrm>
            <a:off x="9124950" y="2673350"/>
            <a:ext cx="200139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A0B"/>
                </a:solidFill>
                <a:latin typeface="IBM Plex Sans" pitchFamily="34" charset="0"/>
                <a:ea typeface="IBM Plex Sans" pitchFamily="34" charset="-122"/>
                <a:cs typeface="IBM Plex Sans" pitchFamily="34" charset="-120"/>
              </a:rPr>
              <a:t>Not updated for 4 h</a:t>
            </a:r>
            <a:endParaRPr lang="en-US" sz="1200" dirty="0"/>
          </a:p>
        </p:txBody>
      </p:sp>
      <p:sp>
        <p:nvSpPr>
          <p:cNvPr id="22" name="Text 20"/>
          <p:cNvSpPr/>
          <p:nvPr/>
        </p:nvSpPr>
        <p:spPr>
          <a:xfrm>
            <a:off x="9023350" y="3048000"/>
            <a:ext cx="2210689"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Out of date</a:t>
            </a:r>
            <a:endParaRPr lang="en-US" sz="1800" dirty="0"/>
          </a:p>
        </p:txBody>
      </p:sp>
      <p:sp>
        <p:nvSpPr>
          <p:cNvPr id="23" name="Text 21"/>
          <p:cNvSpPr/>
          <p:nvPr/>
        </p:nvSpPr>
        <p:spPr>
          <a:xfrm>
            <a:off x="9023350" y="3435350"/>
            <a:ext cx="2210689" cy="7683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6167"/>
                </a:solidFill>
                <a:latin typeface="IBM Plex Sans" pitchFamily="34" charset="0"/>
                <a:ea typeface="IBM Plex Sans" pitchFamily="34" charset="-122"/>
                <a:cs typeface="IBM Plex Sans" pitchFamily="34" charset="-120"/>
              </a:rPr>
              <a:t>Old hospital data is flagged before dispatch relies on it.</a:t>
            </a:r>
            <a:endParaRPr lang="en-US" sz="1400" dirty="0"/>
          </a:p>
        </p:txBody>
      </p:sp>
      <p:sp>
        <p:nvSpPr>
          <p:cNvPr id="24" name="Text 22"/>
          <p:cNvSpPr/>
          <p:nvPr/>
        </p:nvSpPr>
        <p:spPr>
          <a:xfrm>
            <a:off x="812800" y="4953000"/>
            <a:ext cx="9810750" cy="31750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0B6E64"/>
                </a:solidFill>
                <a:latin typeface="IBM Plex Sans" pitchFamily="34" charset="0"/>
                <a:ea typeface="IBM Plex Sans" pitchFamily="34" charset="-122"/>
                <a:cs typeface="IBM Plex Sans" pitchFamily="34" charset="-120"/>
              </a:rPr>
              <a:t>Nothing is ever lost silently: every failure is shown, counted and retried.</a:t>
            </a:r>
            <a:endParaRPr lang="en-US" sz="1800" dirty="0"/>
          </a:p>
        </p:txBody>
      </p:sp>
      <p:sp>
        <p:nvSpPr>
          <p:cNvPr id="25" name="Text 2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BUILD PLAN · NO FIXED DATES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Twelve work packages, built in order</a:t>
            </a:r>
            <a:endParaRPr lang="en-US" sz="3200" dirty="0"/>
          </a:p>
        </p:txBody>
      </p:sp>
      <p:sp>
        <p:nvSpPr>
          <p:cNvPr id="4" name="Text 2"/>
          <p:cNvSpPr/>
          <p:nvPr/>
        </p:nvSpPr>
        <p:spPr>
          <a:xfrm>
            <a:off x="3187700" y="1879600"/>
            <a:ext cx="26162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4"/>
                </a:solidFill>
                <a:latin typeface="IBM Plex Sans" pitchFamily="34" charset="0"/>
                <a:ea typeface="IBM Plex Sans" pitchFamily="34" charset="-122"/>
                <a:cs typeface="IBM Plex Sans" pitchFamily="34" charset="-120"/>
              </a:rPr>
              <a:t>Call centre track</a:t>
            </a:r>
            <a:endParaRPr lang="en-US" sz="1200" dirty="0"/>
          </a:p>
        </p:txBody>
      </p:sp>
      <p:sp>
        <p:nvSpPr>
          <p:cNvPr id="5" name="Text 3"/>
          <p:cNvSpPr/>
          <p:nvPr/>
        </p:nvSpPr>
        <p:spPr>
          <a:xfrm>
            <a:off x="3187700" y="4940300"/>
            <a:ext cx="26162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8E86"/>
                </a:solidFill>
                <a:latin typeface="IBM Plex Sans" pitchFamily="34" charset="0"/>
                <a:ea typeface="IBM Plex Sans" pitchFamily="34" charset="-122"/>
                <a:cs typeface="IBM Plex Sans" pitchFamily="34" charset="-120"/>
              </a:rPr>
              <a:t>Field app track</a:t>
            </a:r>
            <a:endParaRPr lang="en-US" sz="1200" dirty="0"/>
          </a:p>
        </p:txBody>
      </p:sp>
      <p:pic>
        <p:nvPicPr>
          <p:cNvPr id="6" name="Image 0" descr="connector">    </p:cNvPr>
          <p:cNvPicPr>
            <a:picLocks noChangeAspect="1"/>
          </p:cNvPicPr>
          <p:nvPr/>
        </p:nvPicPr>
        <p:blipFill>
          <a:blip r:embed="rId1"/>
          <a:srcRect l="0" r="0" t="0" b="0"/>
          <a:stretch/>
        </p:blipFill>
        <p:spPr>
          <a:xfrm>
            <a:off x="1841500" y="3486150"/>
            <a:ext cx="196850" cy="76200"/>
          </a:xfrm>
          <a:prstGeom prst="rect">
            <a:avLst/>
          </a:prstGeom>
        </p:spPr>
      </p:pic>
      <p:pic>
        <p:nvPicPr>
          <p:cNvPr id="7" name="Image 1" descr="connector">    </p:cNvPr>
          <p:cNvPicPr>
            <a:picLocks noChangeAspect="1"/>
          </p:cNvPicPr>
          <p:nvPr/>
        </p:nvPicPr>
        <p:blipFill>
          <a:blip r:embed="rId2"/>
          <a:srcRect l="0" r="0" t="0" b="0"/>
          <a:stretch/>
        </p:blipFill>
        <p:spPr>
          <a:xfrm>
            <a:off x="3028950" y="2470150"/>
            <a:ext cx="196850" cy="1092200"/>
          </a:xfrm>
          <a:prstGeom prst="rect">
            <a:avLst/>
          </a:prstGeom>
        </p:spPr>
      </p:pic>
      <p:pic>
        <p:nvPicPr>
          <p:cNvPr id="8" name="Image 2" descr="connector">    </p:cNvPr>
          <p:cNvPicPr>
            <a:picLocks noChangeAspect="1"/>
          </p:cNvPicPr>
          <p:nvPr/>
        </p:nvPicPr>
        <p:blipFill>
          <a:blip r:embed="rId3"/>
          <a:srcRect l="0" r="0" t="0" b="0"/>
          <a:stretch/>
        </p:blipFill>
        <p:spPr>
          <a:xfrm>
            <a:off x="3028950" y="3486150"/>
            <a:ext cx="196850" cy="1092200"/>
          </a:xfrm>
          <a:prstGeom prst="rect">
            <a:avLst/>
          </a:prstGeom>
        </p:spPr>
      </p:pic>
      <p:pic>
        <p:nvPicPr>
          <p:cNvPr id="9" name="Image 3" descr="connector">    </p:cNvPr>
          <p:cNvPicPr>
            <a:picLocks noChangeAspect="1"/>
          </p:cNvPicPr>
          <p:nvPr/>
        </p:nvPicPr>
        <p:blipFill>
          <a:blip r:embed="rId4"/>
          <a:srcRect l="0" r="0" t="0" b="0"/>
          <a:stretch/>
        </p:blipFill>
        <p:spPr>
          <a:xfrm>
            <a:off x="4216400" y="2470150"/>
            <a:ext cx="196850" cy="76200"/>
          </a:xfrm>
          <a:prstGeom prst="rect">
            <a:avLst/>
          </a:prstGeom>
        </p:spPr>
      </p:pic>
      <p:pic>
        <p:nvPicPr>
          <p:cNvPr id="10" name="Image 4" descr="connector">    </p:cNvPr>
          <p:cNvPicPr>
            <a:picLocks noChangeAspect="1"/>
          </p:cNvPicPr>
          <p:nvPr/>
        </p:nvPicPr>
        <p:blipFill>
          <a:blip r:embed="rId5"/>
          <a:srcRect l="0" r="0" t="0" b="0"/>
          <a:stretch/>
        </p:blipFill>
        <p:spPr>
          <a:xfrm>
            <a:off x="4870450" y="2819400"/>
            <a:ext cx="76200" cy="393700"/>
          </a:xfrm>
          <a:prstGeom prst="rect">
            <a:avLst/>
          </a:prstGeom>
        </p:spPr>
      </p:pic>
      <p:pic>
        <p:nvPicPr>
          <p:cNvPr id="11" name="Image 5" descr="connector">    </p:cNvPr>
          <p:cNvPicPr>
            <a:picLocks noChangeAspect="1"/>
          </p:cNvPicPr>
          <p:nvPr/>
        </p:nvPicPr>
        <p:blipFill>
          <a:blip r:embed="rId6"/>
          <a:srcRect l="0" r="0" t="0" b="0"/>
          <a:stretch/>
        </p:blipFill>
        <p:spPr>
          <a:xfrm>
            <a:off x="4216400" y="3486150"/>
            <a:ext cx="196850" cy="1092200"/>
          </a:xfrm>
          <a:prstGeom prst="rect">
            <a:avLst/>
          </a:prstGeom>
        </p:spPr>
      </p:pic>
      <p:pic>
        <p:nvPicPr>
          <p:cNvPr id="12" name="Image 6" descr="connector">    </p:cNvPr>
          <p:cNvPicPr>
            <a:picLocks noChangeAspect="1"/>
          </p:cNvPicPr>
          <p:nvPr/>
        </p:nvPicPr>
        <p:blipFill>
          <a:blip r:embed="rId7"/>
          <a:srcRect l="0" r="0" t="0" b="0"/>
          <a:stretch/>
        </p:blipFill>
        <p:spPr>
          <a:xfrm>
            <a:off x="4216400" y="4502150"/>
            <a:ext cx="1384300" cy="76200"/>
          </a:xfrm>
          <a:prstGeom prst="rect">
            <a:avLst/>
          </a:prstGeom>
        </p:spPr>
      </p:pic>
      <p:pic>
        <p:nvPicPr>
          <p:cNvPr id="13" name="Image 7" descr="connector">    </p:cNvPr>
          <p:cNvPicPr>
            <a:picLocks noChangeAspect="1"/>
          </p:cNvPicPr>
          <p:nvPr/>
        </p:nvPicPr>
        <p:blipFill>
          <a:blip r:embed="rId8"/>
          <a:srcRect l="0" r="0" t="0" b="0"/>
          <a:stretch/>
        </p:blipFill>
        <p:spPr>
          <a:xfrm>
            <a:off x="5403850" y="3486150"/>
            <a:ext cx="1384300" cy="76200"/>
          </a:xfrm>
          <a:prstGeom prst="rect">
            <a:avLst/>
          </a:prstGeom>
        </p:spPr>
      </p:pic>
      <p:pic>
        <p:nvPicPr>
          <p:cNvPr id="14" name="Image 8" descr="connector">    </p:cNvPr>
          <p:cNvPicPr>
            <a:picLocks noChangeAspect="1"/>
          </p:cNvPicPr>
          <p:nvPr/>
        </p:nvPicPr>
        <p:blipFill>
          <a:blip r:embed="rId9"/>
          <a:srcRect l="0" r="0" t="0" b="0"/>
          <a:stretch/>
        </p:blipFill>
        <p:spPr>
          <a:xfrm>
            <a:off x="6591300" y="3486150"/>
            <a:ext cx="196850" cy="1092200"/>
          </a:xfrm>
          <a:prstGeom prst="rect">
            <a:avLst/>
          </a:prstGeom>
        </p:spPr>
      </p:pic>
      <p:pic>
        <p:nvPicPr>
          <p:cNvPr id="15" name="Image 9" descr="connector">    </p:cNvPr>
          <p:cNvPicPr>
            <a:picLocks noChangeAspect="1"/>
          </p:cNvPicPr>
          <p:nvPr/>
        </p:nvPicPr>
        <p:blipFill>
          <a:blip r:embed="rId10"/>
          <a:srcRect l="0" r="0" t="0" b="0"/>
          <a:stretch/>
        </p:blipFill>
        <p:spPr>
          <a:xfrm>
            <a:off x="7778750" y="3486150"/>
            <a:ext cx="196850" cy="76200"/>
          </a:xfrm>
          <a:prstGeom prst="rect">
            <a:avLst/>
          </a:prstGeom>
        </p:spPr>
      </p:pic>
      <p:pic>
        <p:nvPicPr>
          <p:cNvPr id="16" name="Image 10" descr="connector">    </p:cNvPr>
          <p:cNvPicPr>
            <a:picLocks noChangeAspect="1"/>
          </p:cNvPicPr>
          <p:nvPr/>
        </p:nvPicPr>
        <p:blipFill>
          <a:blip r:embed="rId11"/>
          <a:srcRect l="0" r="0" t="0" b="0"/>
          <a:stretch/>
        </p:blipFill>
        <p:spPr>
          <a:xfrm>
            <a:off x="8966200" y="3486150"/>
            <a:ext cx="196850" cy="76200"/>
          </a:xfrm>
          <a:prstGeom prst="rect">
            <a:avLst/>
          </a:prstGeom>
        </p:spPr>
      </p:pic>
      <p:pic>
        <p:nvPicPr>
          <p:cNvPr id="17" name="Image 11" descr="connector">    </p:cNvPr>
          <p:cNvPicPr>
            <a:picLocks noChangeAspect="1"/>
          </p:cNvPicPr>
          <p:nvPr/>
        </p:nvPicPr>
        <p:blipFill>
          <a:blip r:embed="rId12"/>
          <a:srcRect l="0" r="0" t="0" b="0"/>
          <a:stretch/>
        </p:blipFill>
        <p:spPr>
          <a:xfrm>
            <a:off x="10153650" y="3486150"/>
            <a:ext cx="196850" cy="76200"/>
          </a:xfrm>
          <a:prstGeom prst="rect">
            <a:avLst/>
          </a:prstGeom>
        </p:spPr>
      </p:pic>
      <p:sp>
        <p:nvSpPr>
          <p:cNvPr id="18" name="Shape 4"/>
          <p:cNvSpPr/>
          <p:nvPr/>
        </p:nvSpPr>
        <p:spPr>
          <a:xfrm>
            <a:off x="812800" y="3175000"/>
            <a:ext cx="1066800" cy="698500"/>
          </a:xfrm>
          <a:prstGeom prst="roundRect">
            <a:avLst>
              <a:gd name="adj" fmla="val 12727"/>
            </a:avLst>
          </a:prstGeom>
          <a:solidFill>
            <a:srgbClr val="0E2A33"/>
          </a:solidFill>
          <a:ln/>
        </p:spPr>
      </p:sp>
      <p:sp>
        <p:nvSpPr>
          <p:cNvPr id="19" name="Text 5"/>
          <p:cNvSpPr/>
          <p:nvPr/>
        </p:nvSpPr>
        <p:spPr>
          <a:xfrm>
            <a:off x="850900" y="3324225"/>
            <a:ext cx="9906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WP1</a:t>
            </a:r>
            <a:endParaRPr lang="en-US" sz="1200" dirty="0"/>
          </a:p>
        </p:txBody>
      </p:sp>
      <p:sp>
        <p:nvSpPr>
          <p:cNvPr id="20" name="Text 6"/>
          <p:cNvSpPr/>
          <p:nvPr/>
        </p:nvSpPr>
        <p:spPr>
          <a:xfrm>
            <a:off x="850900" y="3546475"/>
            <a:ext cx="9906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F2F5F4"/>
                </a:solidFill>
                <a:latin typeface="IBM Plex Sans" pitchFamily="34" charset="0"/>
                <a:ea typeface="IBM Plex Sans" pitchFamily="34" charset="-122"/>
                <a:cs typeface="IBM Plex Sans" pitchFamily="34" charset="-120"/>
              </a:rPr>
              <a:t>Foundation</a:t>
            </a:r>
            <a:endParaRPr lang="en-US" sz="1200" dirty="0"/>
          </a:p>
        </p:txBody>
      </p:sp>
      <p:sp>
        <p:nvSpPr>
          <p:cNvPr id="21" name="Shape 7"/>
          <p:cNvSpPr/>
          <p:nvPr/>
        </p:nvSpPr>
        <p:spPr>
          <a:xfrm>
            <a:off x="2000250" y="3175000"/>
            <a:ext cx="1066800" cy="698500"/>
          </a:xfrm>
          <a:prstGeom prst="roundRect">
            <a:avLst>
              <a:gd name="adj" fmla="val 12727"/>
            </a:avLst>
          </a:prstGeom>
          <a:solidFill>
            <a:srgbClr val="0E2A33"/>
          </a:solidFill>
          <a:ln/>
        </p:spPr>
      </p:sp>
      <p:sp>
        <p:nvSpPr>
          <p:cNvPr id="22" name="Text 8"/>
          <p:cNvSpPr/>
          <p:nvPr/>
        </p:nvSpPr>
        <p:spPr>
          <a:xfrm>
            <a:off x="2038350" y="3251200"/>
            <a:ext cx="990600" cy="223143"/>
          </a:xfrm>
          <a:prstGeom prst="rect">
            <a:avLst/>
          </a:prstGeom>
          <a:noFill/>
          <a:ln/>
        </p:spPr>
        <p:txBody>
          <a:bodyPr wrap="square" lIns="0" tIns="0" rIns="0" bIns="0" rtlCol="0" anchor="t">
            <a:normAutofit/>
          </a:bodyPr>
          <a:lstStyle/>
          <a:p>
            <a:pPr algn="ctr" indent="0" marL="0">
              <a:lnSpc>
                <a:spcPts val="1596"/>
              </a:lnSpc>
              <a:buNone/>
            </a:pPr>
            <a:r>
              <a:rPr lang="en-US" sz="1140" b="1" dirty="0">
                <a:solidFill>
                  <a:srgbClr val="F2F5F4"/>
                </a:solidFill>
                <a:latin typeface="IBM Plex Sans" pitchFamily="34" charset="0"/>
                <a:ea typeface="IBM Plex Sans" pitchFamily="34" charset="-122"/>
                <a:cs typeface="IBM Plex Sans" pitchFamily="34" charset="-120"/>
              </a:rPr>
              <a:t>WP2</a:t>
            </a:r>
            <a:endParaRPr lang="en-US" sz="1140" dirty="0"/>
          </a:p>
        </p:txBody>
      </p:sp>
      <p:sp>
        <p:nvSpPr>
          <p:cNvPr id="23" name="Text 9"/>
          <p:cNvSpPr/>
          <p:nvPr/>
        </p:nvSpPr>
        <p:spPr>
          <a:xfrm>
            <a:off x="2038350" y="3461643"/>
            <a:ext cx="990600" cy="361057"/>
          </a:xfrm>
          <a:prstGeom prst="rect">
            <a:avLst/>
          </a:prstGeom>
          <a:noFill/>
          <a:ln/>
        </p:spPr>
        <p:txBody>
          <a:bodyPr wrap="square" lIns="0" tIns="0" rIns="0" bIns="0" rtlCol="0" anchor="t">
            <a:normAutofit/>
          </a:bodyPr>
          <a:lstStyle/>
          <a:p>
            <a:pPr algn="ctr" indent="0" marL="0">
              <a:lnSpc>
                <a:spcPts val="1345"/>
              </a:lnSpc>
              <a:buNone/>
            </a:pPr>
            <a:r>
              <a:rPr lang="en-US" sz="1121" dirty="0">
                <a:solidFill>
                  <a:srgbClr val="F2F5F4"/>
                </a:solidFill>
                <a:latin typeface="IBM Plex Sans" pitchFamily="34" charset="0"/>
                <a:ea typeface="IBM Plex Sans" pitchFamily="34" charset="-122"/>
                <a:cs typeface="IBM Plex Sans" pitchFamily="34" charset="-120"/>
              </a:rPr>
              <a:t>Core data and admin</a:t>
            </a:r>
            <a:endParaRPr lang="en-US" sz="1121" dirty="0"/>
          </a:p>
        </p:txBody>
      </p:sp>
      <p:sp>
        <p:nvSpPr>
          <p:cNvPr id="24" name="Shape 10"/>
          <p:cNvSpPr/>
          <p:nvPr/>
        </p:nvSpPr>
        <p:spPr>
          <a:xfrm>
            <a:off x="3194050" y="2165350"/>
            <a:ext cx="1054100" cy="685800"/>
          </a:xfrm>
          <a:prstGeom prst="roundRect">
            <a:avLst>
              <a:gd name="adj" fmla="val 12037"/>
            </a:avLst>
          </a:prstGeom>
          <a:solidFill>
            <a:srgbClr val="FCFDFC"/>
          </a:solidFill>
          <a:ln w="12700">
            <a:solidFill>
              <a:srgbClr val="0B6E64"/>
            </a:solidFill>
            <a:prstDash val="solid"/>
          </a:ln>
        </p:spPr>
      </p:sp>
      <p:sp>
        <p:nvSpPr>
          <p:cNvPr id="25" name="Text 11"/>
          <p:cNvSpPr/>
          <p:nvPr/>
        </p:nvSpPr>
        <p:spPr>
          <a:xfrm>
            <a:off x="3238500" y="2308225"/>
            <a:ext cx="965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WP3</a:t>
            </a:r>
            <a:endParaRPr lang="en-US" sz="1200" dirty="0"/>
          </a:p>
        </p:txBody>
      </p:sp>
      <p:sp>
        <p:nvSpPr>
          <p:cNvPr id="26" name="Text 12"/>
          <p:cNvSpPr/>
          <p:nvPr/>
        </p:nvSpPr>
        <p:spPr>
          <a:xfrm>
            <a:off x="3238500" y="2530475"/>
            <a:ext cx="9652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0E2A33"/>
                </a:solidFill>
                <a:latin typeface="IBM Plex Sans" pitchFamily="34" charset="0"/>
                <a:ea typeface="IBM Plex Sans" pitchFamily="34" charset="-122"/>
                <a:cs typeface="IBM Plex Sans" pitchFamily="34" charset="-120"/>
              </a:rPr>
              <a:t>Call intake</a:t>
            </a:r>
            <a:endParaRPr lang="en-US" sz="1200" dirty="0"/>
          </a:p>
        </p:txBody>
      </p:sp>
      <p:sp>
        <p:nvSpPr>
          <p:cNvPr id="27" name="Shape 13"/>
          <p:cNvSpPr/>
          <p:nvPr/>
        </p:nvSpPr>
        <p:spPr>
          <a:xfrm>
            <a:off x="3194050" y="4197350"/>
            <a:ext cx="1054100" cy="685800"/>
          </a:xfrm>
          <a:prstGeom prst="roundRect">
            <a:avLst>
              <a:gd name="adj" fmla="val 12037"/>
            </a:avLst>
          </a:prstGeom>
          <a:solidFill>
            <a:srgbClr val="EAF1EF"/>
          </a:solidFill>
          <a:ln w="12700">
            <a:solidFill>
              <a:srgbClr val="7FB5AE"/>
            </a:solidFill>
            <a:prstDash val="solid"/>
          </a:ln>
        </p:spPr>
      </p:sp>
      <p:sp>
        <p:nvSpPr>
          <p:cNvPr id="28" name="Text 14"/>
          <p:cNvSpPr/>
          <p:nvPr/>
        </p:nvSpPr>
        <p:spPr>
          <a:xfrm>
            <a:off x="3238500" y="4279900"/>
            <a:ext cx="965200" cy="213717"/>
          </a:xfrm>
          <a:prstGeom prst="rect">
            <a:avLst/>
          </a:prstGeom>
          <a:noFill/>
          <a:ln/>
        </p:spPr>
        <p:txBody>
          <a:bodyPr wrap="square" lIns="0" tIns="0" rIns="0" bIns="0" rtlCol="0" anchor="t">
            <a:normAutofit/>
          </a:bodyPr>
          <a:lstStyle/>
          <a:p>
            <a:pPr algn="ctr" indent="0" marL="0">
              <a:lnSpc>
                <a:spcPts val="1549"/>
              </a:lnSpc>
              <a:buNone/>
            </a:pPr>
            <a:r>
              <a:rPr lang="en-US" sz="1106" b="1" dirty="0">
                <a:solidFill>
                  <a:srgbClr val="0E2A33"/>
                </a:solidFill>
                <a:latin typeface="IBM Plex Sans" pitchFamily="34" charset="0"/>
                <a:ea typeface="IBM Plex Sans" pitchFamily="34" charset="-122"/>
                <a:cs typeface="IBM Plex Sans" pitchFamily="34" charset="-120"/>
              </a:rPr>
              <a:t>WP5</a:t>
            </a:r>
            <a:endParaRPr lang="en-US" sz="1106" dirty="0"/>
          </a:p>
        </p:txBody>
      </p:sp>
      <p:sp>
        <p:nvSpPr>
          <p:cNvPr id="29" name="Text 15"/>
          <p:cNvSpPr/>
          <p:nvPr/>
        </p:nvSpPr>
        <p:spPr>
          <a:xfrm>
            <a:off x="3238500" y="4480917"/>
            <a:ext cx="965200" cy="345083"/>
          </a:xfrm>
          <a:prstGeom prst="rect">
            <a:avLst/>
          </a:prstGeom>
          <a:noFill/>
          <a:ln/>
        </p:spPr>
        <p:txBody>
          <a:bodyPr wrap="square" lIns="0" tIns="0" rIns="0" bIns="0" rtlCol="0" anchor="t">
            <a:normAutofit/>
          </a:bodyPr>
          <a:lstStyle/>
          <a:p>
            <a:pPr algn="ctr" indent="0" marL="0">
              <a:lnSpc>
                <a:spcPts val="1296"/>
              </a:lnSpc>
              <a:buNone/>
            </a:pPr>
            <a:r>
              <a:rPr lang="en-US" sz="1080" dirty="0">
                <a:solidFill>
                  <a:srgbClr val="0E2A33"/>
                </a:solidFill>
                <a:latin typeface="IBM Plex Sans" pitchFamily="34" charset="0"/>
                <a:ea typeface="IBM Plex Sans" pitchFamily="34" charset="-122"/>
                <a:cs typeface="IBM Plex Sans" pitchFamily="34" charset="-120"/>
              </a:rPr>
              <a:t>App base and sync</a:t>
            </a:r>
            <a:endParaRPr lang="en-US" sz="1080" dirty="0"/>
          </a:p>
        </p:txBody>
      </p:sp>
      <p:sp>
        <p:nvSpPr>
          <p:cNvPr id="30" name="Shape 16"/>
          <p:cNvSpPr/>
          <p:nvPr/>
        </p:nvSpPr>
        <p:spPr>
          <a:xfrm>
            <a:off x="4381500" y="2165350"/>
            <a:ext cx="1054100" cy="685800"/>
          </a:xfrm>
          <a:prstGeom prst="roundRect">
            <a:avLst>
              <a:gd name="adj" fmla="val 12037"/>
            </a:avLst>
          </a:prstGeom>
          <a:solidFill>
            <a:srgbClr val="FCFDFC"/>
          </a:solidFill>
          <a:ln w="12700">
            <a:solidFill>
              <a:srgbClr val="0B6E64"/>
            </a:solidFill>
            <a:prstDash val="solid"/>
          </a:ln>
        </p:spPr>
      </p:sp>
      <p:sp>
        <p:nvSpPr>
          <p:cNvPr id="31" name="Text 17"/>
          <p:cNvSpPr/>
          <p:nvPr/>
        </p:nvSpPr>
        <p:spPr>
          <a:xfrm>
            <a:off x="4425950" y="2308225"/>
            <a:ext cx="965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WP4</a:t>
            </a:r>
            <a:endParaRPr lang="en-US" sz="1200" dirty="0"/>
          </a:p>
        </p:txBody>
      </p:sp>
      <p:sp>
        <p:nvSpPr>
          <p:cNvPr id="32" name="Text 18"/>
          <p:cNvSpPr/>
          <p:nvPr/>
        </p:nvSpPr>
        <p:spPr>
          <a:xfrm>
            <a:off x="4425950" y="2530475"/>
            <a:ext cx="9652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0E2A33"/>
                </a:solidFill>
                <a:latin typeface="IBM Plex Sans" pitchFamily="34" charset="0"/>
                <a:ea typeface="IBM Plex Sans" pitchFamily="34" charset="-122"/>
                <a:cs typeface="IBM Plex Sans" pitchFamily="34" charset="-120"/>
              </a:rPr>
              <a:t>Dispatch</a:t>
            </a:r>
            <a:endParaRPr lang="en-US" sz="1200" dirty="0"/>
          </a:p>
        </p:txBody>
      </p:sp>
      <p:sp>
        <p:nvSpPr>
          <p:cNvPr id="33" name="Shape 19"/>
          <p:cNvSpPr/>
          <p:nvPr/>
        </p:nvSpPr>
        <p:spPr>
          <a:xfrm>
            <a:off x="5568950" y="4197350"/>
            <a:ext cx="1054100" cy="685800"/>
          </a:xfrm>
          <a:prstGeom prst="roundRect">
            <a:avLst>
              <a:gd name="adj" fmla="val 12037"/>
            </a:avLst>
          </a:prstGeom>
          <a:solidFill>
            <a:srgbClr val="EAF1EF"/>
          </a:solidFill>
          <a:ln w="12700">
            <a:solidFill>
              <a:srgbClr val="7FB5AE"/>
            </a:solidFill>
            <a:prstDash val="solid"/>
          </a:ln>
        </p:spPr>
      </p:sp>
      <p:sp>
        <p:nvSpPr>
          <p:cNvPr id="34" name="Text 20"/>
          <p:cNvSpPr/>
          <p:nvPr/>
        </p:nvSpPr>
        <p:spPr>
          <a:xfrm>
            <a:off x="5613400" y="4279900"/>
            <a:ext cx="965200" cy="213717"/>
          </a:xfrm>
          <a:prstGeom prst="rect">
            <a:avLst/>
          </a:prstGeom>
          <a:noFill/>
          <a:ln/>
        </p:spPr>
        <p:txBody>
          <a:bodyPr wrap="square" lIns="0" tIns="0" rIns="0" bIns="0" rtlCol="0" anchor="t">
            <a:normAutofit/>
          </a:bodyPr>
          <a:lstStyle/>
          <a:p>
            <a:pPr algn="ctr" indent="0" marL="0">
              <a:lnSpc>
                <a:spcPts val="1549"/>
              </a:lnSpc>
              <a:buNone/>
            </a:pPr>
            <a:r>
              <a:rPr lang="en-US" sz="1106" b="1" dirty="0">
                <a:solidFill>
                  <a:srgbClr val="0E2A33"/>
                </a:solidFill>
                <a:latin typeface="IBM Plex Sans" pitchFamily="34" charset="0"/>
                <a:ea typeface="IBM Plex Sans" pitchFamily="34" charset="-122"/>
                <a:cs typeface="IBM Plex Sans" pitchFamily="34" charset="-120"/>
              </a:rPr>
              <a:t>WP7</a:t>
            </a:r>
            <a:endParaRPr lang="en-US" sz="1106" dirty="0"/>
          </a:p>
        </p:txBody>
      </p:sp>
      <p:sp>
        <p:nvSpPr>
          <p:cNvPr id="35" name="Text 21"/>
          <p:cNvSpPr/>
          <p:nvPr/>
        </p:nvSpPr>
        <p:spPr>
          <a:xfrm>
            <a:off x="5613400" y="4480917"/>
            <a:ext cx="965200" cy="345083"/>
          </a:xfrm>
          <a:prstGeom prst="rect">
            <a:avLst/>
          </a:prstGeom>
          <a:noFill/>
          <a:ln/>
        </p:spPr>
        <p:txBody>
          <a:bodyPr wrap="square" lIns="0" tIns="0" rIns="0" bIns="0" rtlCol="0" anchor="t">
            <a:normAutofit/>
          </a:bodyPr>
          <a:lstStyle/>
          <a:p>
            <a:pPr algn="ctr" indent="0" marL="0">
              <a:lnSpc>
                <a:spcPts val="1296"/>
              </a:lnSpc>
              <a:buNone/>
            </a:pPr>
            <a:r>
              <a:rPr lang="en-US" sz="1080" dirty="0">
                <a:solidFill>
                  <a:srgbClr val="0E2A33"/>
                </a:solidFill>
                <a:latin typeface="IBM Plex Sans" pitchFamily="34" charset="0"/>
                <a:ea typeface="IBM Plex Sans" pitchFamily="34" charset="-122"/>
                <a:cs typeface="IBM Plex Sans" pitchFamily="34" charset="-120"/>
              </a:rPr>
              <a:t>Paramedic mode</a:t>
            </a:r>
            <a:endParaRPr lang="en-US" sz="1080" dirty="0"/>
          </a:p>
        </p:txBody>
      </p:sp>
      <p:sp>
        <p:nvSpPr>
          <p:cNvPr id="36" name="Shape 22"/>
          <p:cNvSpPr/>
          <p:nvPr/>
        </p:nvSpPr>
        <p:spPr>
          <a:xfrm>
            <a:off x="4381500" y="3181350"/>
            <a:ext cx="1054100" cy="685800"/>
          </a:xfrm>
          <a:prstGeom prst="roundRect">
            <a:avLst>
              <a:gd name="adj" fmla="val 12037"/>
            </a:avLst>
          </a:prstGeom>
          <a:solidFill>
            <a:srgbClr val="EAF1EF"/>
          </a:solidFill>
          <a:ln w="12700">
            <a:solidFill>
              <a:srgbClr val="7FB5AE"/>
            </a:solidFill>
            <a:prstDash val="solid"/>
          </a:ln>
        </p:spPr>
      </p:sp>
      <p:sp>
        <p:nvSpPr>
          <p:cNvPr id="37" name="Text 23"/>
          <p:cNvSpPr/>
          <p:nvPr/>
        </p:nvSpPr>
        <p:spPr>
          <a:xfrm>
            <a:off x="4425950" y="3324225"/>
            <a:ext cx="965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WP6</a:t>
            </a:r>
            <a:endParaRPr lang="en-US" sz="1200" dirty="0"/>
          </a:p>
        </p:txBody>
      </p:sp>
      <p:sp>
        <p:nvSpPr>
          <p:cNvPr id="38" name="Text 24"/>
          <p:cNvSpPr/>
          <p:nvPr/>
        </p:nvSpPr>
        <p:spPr>
          <a:xfrm>
            <a:off x="4425950" y="3546475"/>
            <a:ext cx="9652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0E2A33"/>
                </a:solidFill>
                <a:latin typeface="IBM Plex Sans" pitchFamily="34" charset="0"/>
                <a:ea typeface="IBM Plex Sans" pitchFamily="34" charset="-122"/>
                <a:cs typeface="IBM Plex Sans" pitchFamily="34" charset="-120"/>
              </a:rPr>
              <a:t>Driver mode</a:t>
            </a:r>
            <a:endParaRPr lang="en-US" sz="1200" dirty="0"/>
          </a:p>
        </p:txBody>
      </p:sp>
      <p:sp>
        <p:nvSpPr>
          <p:cNvPr id="39" name="Shape 25"/>
          <p:cNvSpPr/>
          <p:nvPr/>
        </p:nvSpPr>
        <p:spPr>
          <a:xfrm>
            <a:off x="6756400" y="3181350"/>
            <a:ext cx="1054100" cy="685800"/>
          </a:xfrm>
          <a:prstGeom prst="roundRect">
            <a:avLst>
              <a:gd name="adj" fmla="val 12037"/>
            </a:avLst>
          </a:prstGeom>
          <a:solidFill>
            <a:srgbClr val="FCFDFC"/>
          </a:solidFill>
          <a:ln w="12700">
            <a:solidFill>
              <a:srgbClr val="0E2A33"/>
            </a:solidFill>
            <a:prstDash val="solid"/>
          </a:ln>
        </p:spPr>
      </p:sp>
      <p:sp>
        <p:nvSpPr>
          <p:cNvPr id="40" name="Text 26"/>
          <p:cNvSpPr/>
          <p:nvPr/>
        </p:nvSpPr>
        <p:spPr>
          <a:xfrm>
            <a:off x="6800850" y="3324225"/>
            <a:ext cx="965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WP8</a:t>
            </a:r>
            <a:endParaRPr lang="en-US" sz="1200" dirty="0"/>
          </a:p>
        </p:txBody>
      </p:sp>
      <p:sp>
        <p:nvSpPr>
          <p:cNvPr id="41" name="Text 27"/>
          <p:cNvSpPr/>
          <p:nvPr/>
        </p:nvSpPr>
        <p:spPr>
          <a:xfrm>
            <a:off x="6800850" y="3546475"/>
            <a:ext cx="9652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0E2A33"/>
                </a:solidFill>
                <a:latin typeface="IBM Plex Sans" pitchFamily="34" charset="0"/>
                <a:ea typeface="IBM Plex Sans" pitchFamily="34" charset="-122"/>
                <a:cs typeface="IBM Plex Sans" pitchFamily="34" charset="-120"/>
              </a:rPr>
              <a:t>Hospital ER</a:t>
            </a:r>
            <a:endParaRPr lang="en-US" sz="1200" dirty="0"/>
          </a:p>
        </p:txBody>
      </p:sp>
      <p:sp>
        <p:nvSpPr>
          <p:cNvPr id="42" name="Shape 28"/>
          <p:cNvSpPr/>
          <p:nvPr/>
        </p:nvSpPr>
        <p:spPr>
          <a:xfrm>
            <a:off x="7943850" y="3181350"/>
            <a:ext cx="1054100" cy="685800"/>
          </a:xfrm>
          <a:prstGeom prst="roundRect">
            <a:avLst>
              <a:gd name="adj" fmla="val 12037"/>
            </a:avLst>
          </a:prstGeom>
          <a:solidFill>
            <a:srgbClr val="FCFDFC"/>
          </a:solidFill>
          <a:ln w="12700">
            <a:solidFill>
              <a:srgbClr val="0E2A33"/>
            </a:solidFill>
            <a:prstDash val="solid"/>
          </a:ln>
        </p:spPr>
      </p:sp>
      <p:sp>
        <p:nvSpPr>
          <p:cNvPr id="43" name="Text 29"/>
          <p:cNvSpPr/>
          <p:nvPr/>
        </p:nvSpPr>
        <p:spPr>
          <a:xfrm>
            <a:off x="7988300" y="3324225"/>
            <a:ext cx="9652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WP9</a:t>
            </a:r>
            <a:endParaRPr lang="en-US" sz="1200" dirty="0"/>
          </a:p>
        </p:txBody>
      </p:sp>
      <p:sp>
        <p:nvSpPr>
          <p:cNvPr id="44" name="Text 30"/>
          <p:cNvSpPr/>
          <p:nvPr/>
        </p:nvSpPr>
        <p:spPr>
          <a:xfrm>
            <a:off x="7975600" y="3546475"/>
            <a:ext cx="9906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0E2A33"/>
                </a:solidFill>
                <a:latin typeface="IBM Plex Sans" pitchFamily="34" charset="0"/>
                <a:ea typeface="IBM Plex Sans" pitchFamily="34" charset="-122"/>
                <a:cs typeface="IBM Plex Sans" pitchFamily="34" charset="-120"/>
              </a:rPr>
              <a:t>Hospital staff</a:t>
            </a:r>
            <a:endParaRPr lang="en-US" sz="1200" dirty="0"/>
          </a:p>
        </p:txBody>
      </p:sp>
      <p:sp>
        <p:nvSpPr>
          <p:cNvPr id="45" name="Shape 31"/>
          <p:cNvSpPr/>
          <p:nvPr/>
        </p:nvSpPr>
        <p:spPr>
          <a:xfrm>
            <a:off x="9131300" y="3181350"/>
            <a:ext cx="1054100" cy="685800"/>
          </a:xfrm>
          <a:prstGeom prst="roundRect">
            <a:avLst>
              <a:gd name="adj" fmla="val 12037"/>
            </a:avLst>
          </a:prstGeom>
          <a:solidFill>
            <a:srgbClr val="FCFDFC"/>
          </a:solidFill>
          <a:ln w="12700">
            <a:solidFill>
              <a:srgbClr val="0E2A33"/>
            </a:solidFill>
            <a:prstDash val="solid"/>
          </a:ln>
        </p:spPr>
      </p:sp>
      <p:sp>
        <p:nvSpPr>
          <p:cNvPr id="46" name="Text 32"/>
          <p:cNvSpPr/>
          <p:nvPr/>
        </p:nvSpPr>
        <p:spPr>
          <a:xfrm>
            <a:off x="9175750" y="3263900"/>
            <a:ext cx="965200" cy="213717"/>
          </a:xfrm>
          <a:prstGeom prst="rect">
            <a:avLst/>
          </a:prstGeom>
          <a:noFill/>
          <a:ln/>
        </p:spPr>
        <p:txBody>
          <a:bodyPr wrap="square" lIns="0" tIns="0" rIns="0" bIns="0" rtlCol="0" anchor="t">
            <a:normAutofit/>
          </a:bodyPr>
          <a:lstStyle/>
          <a:p>
            <a:pPr algn="ctr" indent="0" marL="0">
              <a:lnSpc>
                <a:spcPts val="1549"/>
              </a:lnSpc>
              <a:buNone/>
            </a:pPr>
            <a:r>
              <a:rPr lang="en-US" sz="1106" b="1" dirty="0">
                <a:solidFill>
                  <a:srgbClr val="0E2A33"/>
                </a:solidFill>
                <a:latin typeface="IBM Plex Sans" pitchFamily="34" charset="0"/>
                <a:ea typeface="IBM Plex Sans" pitchFamily="34" charset="-122"/>
                <a:cs typeface="IBM Plex Sans" pitchFamily="34" charset="-120"/>
              </a:rPr>
              <a:t>WP10</a:t>
            </a:r>
            <a:endParaRPr lang="en-US" sz="1106" dirty="0"/>
          </a:p>
        </p:txBody>
      </p:sp>
      <p:sp>
        <p:nvSpPr>
          <p:cNvPr id="47" name="Text 33"/>
          <p:cNvSpPr/>
          <p:nvPr/>
        </p:nvSpPr>
        <p:spPr>
          <a:xfrm>
            <a:off x="9175750" y="3464917"/>
            <a:ext cx="965200" cy="345083"/>
          </a:xfrm>
          <a:prstGeom prst="rect">
            <a:avLst/>
          </a:prstGeom>
          <a:noFill/>
          <a:ln/>
        </p:spPr>
        <p:txBody>
          <a:bodyPr wrap="square" lIns="0" tIns="0" rIns="0" bIns="0" rtlCol="0" anchor="t">
            <a:normAutofit/>
          </a:bodyPr>
          <a:lstStyle/>
          <a:p>
            <a:pPr algn="ctr" indent="0" marL="0">
              <a:lnSpc>
                <a:spcPts val="1296"/>
              </a:lnSpc>
              <a:buNone/>
            </a:pPr>
            <a:r>
              <a:rPr lang="en-US" sz="1080" dirty="0">
                <a:solidFill>
                  <a:srgbClr val="0E2A33"/>
                </a:solidFill>
                <a:latin typeface="IBM Plex Sans" pitchFamily="34" charset="0"/>
                <a:ea typeface="IBM Plex Sans" pitchFamily="34" charset="-122"/>
                <a:cs typeface="IBM Plex Sans" pitchFamily="34" charset="-120"/>
              </a:rPr>
              <a:t>Reports and links</a:t>
            </a:r>
            <a:endParaRPr lang="en-US" sz="1080" dirty="0"/>
          </a:p>
        </p:txBody>
      </p:sp>
      <p:sp>
        <p:nvSpPr>
          <p:cNvPr id="48" name="Shape 34"/>
          <p:cNvSpPr/>
          <p:nvPr/>
        </p:nvSpPr>
        <p:spPr>
          <a:xfrm>
            <a:off x="10312400" y="3175000"/>
            <a:ext cx="1066800" cy="698500"/>
          </a:xfrm>
          <a:prstGeom prst="roundRect">
            <a:avLst>
              <a:gd name="adj" fmla="val 12727"/>
            </a:avLst>
          </a:prstGeom>
          <a:solidFill>
            <a:srgbClr val="0B6E64"/>
          </a:solidFill>
          <a:ln/>
          <a:effectLst>
            <a:outerShdw sx="100000" sy="100000" kx="0" ky="0" algn="bl" rotWithShape="0" blurRad="177800" dist="76200" dir="5400000">
              <a:srgbClr val="0B6E64">
                <a:alpha val="30000"/>
              </a:srgbClr>
            </a:outerShdw>
          </a:effectLst>
        </p:spPr>
      </p:sp>
      <p:sp>
        <p:nvSpPr>
          <p:cNvPr id="49" name="Text 35"/>
          <p:cNvSpPr/>
          <p:nvPr/>
        </p:nvSpPr>
        <p:spPr>
          <a:xfrm>
            <a:off x="10350500" y="3324225"/>
            <a:ext cx="9906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4"/>
                </a:solidFill>
                <a:latin typeface="IBM Plex Sans" pitchFamily="34" charset="0"/>
                <a:ea typeface="IBM Plex Sans" pitchFamily="34" charset="-122"/>
                <a:cs typeface="IBM Plex Sans" pitchFamily="34" charset="-120"/>
              </a:rPr>
              <a:t>WP12</a:t>
            </a:r>
            <a:endParaRPr lang="en-US" sz="1200" dirty="0"/>
          </a:p>
        </p:txBody>
      </p:sp>
      <p:sp>
        <p:nvSpPr>
          <p:cNvPr id="50" name="Text 36"/>
          <p:cNvSpPr/>
          <p:nvPr/>
        </p:nvSpPr>
        <p:spPr>
          <a:xfrm>
            <a:off x="10350500" y="3546475"/>
            <a:ext cx="990600" cy="20320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F2F5F4"/>
                </a:solidFill>
                <a:latin typeface="IBM Plex Sans" pitchFamily="34" charset="0"/>
                <a:ea typeface="IBM Plex Sans" pitchFamily="34" charset="-122"/>
                <a:cs typeface="IBM Plex Sans" pitchFamily="34" charset="-120"/>
              </a:rPr>
              <a:t>Go-live ready</a:t>
            </a:r>
            <a:endParaRPr lang="en-US" sz="1200" dirty="0"/>
          </a:p>
        </p:txBody>
      </p:sp>
      <p:sp>
        <p:nvSpPr>
          <p:cNvPr id="51" name="Shape 37"/>
          <p:cNvSpPr/>
          <p:nvPr/>
        </p:nvSpPr>
        <p:spPr>
          <a:xfrm>
            <a:off x="819150" y="5276850"/>
            <a:ext cx="10553700" cy="400050"/>
          </a:xfrm>
          <a:prstGeom prst="roundRect">
            <a:avLst>
              <a:gd name="adj" fmla="val 20635"/>
            </a:avLst>
          </a:prstGeom>
          <a:solidFill>
            <a:srgbClr val="EAF1EF"/>
          </a:solidFill>
          <a:ln w="12700">
            <a:solidFill>
              <a:srgbClr val="7FB5AE"/>
            </a:solidFill>
            <a:prstDash val="dash"/>
          </a:ln>
        </p:spPr>
      </p:sp>
      <p:sp>
        <p:nvSpPr>
          <p:cNvPr id="52" name="Text 38"/>
          <p:cNvSpPr/>
          <p:nvPr/>
        </p:nvSpPr>
        <p:spPr>
          <a:xfrm>
            <a:off x="977900" y="5372100"/>
            <a:ext cx="10543286"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A33"/>
                </a:solidFill>
                <a:latin typeface="IBM Plex Sans" pitchFamily="34" charset="0"/>
                <a:ea typeface="IBM Plex Sans" pitchFamily="34" charset="-122"/>
                <a:cs typeface="IBM Plex Sans" pitchFamily="34" charset="-120"/>
              </a:rPr>
              <a:t>WP11 · Security, reliability and operations — runs alongside every package</a:t>
            </a:r>
            <a:endParaRPr lang="en-US" sz="1200" dirty="0"/>
          </a:p>
        </p:txBody>
      </p:sp>
      <p:sp>
        <p:nvSpPr>
          <p:cNvPr id="53" name="Text 3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TECHNICAL RISKS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Six technical risks and how we handle them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1950"/>
          <a:ext cx="10553700" cy="2514898"/>
        </p:xfrm>
        <a:graphic>
          <a:graphicData uri="http://schemas.openxmlformats.org/drawingml/2006/table">
            <a:tbl>
              <a:tblPr/>
              <a:tblGrid>
                <a:gridCol w="4221480"/>
                <a:gridCol w="6332220"/>
              </a:tblGrid>
              <a:tr h="359271">
                <a:tc>
                  <a:txBody>
                    <a:bodyPr/>
                    <a:lstStyle/>
                    <a:p>
                      <a:pPr indent="0" marL="0">
                        <a:lnSpc>
                          <a:spcPts val="1820"/>
                        </a:lnSpc>
                        <a:buNone/>
                      </a:pPr>
                      <a:r>
                        <a:rPr lang="en-US" sz="1300" b="1" dirty="0">
                          <a:solidFill>
                            <a:srgbClr val="F2F5F4"/>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c>
                  <a:txBody>
                    <a:bodyPr/>
                    <a:lstStyle/>
                    <a:p>
                      <a:pPr indent="0" marL="0">
                        <a:lnSpc>
                          <a:spcPts val="1820"/>
                        </a:lnSpc>
                        <a:buNone/>
                      </a:pPr>
                      <a:r>
                        <a:rPr lang="en-US" sz="1300" b="1" dirty="0">
                          <a:solidFill>
                            <a:srgbClr val="F2F5F4"/>
                          </a:solidFill>
                          <a:latin typeface="IBM Plex Sans" pitchFamily="34" charset="0"/>
                          <a:ea typeface="IBM Plex Sans" pitchFamily="34" charset="-122"/>
                          <a:cs typeface="IBM Plex Sans" pitchFamily="34" charset="-120"/>
                        </a:rPr>
                        <a:t>How we handle 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0F252C"/>
                      </a:solidFill>
                      <a:prstDash val="solid"/>
                      <a:round/>
                      <a:headEnd type="none" w="med" len="med"/>
                      <a:tailEnd type="none" w="med" len="med"/>
                    </a:lnL>
                    <a:lnR w="12700" cap="flat" cmpd="sng" algn="ctr">
                      <a:solidFill>
                        <a:srgbClr val="0F252C"/>
                      </a:solidFill>
                      <a:prstDash val="solid"/>
                      <a:round/>
                      <a:headEnd type="none" w="med" len="med"/>
                      <a:tailEnd type="none" w="med" len="med"/>
                    </a:lnR>
                    <a:lnT w="12700" cap="flat" cmpd="sng" algn="ctr">
                      <a:solidFill>
                        <a:srgbClr val="C4C5C4"/>
                      </a:solidFill>
                      <a:prstDash val="solid"/>
                      <a:round/>
                      <a:headEnd type="none" w="med" len="med"/>
                      <a:tailEnd type="none" w="med" len="med"/>
                    </a:lnT>
                    <a:lnB w="12700" cap="flat" cmpd="sng" algn="ctr">
                      <a:solidFill>
                        <a:srgbClr val="0F252C"/>
                      </a:solidFill>
                      <a:prstDash val="solid"/>
                      <a:round/>
                      <a:headEnd type="none" w="med" len="med"/>
                      <a:tailEnd type="none" w="med" len="med"/>
                    </a:lnB>
                    <a:solidFill>
                      <a:srgbClr val="0E2A33"/>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Two phones change one case offline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Server decides the status; medical data is only added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0F252C"/>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Phone company line not ready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GSM gateway with SIM cards as a backup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Missing roads and landmarks on maps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Own landmark list; crews add landmarks; map pin 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Arabic name spellings make duplicates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Letter normalising, fuzzy search, safe merge with undo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Server or data centre failure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Standby database, second site, tested backups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9"/>
                      </a:solidFill>
                      <a:prstDash val="solid"/>
                      <a:round/>
                      <a:headEnd type="none" w="med" len="med"/>
                      <a:tailEnd type="none" w="med" len="med"/>
                    </a:lnL>
                    <a:lnR w="12700" cap="flat" cmpd="sng" algn="ctr">
                      <a:solidFill>
                        <a:srgbClr val="C9CAC9"/>
                      </a:solidFill>
                      <a:prstDash val="solid"/>
                      <a:round/>
                      <a:headEnd type="none" w="med" len="med"/>
                      <a:tailEnd type="none" w="med" len="med"/>
                    </a:lnR>
                    <a:lnT w="12700" cap="flat" cmpd="sng" algn="ctr">
                      <a:solidFill>
                        <a:srgbClr val="BEC2C0"/>
                      </a:solidFill>
                      <a:prstDash val="solid"/>
                      <a:round/>
                      <a:headEnd type="none" w="med" len="med"/>
                      <a:tailEnd type="none" w="med" len="med"/>
                    </a:lnT>
                    <a:lnB w="12700" cap="flat" cmpd="sng" algn="ctr">
                      <a:solidFill>
                        <a:srgbClr val="C9CAC9"/>
                      </a:solidFill>
                      <a:prstDash val="solid"/>
                      <a:round/>
                      <a:headEnd type="none" w="med" len="med"/>
                      <a:tailEnd type="none" w="med" len="med"/>
                    </a:lnB>
                    <a:solidFill>
                      <a:srgbClr val="FCFDFC"/>
                    </a:solidFill>
                  </a:tcPr>
                </a:tc>
              </a:tr>
              <a:tr h="359271">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Hacking or data leak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4"/>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c>
                  <a:txBody>
                    <a:bodyPr/>
                    <a:lstStyle/>
                    <a:p>
                      <a:pPr indent="0" marL="0">
                        <a:lnSpc>
                          <a:spcPts val="1820"/>
                        </a:lnSpc>
                        <a:buNone/>
                      </a:pPr>
                      <a:r>
                        <a:rPr lang="en-US" sz="1300" dirty="0">
                          <a:solidFill>
                            <a:srgbClr val="0E2A33"/>
                          </a:solidFill>
                          <a:latin typeface="IBM Plex Sans" pitchFamily="34" charset="0"/>
                          <a:ea typeface="IBM Plex Sans" pitchFamily="34" charset="-122"/>
                          <a:cs typeface="IBM Plex Sans" pitchFamily="34" charset="-120"/>
                        </a:rPr>
                        <a:t>Second-code login, encryption, independent security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0"/>
                      </a:solidFill>
                      <a:prstDash val="solid"/>
                      <a:round/>
                      <a:headEnd type="none" w="med" len="med"/>
                      <a:tailEnd type="none" w="med" len="med"/>
                    </a:lnL>
                    <a:lnR w="12700" cap="flat" cmpd="sng" algn="ctr">
                      <a:solidFill>
                        <a:srgbClr val="BEC2C0"/>
                      </a:solidFill>
                      <a:prstDash val="solid"/>
                      <a:round/>
                      <a:headEnd type="none" w="med" len="med"/>
                      <a:tailEnd type="none" w="med" len="med"/>
                    </a:lnR>
                    <a:lnT w="12700" cap="flat" cmpd="sng" algn="ctr">
                      <a:solidFill>
                        <a:srgbClr val="C9CAC9"/>
                      </a:solidFill>
                      <a:prstDash val="solid"/>
                      <a:round/>
                      <a:headEnd type="none" w="med" len="med"/>
                      <a:tailEnd type="none" w="med" len="med"/>
                    </a:lnT>
                    <a:lnB w="12700" cap="flat" cmpd="sng" algn="ctr">
                      <a:solidFill>
                        <a:srgbClr val="BEC2C0"/>
                      </a:solidFill>
                      <a:prstDash val="solid"/>
                      <a:round/>
                      <a:headEnd type="none" w="med" len="med"/>
                      <a:tailEnd type="none" w="med" len="med"/>
                    </a:lnB>
                    <a:solidFill>
                      <a:srgbClr val="EEF3F1"/>
                    </a:solidFill>
                  </a:tcPr>
                </a:tc>
              </a:tr>
            </a:tbl>
          </a:graphicData>
        </a:graphic>
      </p:graphicFrame>
      <p:sp>
        <p:nvSpPr>
          <p:cNvPr id="5" name="Text 2"/>
          <p:cNvSpPr/>
          <p:nvPr/>
        </p:nvSpPr>
        <p:spPr>
          <a:xfrm>
            <a:off x="812800" y="4223048"/>
            <a:ext cx="10883392" cy="27940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6167"/>
                </a:solidFill>
                <a:latin typeface="IBM Plex Sans" pitchFamily="34" charset="0"/>
                <a:ea typeface="IBM Plex Sans" pitchFamily="34" charset="-122"/>
                <a:cs typeface="IBM Plex Sans" pitchFamily="34" charset="-120"/>
              </a:rPr>
              <a:t>Each risk has a test that proves the fix works before go-live.</a:t>
            </a:r>
            <a:endParaRPr lang="en-US" sz="1400" dirty="0"/>
          </a:p>
        </p:txBody>
      </p:sp>
      <p:sp>
        <p:nvSpPr>
          <p:cNvPr id="6" name="Text 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GO-LIVE AND OPERATIONS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The service never stops</a:t>
            </a:r>
            <a:endParaRPr lang="en-US" sz="3200" dirty="0"/>
          </a:p>
        </p:txBody>
      </p:sp>
      <p:sp>
        <p:nvSpPr>
          <p:cNvPr id="4" name="Shape 2"/>
          <p:cNvSpPr/>
          <p:nvPr/>
        </p:nvSpPr>
        <p:spPr>
          <a:xfrm>
            <a:off x="812800" y="2159000"/>
            <a:ext cx="2565400" cy="1860550"/>
          </a:xfrm>
          <a:prstGeom prst="roundRect">
            <a:avLst>
              <a:gd name="adj" fmla="val 6826"/>
            </a:avLst>
          </a:prstGeom>
          <a:solidFill>
            <a:srgbClr val="0E2A33"/>
          </a:solidFill>
          <a:ln/>
        </p:spPr>
      </p:sp>
      <p:sp>
        <p:nvSpPr>
          <p:cNvPr id="5" name="Text 3"/>
          <p:cNvSpPr/>
          <p:nvPr/>
        </p:nvSpPr>
        <p:spPr>
          <a:xfrm>
            <a:off x="1041400" y="2387600"/>
            <a:ext cx="21714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6FD1C2"/>
                </a:solidFill>
                <a:latin typeface="IBM Plex Sans" pitchFamily="34" charset="0"/>
                <a:ea typeface="IBM Plex Sans" pitchFamily="34" charset="-122"/>
                <a:cs typeface="IBM Plex Sans" pitchFamily="34" charset="-120"/>
              </a:rPr>
              <a:t>99.9%</a:t>
            </a:r>
            <a:endParaRPr lang="en-US" sz="4800" dirty="0"/>
          </a:p>
        </p:txBody>
      </p:sp>
      <p:sp>
        <p:nvSpPr>
          <p:cNvPr id="6" name="Text 4"/>
          <p:cNvSpPr/>
          <p:nvPr/>
        </p:nvSpPr>
        <p:spPr>
          <a:xfrm>
            <a:off x="1041400" y="3060700"/>
            <a:ext cx="2171446"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F5F4"/>
                </a:solidFill>
                <a:latin typeface="IBM Plex Sans" pitchFamily="34" charset="0"/>
                <a:ea typeface="IBM Plex Sans" pitchFamily="34" charset="-122"/>
                <a:cs typeface="IBM Plex Sans" pitchFamily="34" charset="-120"/>
              </a:rPr>
              <a:t>uptime target</a:t>
            </a:r>
            <a:endParaRPr lang="en-US" sz="1400" dirty="0"/>
          </a:p>
        </p:txBody>
      </p:sp>
      <p:sp>
        <p:nvSpPr>
          <p:cNvPr id="7" name="Text 5"/>
          <p:cNvSpPr/>
          <p:nvPr/>
        </p:nvSpPr>
        <p:spPr>
          <a:xfrm>
            <a:off x="1041400" y="3371850"/>
            <a:ext cx="2171446"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About 43 minutes down per month at most</a:t>
            </a:r>
            <a:endParaRPr lang="en-US" sz="1200" dirty="0"/>
          </a:p>
        </p:txBody>
      </p:sp>
      <p:sp>
        <p:nvSpPr>
          <p:cNvPr id="8" name="Shape 6"/>
          <p:cNvSpPr/>
          <p:nvPr/>
        </p:nvSpPr>
        <p:spPr>
          <a:xfrm>
            <a:off x="3482975" y="2162175"/>
            <a:ext cx="2559050" cy="1866900"/>
          </a:xfrm>
          <a:prstGeom prst="roundRect">
            <a:avLst>
              <a:gd name="adj" fmla="val 6633"/>
            </a:avLst>
          </a:prstGeom>
          <a:solidFill>
            <a:srgbClr val="FCFDFC"/>
          </a:solidFill>
          <a:ln w="6350">
            <a:solidFill>
              <a:srgbClr val="DCE5E2"/>
            </a:solidFill>
            <a:prstDash val="solid"/>
          </a:ln>
        </p:spPr>
      </p:sp>
      <p:sp>
        <p:nvSpPr>
          <p:cNvPr id="9" name="Text 7"/>
          <p:cNvSpPr/>
          <p:nvPr/>
        </p:nvSpPr>
        <p:spPr>
          <a:xfrm>
            <a:off x="3714750" y="2393950"/>
            <a:ext cx="215836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4"/>
                </a:solidFill>
                <a:latin typeface="IBM Plex Sans" pitchFamily="34" charset="0"/>
                <a:ea typeface="IBM Plex Sans" pitchFamily="34" charset="-122"/>
                <a:cs typeface="IBM Plex Sans" pitchFamily="34" charset="-120"/>
              </a:rPr>
              <a:t>1 min</a:t>
            </a:r>
            <a:endParaRPr lang="en-US" sz="4800" dirty="0"/>
          </a:p>
        </p:txBody>
      </p:sp>
      <p:sp>
        <p:nvSpPr>
          <p:cNvPr id="10" name="Text 8"/>
          <p:cNvSpPr/>
          <p:nvPr/>
        </p:nvSpPr>
        <p:spPr>
          <a:xfrm>
            <a:off x="3714750" y="3067050"/>
            <a:ext cx="215836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to switch database</a:t>
            </a:r>
            <a:endParaRPr lang="en-US" sz="1400" dirty="0"/>
          </a:p>
        </p:txBody>
      </p:sp>
      <p:sp>
        <p:nvSpPr>
          <p:cNvPr id="11" name="Text 9"/>
          <p:cNvSpPr/>
          <p:nvPr/>
        </p:nvSpPr>
        <p:spPr>
          <a:xfrm>
            <a:off x="3714750" y="3378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A standby copy takes over by itself</a:t>
            </a:r>
            <a:endParaRPr lang="en-US" sz="1200" dirty="0"/>
          </a:p>
        </p:txBody>
      </p:sp>
      <p:sp>
        <p:nvSpPr>
          <p:cNvPr id="12" name="Shape 10"/>
          <p:cNvSpPr/>
          <p:nvPr/>
        </p:nvSpPr>
        <p:spPr>
          <a:xfrm>
            <a:off x="6149975" y="2162175"/>
            <a:ext cx="2559050" cy="1866900"/>
          </a:xfrm>
          <a:prstGeom prst="roundRect">
            <a:avLst>
              <a:gd name="adj" fmla="val 6633"/>
            </a:avLst>
          </a:prstGeom>
          <a:solidFill>
            <a:srgbClr val="FCFDFC"/>
          </a:solidFill>
          <a:ln w="6350">
            <a:solidFill>
              <a:srgbClr val="DCE5E2"/>
            </a:solidFill>
            <a:prstDash val="solid"/>
          </a:ln>
        </p:spPr>
      </p:sp>
      <p:sp>
        <p:nvSpPr>
          <p:cNvPr id="13" name="Text 11"/>
          <p:cNvSpPr/>
          <p:nvPr/>
        </p:nvSpPr>
        <p:spPr>
          <a:xfrm>
            <a:off x="6381750" y="2393950"/>
            <a:ext cx="215836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4"/>
                </a:solidFill>
                <a:latin typeface="IBM Plex Sans" pitchFamily="34" charset="0"/>
                <a:ea typeface="IBM Plex Sans" pitchFamily="34" charset="-122"/>
                <a:cs typeface="IBM Plex Sans" pitchFamily="34" charset="-120"/>
              </a:rPr>
              <a:t>5 min</a:t>
            </a:r>
            <a:endParaRPr lang="en-US" sz="4800" dirty="0"/>
          </a:p>
        </p:txBody>
      </p:sp>
      <p:sp>
        <p:nvSpPr>
          <p:cNvPr id="14" name="Text 12"/>
          <p:cNvSpPr/>
          <p:nvPr/>
        </p:nvSpPr>
        <p:spPr>
          <a:xfrm>
            <a:off x="6381750" y="3067050"/>
            <a:ext cx="215836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most data we can lose</a:t>
            </a:r>
            <a:endParaRPr lang="en-US" sz="1400" dirty="0"/>
          </a:p>
        </p:txBody>
      </p:sp>
      <p:sp>
        <p:nvSpPr>
          <p:cNvPr id="15" name="Text 13"/>
          <p:cNvSpPr/>
          <p:nvPr/>
        </p:nvSpPr>
        <p:spPr>
          <a:xfrm>
            <a:off x="6381750" y="3378200"/>
            <a:ext cx="2158365"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Continuous copy to a second site</a:t>
            </a:r>
            <a:endParaRPr lang="en-US" sz="1200" dirty="0"/>
          </a:p>
        </p:txBody>
      </p:sp>
      <p:sp>
        <p:nvSpPr>
          <p:cNvPr id="16" name="Shape 14"/>
          <p:cNvSpPr/>
          <p:nvPr/>
        </p:nvSpPr>
        <p:spPr>
          <a:xfrm>
            <a:off x="8816975" y="2162175"/>
            <a:ext cx="2559050" cy="1657350"/>
          </a:xfrm>
          <a:prstGeom prst="roundRect">
            <a:avLst>
              <a:gd name="adj" fmla="val 7471"/>
            </a:avLst>
          </a:prstGeom>
          <a:solidFill>
            <a:srgbClr val="FCFDFC"/>
          </a:solidFill>
          <a:ln w="6350">
            <a:solidFill>
              <a:srgbClr val="DCE5E2"/>
            </a:solidFill>
            <a:prstDash val="solid"/>
          </a:ln>
        </p:spPr>
      </p:sp>
      <p:sp>
        <p:nvSpPr>
          <p:cNvPr id="17" name="Text 15"/>
          <p:cNvSpPr/>
          <p:nvPr/>
        </p:nvSpPr>
        <p:spPr>
          <a:xfrm>
            <a:off x="9048750" y="2393950"/>
            <a:ext cx="215836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6E64"/>
                </a:solidFill>
                <a:latin typeface="IBM Plex Sans" pitchFamily="34" charset="0"/>
                <a:ea typeface="IBM Plex Sans" pitchFamily="34" charset="-122"/>
                <a:cs typeface="IBM Plex Sans" pitchFamily="34" charset="-120"/>
              </a:rPr>
              <a:t>2 min</a:t>
            </a:r>
            <a:endParaRPr lang="en-US" sz="4800" dirty="0"/>
          </a:p>
        </p:txBody>
      </p:sp>
      <p:sp>
        <p:nvSpPr>
          <p:cNvPr id="18" name="Text 16"/>
          <p:cNvSpPr/>
          <p:nvPr/>
        </p:nvSpPr>
        <p:spPr>
          <a:xfrm>
            <a:off x="9048750" y="3067050"/>
            <a:ext cx="215836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to paper and radio</a:t>
            </a:r>
            <a:endParaRPr lang="en-US" sz="1400" dirty="0"/>
          </a:p>
        </p:txBody>
      </p:sp>
      <p:sp>
        <p:nvSpPr>
          <p:cNvPr id="19" name="Text 17"/>
          <p:cNvSpPr/>
          <p:nvPr/>
        </p:nvSpPr>
        <p:spPr>
          <a:xfrm>
            <a:off x="9048750" y="3378200"/>
            <a:ext cx="215836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A fallback practised in drills</a:t>
            </a:r>
            <a:endParaRPr lang="en-US" sz="1200" dirty="0"/>
          </a:p>
        </p:txBody>
      </p:sp>
      <p:sp>
        <p:nvSpPr>
          <p:cNvPr id="20" name="Text 18"/>
          <p:cNvSpPr/>
          <p:nvPr/>
        </p:nvSpPr>
        <p:spPr>
          <a:xfrm>
            <a:off x="812800" y="4572000"/>
            <a:ext cx="9810750" cy="53340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F6167"/>
                </a:solidFill>
                <a:latin typeface="IBM Plex Sans" pitchFamily="34" charset="0"/>
                <a:ea typeface="IBM Plex Sans" pitchFamily="34" charset="-122"/>
                <a:cs typeface="IBM Plex Sans" pitchFamily="34" charset="-120"/>
              </a:rPr>
              <a:t>Also: two internet lines, battery and generator at the call centre, spare phones at every station, and a help desk around the clock.</a:t>
            </a:r>
            <a:endParaRPr lang="en-US" sz="1400" dirty="0"/>
          </a:p>
        </p:txBody>
      </p:sp>
      <p:sp>
        <p:nvSpPr>
          <p:cNvPr id="21" name="Text 1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19 · Targets, not measured results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MEASURING SUCCESS</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Six numbers tell us if the system works</a:t>
            </a:r>
            <a:endParaRPr lang="en-US" sz="3200" dirty="0"/>
          </a:p>
        </p:txBody>
      </p:sp>
      <p:sp>
        <p:nvSpPr>
          <p:cNvPr id="4" name="Shape 2"/>
          <p:cNvSpPr/>
          <p:nvPr/>
        </p:nvSpPr>
        <p:spPr>
          <a:xfrm>
            <a:off x="815975" y="2035175"/>
            <a:ext cx="3429000" cy="1479550"/>
          </a:xfrm>
          <a:prstGeom prst="roundRect">
            <a:avLst>
              <a:gd name="adj" fmla="val 8369"/>
            </a:avLst>
          </a:prstGeom>
          <a:solidFill>
            <a:srgbClr val="FCFDFC"/>
          </a:solidFill>
          <a:ln w="6350">
            <a:solidFill>
              <a:srgbClr val="DCE5E2"/>
            </a:solidFill>
            <a:prstDash val="solid"/>
          </a:ln>
        </p:spPr>
      </p:sp>
      <p:sp>
        <p:nvSpPr>
          <p:cNvPr id="5" name="Text 3"/>
          <p:cNvSpPr/>
          <p:nvPr/>
        </p:nvSpPr>
        <p:spPr>
          <a:xfrm>
            <a:off x="1022350" y="2241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Answer time</a:t>
            </a:r>
            <a:endParaRPr lang="en-US" sz="1800" dirty="0"/>
          </a:p>
        </p:txBody>
      </p:sp>
      <p:sp>
        <p:nvSpPr>
          <p:cNvPr id="6" name="Text 4"/>
          <p:cNvSpPr/>
          <p:nvPr/>
        </p:nvSpPr>
        <p:spPr>
          <a:xfrm>
            <a:off x="1022350" y="2578100"/>
            <a:ext cx="310673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From the phone ringing to a call-taker answering</a:t>
            </a:r>
            <a:endParaRPr lang="en-US" sz="1200" dirty="0"/>
          </a:p>
        </p:txBody>
      </p:sp>
      <p:sp>
        <p:nvSpPr>
          <p:cNvPr id="7" name="Text 5"/>
          <p:cNvSpPr/>
          <p:nvPr/>
        </p:nvSpPr>
        <p:spPr>
          <a:xfrm>
            <a:off x="1022350" y="306070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[set with Ministry]</a:t>
            </a:r>
            <a:endParaRPr lang="en-US" sz="1400" dirty="0"/>
          </a:p>
        </p:txBody>
      </p:sp>
      <p:sp>
        <p:nvSpPr>
          <p:cNvPr id="8" name="Shape 6"/>
          <p:cNvSpPr/>
          <p:nvPr/>
        </p:nvSpPr>
        <p:spPr>
          <a:xfrm>
            <a:off x="4378325" y="2035175"/>
            <a:ext cx="3429000" cy="1479550"/>
          </a:xfrm>
          <a:prstGeom prst="roundRect">
            <a:avLst>
              <a:gd name="adj" fmla="val 8369"/>
            </a:avLst>
          </a:prstGeom>
          <a:solidFill>
            <a:srgbClr val="FCFDFC"/>
          </a:solidFill>
          <a:ln w="6350">
            <a:solidFill>
              <a:srgbClr val="DCE5E2"/>
            </a:solidFill>
            <a:prstDash val="solid"/>
          </a:ln>
        </p:spPr>
      </p:sp>
      <p:sp>
        <p:nvSpPr>
          <p:cNvPr id="9" name="Text 7"/>
          <p:cNvSpPr/>
          <p:nvPr/>
        </p:nvSpPr>
        <p:spPr>
          <a:xfrm>
            <a:off x="4584700" y="2241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Call to dispatch</a:t>
            </a:r>
            <a:endParaRPr lang="en-US" sz="1800" dirty="0"/>
          </a:p>
        </p:txBody>
      </p:sp>
      <p:sp>
        <p:nvSpPr>
          <p:cNvPr id="10" name="Text 8"/>
          <p:cNvSpPr/>
          <p:nvPr/>
        </p:nvSpPr>
        <p:spPr>
          <a:xfrm>
            <a:off x="4584700" y="2578100"/>
            <a:ext cx="310673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From answer to ambulance sent, for P1 cases</a:t>
            </a:r>
            <a:endParaRPr lang="en-US" sz="1200" dirty="0"/>
          </a:p>
        </p:txBody>
      </p:sp>
      <p:sp>
        <p:nvSpPr>
          <p:cNvPr id="11" name="Text 9"/>
          <p:cNvSpPr/>
          <p:nvPr/>
        </p:nvSpPr>
        <p:spPr>
          <a:xfrm>
            <a:off x="4584700" y="306070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under 2 min</a:t>
            </a:r>
            <a:endParaRPr lang="en-US" sz="1400" dirty="0"/>
          </a:p>
        </p:txBody>
      </p:sp>
      <p:sp>
        <p:nvSpPr>
          <p:cNvPr id="12" name="Shape 10"/>
          <p:cNvSpPr/>
          <p:nvPr/>
        </p:nvSpPr>
        <p:spPr>
          <a:xfrm>
            <a:off x="7940675" y="2035175"/>
            <a:ext cx="3429000" cy="1479550"/>
          </a:xfrm>
          <a:prstGeom prst="roundRect">
            <a:avLst>
              <a:gd name="adj" fmla="val 8369"/>
            </a:avLst>
          </a:prstGeom>
          <a:solidFill>
            <a:srgbClr val="FCFDFC"/>
          </a:solidFill>
          <a:ln w="6350">
            <a:solidFill>
              <a:srgbClr val="DCE5E2"/>
            </a:solidFill>
            <a:prstDash val="solid"/>
          </a:ln>
        </p:spPr>
      </p:sp>
      <p:sp>
        <p:nvSpPr>
          <p:cNvPr id="13" name="Text 11"/>
          <p:cNvSpPr/>
          <p:nvPr/>
        </p:nvSpPr>
        <p:spPr>
          <a:xfrm>
            <a:off x="8147050" y="2241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Response time</a:t>
            </a:r>
            <a:endParaRPr lang="en-US" sz="1800" dirty="0"/>
          </a:p>
        </p:txBody>
      </p:sp>
      <p:sp>
        <p:nvSpPr>
          <p:cNvPr id="14" name="Text 12"/>
          <p:cNvSpPr/>
          <p:nvPr/>
        </p:nvSpPr>
        <p:spPr>
          <a:xfrm>
            <a:off x="8147050" y="2578100"/>
            <a:ext cx="310673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From the call to arrival at the scene, by urgency</a:t>
            </a:r>
            <a:endParaRPr lang="en-US" sz="1200" dirty="0"/>
          </a:p>
        </p:txBody>
      </p:sp>
      <p:sp>
        <p:nvSpPr>
          <p:cNvPr id="15" name="Text 13"/>
          <p:cNvSpPr/>
          <p:nvPr/>
        </p:nvSpPr>
        <p:spPr>
          <a:xfrm>
            <a:off x="8147050" y="306070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[set with Ministry]</a:t>
            </a:r>
            <a:endParaRPr lang="en-US" sz="1400" dirty="0"/>
          </a:p>
        </p:txBody>
      </p:sp>
      <p:sp>
        <p:nvSpPr>
          <p:cNvPr id="16" name="Shape 14"/>
          <p:cNvSpPr/>
          <p:nvPr/>
        </p:nvSpPr>
        <p:spPr>
          <a:xfrm>
            <a:off x="815975" y="3813175"/>
            <a:ext cx="3429000" cy="1270000"/>
          </a:xfrm>
          <a:prstGeom prst="roundRect">
            <a:avLst>
              <a:gd name="adj" fmla="val 9750"/>
            </a:avLst>
          </a:prstGeom>
          <a:solidFill>
            <a:srgbClr val="FCFDFC"/>
          </a:solidFill>
          <a:ln w="6350">
            <a:solidFill>
              <a:srgbClr val="DCE5E2"/>
            </a:solidFill>
            <a:prstDash val="solid"/>
          </a:ln>
        </p:spPr>
      </p:sp>
      <p:sp>
        <p:nvSpPr>
          <p:cNvPr id="17" name="Text 15"/>
          <p:cNvSpPr/>
          <p:nvPr/>
        </p:nvSpPr>
        <p:spPr>
          <a:xfrm>
            <a:off x="1022350" y="4019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Handover delay</a:t>
            </a:r>
            <a:endParaRPr lang="en-US" sz="1800" dirty="0"/>
          </a:p>
        </p:txBody>
      </p:sp>
      <p:sp>
        <p:nvSpPr>
          <p:cNvPr id="18" name="Text 16"/>
          <p:cNvSpPr/>
          <p:nvPr/>
        </p:nvSpPr>
        <p:spPr>
          <a:xfrm>
            <a:off x="1022350" y="4356100"/>
            <a:ext cx="310673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From arrival at hospital to handover done</a:t>
            </a:r>
            <a:endParaRPr lang="en-US" sz="1200" dirty="0"/>
          </a:p>
        </p:txBody>
      </p:sp>
      <p:sp>
        <p:nvSpPr>
          <p:cNvPr id="19" name="Text 17"/>
          <p:cNvSpPr/>
          <p:nvPr/>
        </p:nvSpPr>
        <p:spPr>
          <a:xfrm>
            <a:off x="1022350" y="462915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[set with Ministry]</a:t>
            </a:r>
            <a:endParaRPr lang="en-US" sz="1400" dirty="0"/>
          </a:p>
        </p:txBody>
      </p:sp>
      <p:sp>
        <p:nvSpPr>
          <p:cNvPr id="20" name="Shape 18"/>
          <p:cNvSpPr/>
          <p:nvPr/>
        </p:nvSpPr>
        <p:spPr>
          <a:xfrm>
            <a:off x="4378325" y="3813175"/>
            <a:ext cx="3429000" cy="1270000"/>
          </a:xfrm>
          <a:prstGeom prst="roundRect">
            <a:avLst>
              <a:gd name="adj" fmla="val 9750"/>
            </a:avLst>
          </a:prstGeom>
          <a:solidFill>
            <a:srgbClr val="FCFDFC"/>
          </a:solidFill>
          <a:ln w="6350">
            <a:solidFill>
              <a:srgbClr val="DCE5E2"/>
            </a:solidFill>
            <a:prstDash val="solid"/>
          </a:ln>
        </p:spPr>
      </p:sp>
      <p:sp>
        <p:nvSpPr>
          <p:cNvPr id="21" name="Text 19"/>
          <p:cNvSpPr/>
          <p:nvPr/>
        </p:nvSpPr>
        <p:spPr>
          <a:xfrm>
            <a:off x="4584700" y="4019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System uptime</a:t>
            </a:r>
            <a:endParaRPr lang="en-US" sz="1800" dirty="0"/>
          </a:p>
        </p:txBody>
      </p:sp>
      <p:sp>
        <p:nvSpPr>
          <p:cNvPr id="22" name="Text 20"/>
          <p:cNvSpPr/>
          <p:nvPr/>
        </p:nvSpPr>
        <p:spPr>
          <a:xfrm>
            <a:off x="4584700" y="4356100"/>
            <a:ext cx="310673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Share of the month the system is available</a:t>
            </a:r>
            <a:endParaRPr lang="en-US" sz="1200" dirty="0"/>
          </a:p>
        </p:txBody>
      </p:sp>
      <p:sp>
        <p:nvSpPr>
          <p:cNvPr id="23" name="Text 21"/>
          <p:cNvSpPr/>
          <p:nvPr/>
        </p:nvSpPr>
        <p:spPr>
          <a:xfrm>
            <a:off x="4584700" y="462915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99.9%</a:t>
            </a:r>
            <a:endParaRPr lang="en-US" sz="1400" dirty="0"/>
          </a:p>
        </p:txBody>
      </p:sp>
      <p:sp>
        <p:nvSpPr>
          <p:cNvPr id="24" name="Shape 22"/>
          <p:cNvSpPr/>
          <p:nvPr/>
        </p:nvSpPr>
        <p:spPr>
          <a:xfrm>
            <a:off x="7940675" y="3813175"/>
            <a:ext cx="3429000" cy="1270000"/>
          </a:xfrm>
          <a:prstGeom prst="roundRect">
            <a:avLst>
              <a:gd name="adj" fmla="val 9750"/>
            </a:avLst>
          </a:prstGeom>
          <a:solidFill>
            <a:srgbClr val="FCFDFC"/>
          </a:solidFill>
          <a:ln w="6350">
            <a:solidFill>
              <a:srgbClr val="DCE5E2"/>
            </a:solidFill>
            <a:prstDash val="solid"/>
          </a:ln>
        </p:spPr>
      </p:sp>
      <p:sp>
        <p:nvSpPr>
          <p:cNvPr id="25" name="Text 23"/>
          <p:cNvSpPr/>
          <p:nvPr/>
        </p:nvSpPr>
        <p:spPr>
          <a:xfrm>
            <a:off x="8147050" y="4019550"/>
            <a:ext cx="3106738"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33"/>
                </a:solidFill>
                <a:latin typeface="IBM Plex Sans" pitchFamily="34" charset="0"/>
                <a:ea typeface="IBM Plex Sans" pitchFamily="34" charset="-122"/>
                <a:cs typeface="IBM Plex Sans" pitchFamily="34" charset="-120"/>
              </a:rPr>
              <a:t>Data lost offline</a:t>
            </a:r>
            <a:endParaRPr lang="en-US" sz="1800" dirty="0"/>
          </a:p>
        </p:txBody>
      </p:sp>
      <p:sp>
        <p:nvSpPr>
          <p:cNvPr id="26" name="Text 24"/>
          <p:cNvSpPr/>
          <p:nvPr/>
        </p:nvSpPr>
        <p:spPr>
          <a:xfrm>
            <a:off x="8147050" y="4356100"/>
            <a:ext cx="310673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Items lost after a phone reconnects</a:t>
            </a:r>
            <a:endParaRPr lang="en-US" sz="1200" dirty="0"/>
          </a:p>
        </p:txBody>
      </p:sp>
      <p:sp>
        <p:nvSpPr>
          <p:cNvPr id="27" name="Text 25"/>
          <p:cNvSpPr/>
          <p:nvPr/>
        </p:nvSpPr>
        <p:spPr>
          <a:xfrm>
            <a:off x="8147050" y="4629150"/>
            <a:ext cx="310673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E64"/>
                </a:solidFill>
                <a:latin typeface="IBM Plex Sans" pitchFamily="34" charset="0"/>
                <a:ea typeface="IBM Plex Sans" pitchFamily="34" charset="-122"/>
                <a:cs typeface="IBM Plex Sans" pitchFamily="34" charset="-120"/>
              </a:rPr>
              <a:t>Target: zero</a:t>
            </a:r>
            <a:endParaRPr lang="en-US" sz="1400" dirty="0"/>
          </a:p>
        </p:txBody>
      </p:sp>
      <p:sp>
        <p:nvSpPr>
          <p:cNvPr id="28" name="Text 2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20 · Targets in brackets to be agreed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4"/>
                </a:solidFill>
                <a:latin typeface="IBM Plex Sans" pitchFamily="34" charset="0"/>
                <a:ea typeface="IBM Plex Sans" pitchFamily="34" charset="-122"/>
                <a:cs typeface="IBM Plex Sans" pitchFamily="34" charset="-120"/>
              </a:rPr>
              <a:t>FOR DISCUSSION</a:t>
            </a:r>
            <a:endParaRPr lang="en-US" sz="1200" dirty="0"/>
          </a:p>
        </p:txBody>
      </p:sp>
      <p:sp>
        <p:nvSpPr>
          <p:cNvPr id="3" name="Text 1"/>
          <p:cNvSpPr/>
          <p:nvPr>
            <p:ph type="title"/>
          </p:nvPr>
        </p:nvSpPr>
        <p:spPr>
          <a:xfrm>
            <a:off x="812800" y="10985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2A33"/>
                </a:solidFill>
                <a:latin typeface="IBM Plex Sans" pitchFamily="34" charset="0"/>
                <a:ea typeface="IBM Plex Sans" pitchFamily="34" charset="-122"/>
                <a:cs typeface="IBM Plex Sans" pitchFamily="34" charset="-120"/>
              </a:rPr>
              <a:t>Five decisions we need today</a:t>
            </a:r>
            <a:endParaRPr lang="en-US" sz="3200" dirty="0"/>
          </a:p>
        </p:txBody>
      </p:sp>
      <p:sp>
        <p:nvSpPr>
          <p:cNvPr id="4" name="Shape 2"/>
          <p:cNvSpPr/>
          <p:nvPr/>
        </p:nvSpPr>
        <p:spPr>
          <a:xfrm>
            <a:off x="815975" y="1622425"/>
            <a:ext cx="6953250" cy="603250"/>
          </a:xfrm>
          <a:prstGeom prst="roundRect">
            <a:avLst>
              <a:gd name="adj" fmla="val 16316"/>
            </a:avLst>
          </a:prstGeom>
          <a:solidFill>
            <a:srgbClr val="FCFDFC"/>
          </a:solidFill>
          <a:ln w="6350">
            <a:solidFill>
              <a:srgbClr val="DCE5E2"/>
            </a:solidFill>
            <a:prstDash val="solid"/>
          </a:ln>
        </p:spPr>
      </p:sp>
      <p:sp>
        <p:nvSpPr>
          <p:cNvPr id="5" name="Text 3"/>
          <p:cNvSpPr/>
          <p:nvPr/>
        </p:nvSpPr>
        <p:spPr>
          <a:xfrm>
            <a:off x="996950" y="1765300"/>
            <a:ext cx="4064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1</a:t>
            </a:r>
            <a:endParaRPr lang="en-US" sz="1800" dirty="0"/>
          </a:p>
        </p:txBody>
      </p:sp>
      <p:sp>
        <p:nvSpPr>
          <p:cNvPr id="6" name="Text 4"/>
          <p:cNvSpPr/>
          <p:nvPr/>
        </p:nvSpPr>
        <p:spPr>
          <a:xfrm>
            <a:off x="1504950" y="1800225"/>
            <a:ext cx="6265799"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Approve the scope: six parts in the first release</a:t>
            </a:r>
            <a:endParaRPr lang="en-US" sz="1400" dirty="0"/>
          </a:p>
        </p:txBody>
      </p:sp>
      <p:sp>
        <p:nvSpPr>
          <p:cNvPr id="7" name="Shape 5"/>
          <p:cNvSpPr/>
          <p:nvPr/>
        </p:nvSpPr>
        <p:spPr>
          <a:xfrm>
            <a:off x="815975" y="2333625"/>
            <a:ext cx="6953250" cy="603250"/>
          </a:xfrm>
          <a:prstGeom prst="roundRect">
            <a:avLst>
              <a:gd name="adj" fmla="val 16316"/>
            </a:avLst>
          </a:prstGeom>
          <a:solidFill>
            <a:srgbClr val="FCFDFC"/>
          </a:solidFill>
          <a:ln w="6350">
            <a:solidFill>
              <a:srgbClr val="DCE5E2"/>
            </a:solidFill>
            <a:prstDash val="solid"/>
          </a:ln>
        </p:spPr>
      </p:sp>
      <p:sp>
        <p:nvSpPr>
          <p:cNvPr id="8" name="Text 6"/>
          <p:cNvSpPr/>
          <p:nvPr/>
        </p:nvSpPr>
        <p:spPr>
          <a:xfrm>
            <a:off x="996950" y="2476500"/>
            <a:ext cx="4064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2</a:t>
            </a:r>
            <a:endParaRPr lang="en-US" sz="1800" dirty="0"/>
          </a:p>
        </p:txBody>
      </p:sp>
      <p:sp>
        <p:nvSpPr>
          <p:cNvPr id="9" name="Text 7"/>
          <p:cNvSpPr/>
          <p:nvPr/>
        </p:nvSpPr>
        <p:spPr>
          <a:xfrm>
            <a:off x="1504950" y="2511425"/>
            <a:ext cx="6265799"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Approve the UI/UX direction and the Arabic and English design system</a:t>
            </a:r>
            <a:endParaRPr lang="en-US" sz="1400" dirty="0"/>
          </a:p>
        </p:txBody>
      </p:sp>
      <p:sp>
        <p:nvSpPr>
          <p:cNvPr id="10" name="Shape 8"/>
          <p:cNvSpPr/>
          <p:nvPr/>
        </p:nvSpPr>
        <p:spPr>
          <a:xfrm>
            <a:off x="815975" y="3044825"/>
            <a:ext cx="6953250" cy="603250"/>
          </a:xfrm>
          <a:prstGeom prst="roundRect">
            <a:avLst>
              <a:gd name="adj" fmla="val 16316"/>
            </a:avLst>
          </a:prstGeom>
          <a:solidFill>
            <a:srgbClr val="FCFDFC"/>
          </a:solidFill>
          <a:ln w="6350">
            <a:solidFill>
              <a:srgbClr val="DCE5E2"/>
            </a:solidFill>
            <a:prstDash val="solid"/>
          </a:ln>
        </p:spPr>
      </p:sp>
      <p:sp>
        <p:nvSpPr>
          <p:cNvPr id="11" name="Text 9"/>
          <p:cNvSpPr/>
          <p:nvPr/>
        </p:nvSpPr>
        <p:spPr>
          <a:xfrm>
            <a:off x="996950" y="3187700"/>
            <a:ext cx="4064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3</a:t>
            </a:r>
            <a:endParaRPr lang="en-US" sz="1800" dirty="0"/>
          </a:p>
        </p:txBody>
      </p:sp>
      <p:sp>
        <p:nvSpPr>
          <p:cNvPr id="12" name="Text 10"/>
          <p:cNvSpPr/>
          <p:nvPr/>
        </p:nvSpPr>
        <p:spPr>
          <a:xfrm>
            <a:off x="1504950" y="3222625"/>
            <a:ext cx="6265799"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Confirm the backend: Spring Boot (Java)</a:t>
            </a:r>
            <a:endParaRPr lang="en-US" sz="1400" dirty="0"/>
          </a:p>
        </p:txBody>
      </p:sp>
      <p:sp>
        <p:nvSpPr>
          <p:cNvPr id="13" name="Shape 11"/>
          <p:cNvSpPr/>
          <p:nvPr/>
        </p:nvSpPr>
        <p:spPr>
          <a:xfrm>
            <a:off x="815975" y="3756025"/>
            <a:ext cx="6953250" cy="603250"/>
          </a:xfrm>
          <a:prstGeom prst="roundRect">
            <a:avLst>
              <a:gd name="adj" fmla="val 16316"/>
            </a:avLst>
          </a:prstGeom>
          <a:solidFill>
            <a:srgbClr val="FCFDFC"/>
          </a:solidFill>
          <a:ln w="6350">
            <a:solidFill>
              <a:srgbClr val="DCE5E2"/>
            </a:solidFill>
            <a:prstDash val="solid"/>
          </a:ln>
        </p:spPr>
      </p:sp>
      <p:sp>
        <p:nvSpPr>
          <p:cNvPr id="14" name="Text 12"/>
          <p:cNvSpPr/>
          <p:nvPr/>
        </p:nvSpPr>
        <p:spPr>
          <a:xfrm>
            <a:off x="996950" y="3898900"/>
            <a:ext cx="4064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4</a:t>
            </a:r>
            <a:endParaRPr lang="en-US" sz="1800" dirty="0"/>
          </a:p>
        </p:txBody>
      </p:sp>
      <p:sp>
        <p:nvSpPr>
          <p:cNvPr id="15" name="Text 13"/>
          <p:cNvSpPr/>
          <p:nvPr/>
        </p:nvSpPr>
        <p:spPr>
          <a:xfrm>
            <a:off x="1504950" y="3933825"/>
            <a:ext cx="6265799"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2A33"/>
                </a:solidFill>
                <a:latin typeface="IBM Plex Sans" pitchFamily="34" charset="0"/>
                <a:ea typeface="IBM Plex Sans" pitchFamily="34" charset="-122"/>
                <a:cs typeface="IBM Plex Sans" pitchFamily="34" charset="-120"/>
              </a:rPr>
              <a:t>Approve hosting on AWS (data stored outside Sudan)</a:t>
            </a:r>
            <a:endParaRPr lang="en-US" sz="1400" dirty="0"/>
          </a:p>
        </p:txBody>
      </p:sp>
      <p:sp>
        <p:nvSpPr>
          <p:cNvPr id="16" name="Shape 14"/>
          <p:cNvSpPr/>
          <p:nvPr/>
        </p:nvSpPr>
        <p:spPr>
          <a:xfrm>
            <a:off x="819150" y="4470400"/>
            <a:ext cx="6946900" cy="609600"/>
          </a:xfrm>
          <a:prstGeom prst="roundRect">
            <a:avLst>
              <a:gd name="adj" fmla="val 15625"/>
            </a:avLst>
          </a:prstGeom>
          <a:solidFill>
            <a:srgbClr val="FCFDFC"/>
          </a:solidFill>
          <a:ln w="12700">
            <a:solidFill>
              <a:srgbClr val="0B6E64"/>
            </a:solidFill>
            <a:prstDash val="solid"/>
          </a:ln>
        </p:spPr>
      </p:sp>
      <p:sp>
        <p:nvSpPr>
          <p:cNvPr id="17" name="Text 15"/>
          <p:cNvSpPr/>
          <p:nvPr/>
        </p:nvSpPr>
        <p:spPr>
          <a:xfrm>
            <a:off x="1003300" y="4616450"/>
            <a:ext cx="406400" cy="34290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6E64"/>
                </a:solidFill>
                <a:latin typeface="IBM Plex Sans" pitchFamily="34" charset="0"/>
                <a:ea typeface="IBM Plex Sans" pitchFamily="34" charset="-122"/>
                <a:cs typeface="IBM Plex Sans" pitchFamily="34" charset="-120"/>
              </a:rPr>
              <a:t>5</a:t>
            </a:r>
            <a:endParaRPr lang="en-US" sz="1800" dirty="0"/>
          </a:p>
        </p:txBody>
      </p:sp>
      <p:sp>
        <p:nvSpPr>
          <p:cNvPr id="18" name="Text 16"/>
          <p:cNvSpPr/>
          <p:nvPr/>
        </p:nvSpPr>
        <p:spPr>
          <a:xfrm>
            <a:off x="1511300" y="4651375"/>
            <a:ext cx="6252718"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2A33"/>
                </a:solidFill>
                <a:latin typeface="IBM Plex Sans" pitchFamily="34" charset="0"/>
                <a:ea typeface="IBM Plex Sans" pitchFamily="34" charset="-122"/>
                <a:cs typeface="IBM Plex Sans" pitchFamily="34" charset="-120"/>
              </a:rPr>
              <a:t>Approve starting WP1 (Foundation) and forming the team</a:t>
            </a:r>
            <a:endParaRPr lang="en-US" sz="1400" dirty="0"/>
          </a:p>
        </p:txBody>
      </p:sp>
      <p:sp>
        <p:nvSpPr>
          <p:cNvPr id="19" name="Shape 17"/>
          <p:cNvSpPr/>
          <p:nvPr/>
        </p:nvSpPr>
        <p:spPr>
          <a:xfrm>
            <a:off x="8077200" y="1619250"/>
            <a:ext cx="3302000" cy="3467100"/>
          </a:xfrm>
          <a:prstGeom prst="roundRect">
            <a:avLst>
              <a:gd name="adj" fmla="val 3846"/>
            </a:avLst>
          </a:prstGeom>
          <a:solidFill>
            <a:srgbClr val="0E2A33"/>
          </a:solidFill>
          <a:ln/>
        </p:spPr>
      </p:sp>
      <p:sp>
        <p:nvSpPr>
          <p:cNvPr id="20" name="Text 18"/>
          <p:cNvSpPr/>
          <p:nvPr/>
        </p:nvSpPr>
        <p:spPr>
          <a:xfrm>
            <a:off x="8331200" y="1873250"/>
            <a:ext cx="2877820"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F5F4"/>
                </a:solidFill>
                <a:latin typeface="IBM Plex Sans" pitchFamily="34" charset="0"/>
                <a:ea typeface="IBM Plex Sans" pitchFamily="34" charset="-122"/>
                <a:cs typeface="IBM Plex Sans" pitchFamily="34" charset="-120"/>
              </a:rPr>
              <a:t>Team to start</a:t>
            </a:r>
            <a:endParaRPr lang="en-US" sz="1800" dirty="0"/>
          </a:p>
        </p:txBody>
      </p:sp>
      <p:sp>
        <p:nvSpPr>
          <p:cNvPr id="21" name="Text 19"/>
          <p:cNvSpPr/>
          <p:nvPr/>
        </p:nvSpPr>
        <p:spPr>
          <a:xfrm>
            <a:off x="8331200" y="22225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Tech lead / architect · 1</a:t>
            </a:r>
            <a:endParaRPr lang="en-US" sz="1200" dirty="0"/>
          </a:p>
        </p:txBody>
      </p:sp>
      <p:sp>
        <p:nvSpPr>
          <p:cNvPr id="22" name="Text 20"/>
          <p:cNvSpPr/>
          <p:nvPr/>
        </p:nvSpPr>
        <p:spPr>
          <a:xfrm>
            <a:off x="8331200" y="250825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Backend developers · 3</a:t>
            </a:r>
            <a:endParaRPr lang="en-US" sz="1200" dirty="0"/>
          </a:p>
        </p:txBody>
      </p:sp>
      <p:sp>
        <p:nvSpPr>
          <p:cNvPr id="23" name="Text 21"/>
          <p:cNvSpPr/>
          <p:nvPr/>
        </p:nvSpPr>
        <p:spPr>
          <a:xfrm>
            <a:off x="8331200" y="27940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Web developers · 2–3</a:t>
            </a:r>
            <a:endParaRPr lang="en-US" sz="1200" dirty="0"/>
          </a:p>
        </p:txBody>
      </p:sp>
      <p:sp>
        <p:nvSpPr>
          <p:cNvPr id="24" name="Text 22"/>
          <p:cNvSpPr/>
          <p:nvPr/>
        </p:nvSpPr>
        <p:spPr>
          <a:xfrm>
            <a:off x="8331200" y="307975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Flutter developers · 2</a:t>
            </a:r>
            <a:endParaRPr lang="en-US" sz="1200" dirty="0"/>
          </a:p>
        </p:txBody>
      </p:sp>
      <p:sp>
        <p:nvSpPr>
          <p:cNvPr id="25" name="Text 23"/>
          <p:cNvSpPr/>
          <p:nvPr/>
        </p:nvSpPr>
        <p:spPr>
          <a:xfrm>
            <a:off x="8331200" y="33655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UI/UX designer (Arabic) · 1</a:t>
            </a:r>
            <a:endParaRPr lang="en-US" sz="1200" dirty="0"/>
          </a:p>
        </p:txBody>
      </p:sp>
      <p:sp>
        <p:nvSpPr>
          <p:cNvPr id="26" name="Text 24"/>
          <p:cNvSpPr/>
          <p:nvPr/>
        </p:nvSpPr>
        <p:spPr>
          <a:xfrm>
            <a:off x="8331200" y="365125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QA testers · 2</a:t>
            </a:r>
            <a:endParaRPr lang="en-US" sz="1200" dirty="0"/>
          </a:p>
        </p:txBody>
      </p:sp>
      <p:sp>
        <p:nvSpPr>
          <p:cNvPr id="27" name="Text 25"/>
          <p:cNvSpPr/>
          <p:nvPr/>
        </p:nvSpPr>
        <p:spPr>
          <a:xfrm>
            <a:off x="8331200" y="393700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DevOps engineer · 1</a:t>
            </a:r>
            <a:endParaRPr lang="en-US" sz="1200" dirty="0"/>
          </a:p>
        </p:txBody>
      </p:sp>
      <p:sp>
        <p:nvSpPr>
          <p:cNvPr id="28" name="Text 26"/>
          <p:cNvSpPr/>
          <p:nvPr/>
        </p:nvSpPr>
        <p:spPr>
          <a:xfrm>
            <a:off x="8331200" y="4222750"/>
            <a:ext cx="287782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Analyst / product owner · 1</a:t>
            </a:r>
            <a:endParaRPr lang="en-US" sz="1200" dirty="0"/>
          </a:p>
        </p:txBody>
      </p:sp>
      <p:sp>
        <p:nvSpPr>
          <p:cNvPr id="29" name="Text 2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0"/>
                </a:solidFill>
                <a:latin typeface="IBM Plex Sans" pitchFamily="34" charset="0"/>
                <a:ea typeface="IBM Plex Sans" pitchFamily="34" charset="-122"/>
                <a:cs typeface="IBM Plex Sans" pitchFamily="34" charset="-120"/>
              </a:rPr>
              <a:t>EMR-MR Sudan · System proposal and UI/UX direction · 23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E2A33"/>
              </a:gs>
              <a:gs pos="100000">
                <a:srgbClr val="123F48"/>
              </a:gs>
            </a:gsLst>
            <a:lin ang="2700000" scaled="0"/>
          </a:gradFill>
          <a:ln/>
        </p:spPr>
      </p:sp>
      <p:pic>
        <p:nvPicPr>
          <p:cNvPr id="3" name="Image 0" descr="ellipse">    </p:cNvPr>
          <p:cNvPicPr>
            <a:picLocks noChangeAspect="1"/>
          </p:cNvPicPr>
          <p:nvPr/>
        </p:nvPicPr>
        <p:blipFill>
          <a:blip r:embed="rId1"/>
          <a:srcRect l="0" r="0" t="0" b="0"/>
          <a:stretch/>
        </p:blipFill>
        <p:spPr>
          <a:xfrm>
            <a:off x="7315200" y="1270000"/>
            <a:ext cx="4064000" cy="4064000"/>
          </a:xfrm>
          <a:prstGeom prst="rect">
            <a:avLst/>
          </a:prstGeom>
        </p:spPr>
      </p:pic>
      <p:pic>
        <p:nvPicPr>
          <p:cNvPr id="4" name="Image 1" descr="Heartbeat line">    </p:cNvPr>
          <p:cNvPicPr>
            <a:picLocks noChangeAspect="1"/>
          </p:cNvPicPr>
          <p:nvPr/>
        </p:nvPicPr>
        <p:blipFill>
          <a:blip r:embed="rId2"/>
          <a:srcRect l="0" r="0" t="-31" b="-31"/>
          <a:stretch/>
        </p:blipFill>
        <p:spPr>
          <a:xfrm>
            <a:off x="812800" y="5207000"/>
            <a:ext cx="10566400" cy="635000"/>
          </a:xfrm>
          <a:prstGeom prst="rect">
            <a:avLst/>
          </a:prstGeom>
        </p:spPr>
      </p:pic>
      <p:sp>
        <p:nvSpPr>
          <p:cNvPr id="5" name="Text 1"/>
          <p:cNvSpPr/>
          <p:nvPr/>
        </p:nvSpPr>
        <p:spPr>
          <a:xfrm>
            <a:off x="812800" y="2352675"/>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C2"/>
                </a:solidFill>
                <a:latin typeface="IBM Plex Sans" pitchFamily="34" charset="0"/>
                <a:ea typeface="IBM Plex Sans" pitchFamily="34" charset="-122"/>
                <a:cs typeface="IBM Plex Sans" pitchFamily="34" charset="-120"/>
              </a:rPr>
              <a:t>EMR-MR SUDAN</a:t>
            </a:r>
            <a:endParaRPr lang="en-US" sz="1200" dirty="0"/>
          </a:p>
        </p:txBody>
      </p:sp>
      <p:sp>
        <p:nvSpPr>
          <p:cNvPr id="6" name="Text 2"/>
          <p:cNvSpPr/>
          <p:nvPr>
            <p:ph type="title"/>
          </p:nvPr>
        </p:nvSpPr>
        <p:spPr>
          <a:xfrm>
            <a:off x="812800" y="2740025"/>
            <a:ext cx="10883392" cy="66040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F2F5F4"/>
                </a:solidFill>
                <a:latin typeface="IBM Plex Sans" pitchFamily="34" charset="0"/>
                <a:ea typeface="IBM Plex Sans" pitchFamily="34" charset="-122"/>
                <a:cs typeface="IBM Plex Sans" pitchFamily="34" charset="-120"/>
              </a:rPr>
              <a:t>Thank you</a:t>
            </a:r>
            <a:endParaRPr lang="en-US" sz="4800" dirty="0"/>
          </a:p>
        </p:txBody>
      </p:sp>
      <p:sp>
        <p:nvSpPr>
          <p:cNvPr id="7" name="Text 3"/>
          <p:cNvSpPr/>
          <p:nvPr/>
        </p:nvSpPr>
        <p:spPr>
          <a:xfrm>
            <a:off x="812800" y="3552825"/>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D3"/>
                </a:solidFill>
                <a:latin typeface="IBM Plex Sans" pitchFamily="34" charset="0"/>
                <a:ea typeface="IBM Plex Sans" pitchFamily="34" charset="-122"/>
                <a:cs typeface="IBM Plex Sans" pitchFamily="34" charset="-120"/>
              </a:rPr>
              <a:t>Questions and discussion</a:t>
            </a:r>
            <a:endParaRPr lang="en-US" sz="1800" dirty="0"/>
          </a:p>
        </p:txBody>
      </p:sp>
      <p:sp>
        <p:nvSpPr>
          <p:cNvPr id="8" name="Text 4"/>
          <p:cNvSpPr/>
          <p:nvPr/>
        </p:nvSpPr>
        <p:spPr>
          <a:xfrm>
            <a:off x="812800" y="4048125"/>
            <a:ext cx="65405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B3AF"/>
                </a:solidFill>
                <a:latin typeface="IBM Plex Sans" pitchFamily="34" charset="0"/>
                <a:ea typeface="IBM Plex Sans" pitchFamily="34" charset="-122"/>
                <a:cs typeface="IBM Plex Sans" pitchFamily="34" charset="-120"/>
              </a:rPr>
              <a:t>Supporting documents: Full system requirements and build plan · Field app plan · Technical gaps and go-live plan · Context data 2025–2026</a:t>
            </a:r>
            <a:endParaRPr lang="en-US" sz="1200" dirty="0"/>
          </a:p>
        </p:txBody>
      </p:sp>
    </p:spTree>
  </p:cSld>
  <p:clrMapOvr>
    <a:masterClrMapping/>
  </p:clrMapOvr>
</p:sld>
</file>

<file path=ppt/theme/theme1.xml><?xml version="1.0" encoding="utf-8"?>
<a:theme xmlns:a="http://schemas.openxmlformats.org/drawingml/2006/main" name="EMR-MR Sudan — System Proposal &amp; UI/UX Direction">
  <a:themeElements>
    <a:clrScheme name="EMR-MR Sudan — System Proposal &amp; UI/UX Direction">
      <a:dk1>
        <a:srgbClr val="0E2A33"/>
      </a:dk1>
      <a:lt1>
        <a:srgbClr val="F5F7F6"/>
      </a:lt1>
      <a:dk2>
        <a:srgbClr val="485D64"/>
      </a:dk2>
      <a:lt2>
        <a:srgbClr val="DEE3E3"/>
      </a:lt2>
      <a:accent1>
        <a:srgbClr val="0B6E64"/>
      </a:accent1>
      <a:accent2>
        <a:srgbClr val="5EEAD4"/>
      </a:accent2>
      <a:accent3>
        <a:srgbClr val="14B8A6"/>
      </a:accent3>
      <a:accent4>
        <a:srgbClr val="E11D48"/>
      </a:accent4>
      <a:accent5>
        <a:srgbClr val="2DD4BF"/>
      </a:accent5>
      <a:accent6>
        <a:srgbClr val="FB7185"/>
      </a:accent6>
      <a:hlink>
        <a:srgbClr val="0563C1"/>
      </a:hlink>
      <a:folHlink>
        <a:srgbClr val="954F72"/>
      </a:folHlink>
    </a:clrScheme>
    <a:fontScheme name="EMR-MR Sudan — System Proposal &amp; UI/UX Direc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C14C5684BF9C48B50A029877A147F7" ma:contentTypeVersion="9" ma:contentTypeDescription="Create a new document." ma:contentTypeScope="" ma:versionID="f0b0cd6d6bacacf38a664c32cf518039">
  <xsd:schema xmlns:xsd="http://www.w3.org/2001/XMLSchema" xmlns:xs="http://www.w3.org/2001/XMLSchema" xmlns:p="http://schemas.microsoft.com/office/2006/metadata/properties" xmlns:ns2="6a9eab6e-f93a-4720-b018-eea0c5aa6c83" targetNamespace="http://schemas.microsoft.com/office/2006/metadata/properties" ma:root="true" ma:fieldsID="2a789d064b501b197d709ee7baa84e28" ns2:_="">
    <xsd:import namespace="6a9eab6e-f93a-4720-b018-eea0c5aa6c8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9eab6e-f93a-4720-b018-eea0c5aa6c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7F5B61-8439-4DFD-B3EF-2F2F73BCAAA3}"/>
</file>

<file path=customXml/itemProps2.xml><?xml version="1.0" encoding="utf-8"?>
<ds:datastoreItem xmlns:ds="http://schemas.openxmlformats.org/officeDocument/2006/customXml" ds:itemID="{1884E4EF-5CB7-4CEF-BD8C-B2D21F9863DD}"/>
</file>

<file path=customXml/itemProps3.xml><?xml version="1.0" encoding="utf-8"?>
<ds:datastoreItem xmlns:ds="http://schemas.openxmlformats.org/officeDocument/2006/customXml" ds:itemID="{F1C6DAF7-F319-4210-8661-E61DDD62538A}"/>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EMR-MR Sudan — System Proposal &amp; UI/UX Direction</dc:title>
  <dc:subject/>
  <dc:creator/>
  <cp:lastModifiedBy/>
  <cp:revision>1</cp:revision>
  <dcterms:created xsi:type="dcterms:W3CDTF">2026-10-06T09:43:20Z</dcterms:created>
  <dcterms:modified xsi:type="dcterms:W3CDTF">2026-10-06T09:43:20Z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0x01010061C14C5684BF9C48B50A029877A147F7</vt:lpwstr>
  </property>
</Properties>
</file>